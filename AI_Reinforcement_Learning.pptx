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accredian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accredian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accredian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accredian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accredian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accredian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accredian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accredian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3" name="Shape 1"/>
          <p:cNvSpPr/>
          <p:nvPr/>
        </p:nvSpPr>
        <p:spPr>
          <a:xfrm>
            <a:off x="128016" y="0"/>
            <a:ext cx="9015984" cy="640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3291840"/>
            <a:ext cx="2286000" cy="1280160"/>
          </a:xfrm>
          <a:prstGeom prst="rect">
            <a:avLst>
              <a:gd name="adj" fmla="val 7143"/>
            </a:avLst>
          </a:prstGeom>
          <a:solidFill>
            <a:srgbClr val="082A38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0" y="329184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0F5D4"/>
                </a:solidFill>
              </a:rPr>
              <a:t>Reward → Learn → Repeat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2743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F5D4"/>
                </a:solidFill>
              </a:rPr>
              <a:t>2025 TRENDING TOPIC IN AI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658368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&amp;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411480" y="1353312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F5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Reinforcement Learning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11480" y="2148840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0A896"/>
                </a:solidFill>
              </a:rPr>
              <a:t>Training Machines to Master Any Task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11480" y="2724912"/>
            <a:ext cx="41148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834640"/>
            <a:ext cx="6217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B9DAD"/>
                </a:solidFill>
              </a:rPr>
              <a:t>From beating world champions at Go and chess to controlling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B9DAD"/>
                </a:solidFill>
              </a:rPr>
              <a:t>robots, optimising data centres, and powering autonomous vehicles.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11480" y="3858768"/>
            <a:ext cx="1920240" cy="420624"/>
          </a:xfrm>
          <a:prstGeom prst="rect">
            <a:avLst>
              <a:gd name="adj" fmla="val 15217"/>
            </a:avLst>
          </a:prstGeom>
          <a:solidFill>
            <a:srgbClr val="082A3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85876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F0EA"/>
                </a:solidFill>
              </a:rPr>
              <a:t>🎮 Games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496312" y="3858768"/>
            <a:ext cx="1920240" cy="420624"/>
          </a:xfrm>
          <a:prstGeom prst="rect">
            <a:avLst>
              <a:gd name="adj" fmla="val 15217"/>
            </a:avLst>
          </a:prstGeom>
          <a:solidFill>
            <a:srgbClr val="082A3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96312" y="385876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F0EA"/>
                </a:solidFill>
              </a:rPr>
              <a:t>🤖 Robotics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81144" y="3858768"/>
            <a:ext cx="1920240" cy="420624"/>
          </a:xfrm>
          <a:prstGeom prst="rect">
            <a:avLst>
              <a:gd name="adj" fmla="val 15217"/>
            </a:avLst>
          </a:prstGeom>
          <a:solidFill>
            <a:srgbClr val="082A3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81144" y="385876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F0EA"/>
                </a:solidFill>
              </a:rPr>
              <a:t>🚗 Self-Driving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65976" y="3858768"/>
            <a:ext cx="1920240" cy="420624"/>
          </a:xfrm>
          <a:prstGeom prst="rect">
            <a:avLst>
              <a:gd name="adj" fmla="val 15217"/>
            </a:avLst>
          </a:prstGeom>
          <a:solidFill>
            <a:srgbClr val="082A3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65976" y="385876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F0EA"/>
                </a:solidFill>
              </a:rPr>
              <a:t>💊 Drug Design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30F14"/>
          </a:solidFill>
          <a:ln w="19050">
            <a:solidFill>
              <a:srgbClr val="00F5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9DAD"/>
                </a:solidFill>
              </a:rPr>
              <a:t>Accredian is a leading Indian institution specialising in AI, Data Science, and Management research and education.  </a:t>
            </a:r>
            <a:pPr algn="ctr" indent="0" marL="0">
              <a:buNone/>
            </a:pPr>
            <a:r>
              <a:rPr lang="en-US" sz="750" dirty="0">
                <a:solidFill>
                  <a:srgbClr val="6B9DAD"/>
                </a:solidFill>
              </a:rPr>
              <a:t>Visit us at: </a:t>
            </a:r>
            <a:pPr algn="ctr" indent="0" marL="0">
              <a:buNone/>
            </a:pPr>
            <a:r>
              <a:rPr lang="en-US" sz="750" u="sng" dirty="0">
                <a:solidFill>
                  <a:srgbClr val="00F5D4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https://accredian.com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Reinforcement Learning?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960120"/>
          </a:xfrm>
          <a:prstGeom prst="rect">
            <a:avLst>
              <a:gd name="adj" fmla="val 9524"/>
            </a:avLst>
          </a:prstGeom>
          <a:solidFill>
            <a:srgbClr val="082A38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68680"/>
            <a:ext cx="91440" cy="96012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896112"/>
            <a:ext cx="81838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CF0EA"/>
                </a:solidFill>
              </a:rPr>
              <a:t>Reinforcement Learning (RL) is a branch of machine learning where an agent learns to make sequential decisions by interacting with an environment, receiving rewards for desirable actions and penalties for undesirable ones — optimising for maximum cumulative reward over time.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965960"/>
            <a:ext cx="2834640" cy="2560320"/>
          </a:xfrm>
          <a:prstGeom prst="rect">
            <a:avLst>
              <a:gd name="adj" fmla="val 3571"/>
            </a:avLst>
          </a:prstGeom>
          <a:solidFill>
            <a:srgbClr val="082A38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1965960"/>
            <a:ext cx="2834640" cy="64008"/>
          </a:xfrm>
          <a:prstGeom prst="rect">
            <a:avLst/>
          </a:prstGeom>
          <a:solidFill>
            <a:srgbClr val="6B9DAD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2066544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9DAD"/>
                </a:solidFill>
              </a:rPr>
              <a:t>Supervised Learning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2487168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CF0EA"/>
                </a:solidFill>
              </a:rPr>
              <a:t>▸  Learns from labelled data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11480" y="2852928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CF0EA"/>
                </a:solidFill>
              </a:rPr>
              <a:t>▸  Static dataset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11480" y="3218688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CF0EA"/>
                </a:solidFill>
              </a:rPr>
              <a:t>▸  Predicts known outputs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11480" y="3584448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CF0EA"/>
                </a:solidFill>
              </a:rPr>
              <a:t>▸  No environment interaction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11480" y="3950208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CF0EA"/>
                </a:solidFill>
              </a:rPr>
              <a:t>▸  e.g. image classification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46120" y="1965960"/>
            <a:ext cx="2834640" cy="2560320"/>
          </a:xfrm>
          <a:prstGeom prst="rect">
            <a:avLst>
              <a:gd name="adj" fmla="val 3571"/>
            </a:avLst>
          </a:prstGeom>
          <a:solidFill>
            <a:srgbClr val="082A38"/>
          </a:solidFill>
          <a:ln/>
        </p:spPr>
      </p:sp>
      <p:sp>
        <p:nvSpPr>
          <p:cNvPr id="16" name="Shape 14"/>
          <p:cNvSpPr/>
          <p:nvPr/>
        </p:nvSpPr>
        <p:spPr>
          <a:xfrm>
            <a:off x="3246120" y="1965960"/>
            <a:ext cx="2834640" cy="64008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17" name="Text 15"/>
          <p:cNvSpPr/>
          <p:nvPr/>
        </p:nvSpPr>
        <p:spPr>
          <a:xfrm>
            <a:off x="3383280" y="2066544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5D4"/>
                </a:solidFill>
              </a:rPr>
              <a:t>Reinforcement Learning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83280" y="2487168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CF0EA"/>
                </a:solidFill>
              </a:rPr>
              <a:t>▸  Learns from interaction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383280" y="2852928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CF0EA"/>
                </a:solidFill>
              </a:rPr>
              <a:t>▸  Dynamic environment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383280" y="3218688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CF0EA"/>
                </a:solidFill>
              </a:rPr>
              <a:t>▸  Optimises reward signal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383280" y="3584448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CF0EA"/>
                </a:solidFill>
              </a:rPr>
              <a:t>▸  Trial-and-error exploration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383280" y="3950208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CF0EA"/>
                </a:solidFill>
              </a:rPr>
              <a:t>▸  e.g. game playing, robotics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17920" y="1965960"/>
            <a:ext cx="2834640" cy="2560320"/>
          </a:xfrm>
          <a:prstGeom prst="rect">
            <a:avLst>
              <a:gd name="adj" fmla="val 3571"/>
            </a:avLst>
          </a:prstGeom>
          <a:solidFill>
            <a:srgbClr val="082A38"/>
          </a:solidFill>
          <a:ln/>
        </p:spPr>
      </p:sp>
      <p:sp>
        <p:nvSpPr>
          <p:cNvPr id="24" name="Shape 22"/>
          <p:cNvSpPr/>
          <p:nvPr/>
        </p:nvSpPr>
        <p:spPr>
          <a:xfrm>
            <a:off x="6217920" y="1965960"/>
            <a:ext cx="2834640" cy="6400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6355080" y="2066544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</a:rPr>
              <a:t>Key Components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55080" y="2487168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CF0EA"/>
                </a:solidFill>
              </a:rPr>
              <a:t>▸  Agent — decision maker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355080" y="2852928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CF0EA"/>
                </a:solidFill>
              </a:rPr>
              <a:t>▸  Environment — the world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355080" y="3218688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CF0EA"/>
                </a:solidFill>
              </a:rPr>
              <a:t>▸  State — current situation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355080" y="3584448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CF0EA"/>
                </a:solidFill>
              </a:rPr>
              <a:t>▸  Action — agent's choice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355080" y="3950208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CF0EA"/>
                </a:solidFill>
              </a:rPr>
              <a:t>▸  Reward — feedback signal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30F14"/>
          </a:solidFill>
          <a:ln w="19050">
            <a:solidFill>
              <a:srgbClr val="00F5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9DAD"/>
                </a:solidFill>
              </a:rPr>
              <a:t>Accredian is a leading Indian institution specialising in AI, Data Science, and Management research and education.  </a:t>
            </a:r>
            <a:pPr algn="ctr" indent="0" marL="0">
              <a:buNone/>
            </a:pPr>
            <a:r>
              <a:rPr lang="en-US" sz="750" dirty="0">
                <a:solidFill>
                  <a:srgbClr val="6B9DAD"/>
                </a:solidFill>
              </a:rPr>
              <a:t>Visit us at: </a:t>
            </a:r>
            <a:pPr algn="ctr" indent="0" marL="0">
              <a:buNone/>
            </a:pPr>
            <a:r>
              <a:rPr lang="en-US" sz="750" u="sng" dirty="0">
                <a:solidFill>
                  <a:srgbClr val="00F5D4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https://accredian.com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RL Loop &amp; Core Algorithms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993392" cy="1417320"/>
          </a:xfrm>
          <a:prstGeom prst="rect">
            <a:avLst>
              <a:gd name="adj" fmla="val 6452"/>
            </a:avLst>
          </a:prstGeom>
          <a:solidFill>
            <a:srgbClr val="082A38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14400"/>
            <a:ext cx="1993392" cy="640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05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10058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5D4"/>
                </a:solidFill>
              </a:rPr>
              <a:t>Agent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4173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CF0EA"/>
                </a:solidFill>
              </a:rPr>
              <a:t>Chooses action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CF0EA"/>
                </a:solidFill>
              </a:rPr>
              <a:t>based on policy π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67712" y="1572768"/>
            <a:ext cx="182880" cy="54864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914400"/>
            <a:ext cx="1993392" cy="1417320"/>
          </a:xfrm>
          <a:prstGeom prst="rect">
            <a:avLst>
              <a:gd name="adj" fmla="val 6452"/>
            </a:avLst>
          </a:prstGeom>
          <a:solidFill>
            <a:srgbClr val="082A38"/>
          </a:solidFill>
          <a:ln/>
        </p:spPr>
      </p:sp>
      <p:sp>
        <p:nvSpPr>
          <p:cNvPr id="11" name="Shape 9"/>
          <p:cNvSpPr/>
          <p:nvPr/>
        </p:nvSpPr>
        <p:spPr>
          <a:xfrm>
            <a:off x="2450592" y="914400"/>
            <a:ext cx="1993392" cy="640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2587752" y="1005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044952" y="10058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5D4"/>
                </a:solidFill>
              </a:rPr>
              <a:t>Environment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42032" y="14173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CF0EA"/>
                </a:solidFill>
              </a:rPr>
              <a:t>Receives action,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CF0EA"/>
                </a:solidFill>
              </a:rPr>
              <a:t>transitions to new state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43984" y="1572768"/>
            <a:ext cx="182880" cy="54864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16" name="Shape 14"/>
          <p:cNvSpPr/>
          <p:nvPr/>
        </p:nvSpPr>
        <p:spPr>
          <a:xfrm>
            <a:off x="4626864" y="914400"/>
            <a:ext cx="1993392" cy="1417320"/>
          </a:xfrm>
          <a:prstGeom prst="rect">
            <a:avLst>
              <a:gd name="adj" fmla="val 6452"/>
            </a:avLst>
          </a:prstGeom>
          <a:solidFill>
            <a:srgbClr val="082A38"/>
          </a:solidFill>
          <a:ln/>
        </p:spPr>
      </p:sp>
      <p:sp>
        <p:nvSpPr>
          <p:cNvPr id="17" name="Shape 15"/>
          <p:cNvSpPr/>
          <p:nvPr/>
        </p:nvSpPr>
        <p:spPr>
          <a:xfrm>
            <a:off x="4626864" y="914400"/>
            <a:ext cx="1993392" cy="640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4764024" y="1005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🏆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221224" y="10058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5D4"/>
                </a:solidFill>
              </a:rPr>
              <a:t>Reward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18304" y="14173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CF0EA"/>
                </a:solidFill>
              </a:rPr>
              <a:t>Scalar feedback signal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CF0EA"/>
                </a:solidFill>
              </a:rPr>
              <a:t>r(s, a) returned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620256" y="1572768"/>
            <a:ext cx="182880" cy="54864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22" name="Shape 20"/>
          <p:cNvSpPr/>
          <p:nvPr/>
        </p:nvSpPr>
        <p:spPr>
          <a:xfrm>
            <a:off x="6803136" y="914400"/>
            <a:ext cx="1993392" cy="1417320"/>
          </a:xfrm>
          <a:prstGeom prst="rect">
            <a:avLst>
              <a:gd name="adj" fmla="val 6452"/>
            </a:avLst>
          </a:prstGeom>
          <a:solidFill>
            <a:srgbClr val="082A38"/>
          </a:solidFill>
          <a:ln/>
        </p:spPr>
      </p:sp>
      <p:sp>
        <p:nvSpPr>
          <p:cNvPr id="23" name="Shape 21"/>
          <p:cNvSpPr/>
          <p:nvPr/>
        </p:nvSpPr>
        <p:spPr>
          <a:xfrm>
            <a:off x="6803136" y="914400"/>
            <a:ext cx="1993392" cy="640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6940296" y="1005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397496" y="10058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5D4"/>
                </a:solidFill>
              </a:rPr>
              <a:t>Update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94576" y="14173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CF0EA"/>
                </a:solidFill>
              </a:rPr>
              <a:t>Policy updated via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CF0EA"/>
                </a:solidFill>
              </a:rPr>
              <a:t>gradient / value fn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371600" y="245059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A896"/>
                </a:solidFill>
              </a:rPr>
              <a:t>← Policy feeds back into Agent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74320" y="278892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5D4"/>
                </a:solidFill>
              </a:rPr>
              <a:t>Key Algorithms at a Glance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74320" y="3182112"/>
            <a:ext cx="2194560" cy="274320"/>
          </a:xfrm>
          <a:prstGeom prst="rect">
            <a:avLst/>
          </a:prstGeom>
          <a:solidFill>
            <a:srgbClr val="028090"/>
          </a:solidFill>
          <a:ln w="6350">
            <a:solidFill>
              <a:srgbClr val="0A45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31821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Algorithm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468880" y="3182112"/>
            <a:ext cx="1828800" cy="274320"/>
          </a:xfrm>
          <a:prstGeom prst="rect">
            <a:avLst/>
          </a:prstGeom>
          <a:solidFill>
            <a:srgbClr val="028090"/>
          </a:solidFill>
          <a:ln w="6350">
            <a:solidFill>
              <a:srgbClr val="0A45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68880" y="31821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Category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297680" y="3182112"/>
            <a:ext cx="2560320" cy="274320"/>
          </a:xfrm>
          <a:prstGeom prst="rect">
            <a:avLst/>
          </a:prstGeom>
          <a:solidFill>
            <a:srgbClr val="028090"/>
          </a:solidFill>
          <a:ln w="6350">
            <a:solidFill>
              <a:srgbClr val="0A45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97680" y="31821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Strength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858000" y="3182112"/>
            <a:ext cx="2194560" cy="274320"/>
          </a:xfrm>
          <a:prstGeom prst="rect">
            <a:avLst/>
          </a:prstGeom>
          <a:solidFill>
            <a:srgbClr val="028090"/>
          </a:solidFill>
          <a:ln w="6350">
            <a:solidFill>
              <a:srgbClr val="0A45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0" y="31821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Used In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74320" y="3474720"/>
            <a:ext cx="2194560" cy="274320"/>
          </a:xfrm>
          <a:prstGeom prst="rect">
            <a:avLst/>
          </a:prstGeom>
          <a:solidFill>
            <a:srgbClr val="062C3D"/>
          </a:solidFill>
          <a:ln w="6350">
            <a:solidFill>
              <a:srgbClr val="0A456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3474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F0EA"/>
                </a:solidFill>
              </a:rPr>
              <a:t>Q-Learning / DQN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468880" y="3474720"/>
            <a:ext cx="1828800" cy="274320"/>
          </a:xfrm>
          <a:prstGeom prst="rect">
            <a:avLst/>
          </a:prstGeom>
          <a:solidFill>
            <a:srgbClr val="062C3D"/>
          </a:solidFill>
          <a:ln w="6350">
            <a:solidFill>
              <a:srgbClr val="0A456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468880" y="3474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F0EA"/>
                </a:solidFill>
              </a:rPr>
              <a:t>Value-Based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297680" y="3474720"/>
            <a:ext cx="2560320" cy="274320"/>
          </a:xfrm>
          <a:prstGeom prst="rect">
            <a:avLst/>
          </a:prstGeom>
          <a:solidFill>
            <a:srgbClr val="062C3D"/>
          </a:solidFill>
          <a:ln w="6350">
            <a:solidFill>
              <a:srgbClr val="0A456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297680" y="3474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F0EA"/>
                </a:solidFill>
              </a:rPr>
              <a:t>Discrete action spaces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858000" y="3474720"/>
            <a:ext cx="2194560" cy="274320"/>
          </a:xfrm>
          <a:prstGeom prst="rect">
            <a:avLst/>
          </a:prstGeom>
          <a:solidFill>
            <a:srgbClr val="062C3D"/>
          </a:solidFill>
          <a:ln w="6350">
            <a:solidFill>
              <a:srgbClr val="0A456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58000" y="3474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F0EA"/>
                </a:solidFill>
              </a:rPr>
              <a:t>Atari games, trading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274320" y="3767328"/>
            <a:ext cx="2194560" cy="274320"/>
          </a:xfrm>
          <a:prstGeom prst="rect">
            <a:avLst/>
          </a:prstGeom>
          <a:solidFill>
            <a:srgbClr val="0A3D50"/>
          </a:solidFill>
          <a:ln w="6350">
            <a:solidFill>
              <a:srgbClr val="0A456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37673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F0EA"/>
                </a:solidFill>
              </a:rPr>
              <a:t>PPO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2468880" y="3767328"/>
            <a:ext cx="1828800" cy="274320"/>
          </a:xfrm>
          <a:prstGeom prst="rect">
            <a:avLst/>
          </a:prstGeom>
          <a:solidFill>
            <a:srgbClr val="0A3D50"/>
          </a:solidFill>
          <a:ln w="6350">
            <a:solidFill>
              <a:srgbClr val="0A456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468880" y="3767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F0EA"/>
                </a:solidFill>
              </a:rPr>
              <a:t>Policy Gradient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297680" y="3767328"/>
            <a:ext cx="2560320" cy="274320"/>
          </a:xfrm>
          <a:prstGeom prst="rect">
            <a:avLst/>
          </a:prstGeom>
          <a:solidFill>
            <a:srgbClr val="0A3D50"/>
          </a:solidFill>
          <a:ln w="6350">
            <a:solidFill>
              <a:srgbClr val="0A456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297680" y="37673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F0EA"/>
                </a:solidFill>
              </a:rPr>
              <a:t>Stable, scalable training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858000" y="3767328"/>
            <a:ext cx="2194560" cy="274320"/>
          </a:xfrm>
          <a:prstGeom prst="rect">
            <a:avLst/>
          </a:prstGeom>
          <a:solidFill>
            <a:srgbClr val="0A3D50"/>
          </a:solidFill>
          <a:ln w="6350">
            <a:solidFill>
              <a:srgbClr val="0A456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58000" y="37673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F0EA"/>
                </a:solidFill>
              </a:rPr>
              <a:t>ChatGPT RLHF, robotics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274320" y="4059936"/>
            <a:ext cx="2194560" cy="274320"/>
          </a:xfrm>
          <a:prstGeom prst="rect">
            <a:avLst/>
          </a:prstGeom>
          <a:solidFill>
            <a:srgbClr val="062C3D"/>
          </a:solidFill>
          <a:ln w="6350">
            <a:solidFill>
              <a:srgbClr val="0A456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4320" y="4059936"/>
            <a:ext cx="2194560" cy="27432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F0EA"/>
                </a:solidFill>
              </a:rPr>
              <a:t>SAC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2468880" y="4059936"/>
            <a:ext cx="1828800" cy="274320"/>
          </a:xfrm>
          <a:prstGeom prst="rect">
            <a:avLst/>
          </a:prstGeom>
          <a:solidFill>
            <a:srgbClr val="062C3D"/>
          </a:solidFill>
          <a:ln w="6350">
            <a:solidFill>
              <a:srgbClr val="0A456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468880" y="40599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F0EA"/>
                </a:solidFill>
              </a:rPr>
              <a:t>Actor-Critic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4297680" y="4059936"/>
            <a:ext cx="2560320" cy="274320"/>
          </a:xfrm>
          <a:prstGeom prst="rect">
            <a:avLst/>
          </a:prstGeom>
          <a:solidFill>
            <a:srgbClr val="062C3D"/>
          </a:solidFill>
          <a:ln w="6350">
            <a:solidFill>
              <a:srgbClr val="0A456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297680" y="40599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F0EA"/>
                </a:solidFill>
              </a:rPr>
              <a:t>Continuous control tasks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6858000" y="4059936"/>
            <a:ext cx="2194560" cy="274320"/>
          </a:xfrm>
          <a:prstGeom prst="rect">
            <a:avLst/>
          </a:prstGeom>
          <a:solidFill>
            <a:srgbClr val="062C3D"/>
          </a:solidFill>
          <a:ln w="6350">
            <a:solidFill>
              <a:srgbClr val="0A456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858000" y="4059936"/>
            <a:ext cx="2194560" cy="27432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F0EA"/>
                </a:solidFill>
              </a:rPr>
              <a:t>Robotic arms, locomotion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274320" y="4352544"/>
            <a:ext cx="2194560" cy="274320"/>
          </a:xfrm>
          <a:prstGeom prst="rect">
            <a:avLst/>
          </a:prstGeom>
          <a:solidFill>
            <a:srgbClr val="0A3D50"/>
          </a:solidFill>
          <a:ln w="6350">
            <a:solidFill>
              <a:srgbClr val="0A456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74320" y="4352544"/>
            <a:ext cx="2194560" cy="27432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F0EA"/>
                </a:solidFill>
              </a:rPr>
              <a:t>AlphaZero / MuZero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2468880" y="4352544"/>
            <a:ext cx="1828800" cy="274320"/>
          </a:xfrm>
          <a:prstGeom prst="rect">
            <a:avLst/>
          </a:prstGeom>
          <a:solidFill>
            <a:srgbClr val="0A3D50"/>
          </a:solidFill>
          <a:ln w="6350">
            <a:solidFill>
              <a:srgbClr val="0A456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468880" y="43525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F0EA"/>
                </a:solidFill>
              </a:rPr>
              <a:t>Model-Based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4297680" y="4352544"/>
            <a:ext cx="2560320" cy="274320"/>
          </a:xfrm>
          <a:prstGeom prst="rect">
            <a:avLst/>
          </a:prstGeom>
          <a:solidFill>
            <a:srgbClr val="0A3D50"/>
          </a:solidFill>
          <a:ln w="6350">
            <a:solidFill>
              <a:srgbClr val="0A456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297680" y="43525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F0EA"/>
                </a:solidFill>
              </a:rPr>
              <a:t>Long-horizon planning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6858000" y="4352544"/>
            <a:ext cx="2194560" cy="274320"/>
          </a:xfrm>
          <a:prstGeom prst="rect">
            <a:avLst/>
          </a:prstGeom>
          <a:solidFill>
            <a:srgbClr val="0A3D50"/>
          </a:solidFill>
          <a:ln w="6350">
            <a:solidFill>
              <a:srgbClr val="0A456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858000" y="4352544"/>
            <a:ext cx="2194560" cy="27432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F0EA"/>
                </a:solidFill>
              </a:rPr>
              <a:t>Chess, Go, StarCraft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30F14"/>
          </a:solidFill>
          <a:ln w="19050">
            <a:solidFill>
              <a:srgbClr val="00F5D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9DAD"/>
                </a:solidFill>
              </a:rPr>
              <a:t>Accredian is a leading Indian institution specialising in AI, Data Science, and Management research and education.  </a:t>
            </a:r>
            <a:pPr algn="ctr" indent="0" marL="0">
              <a:buNone/>
            </a:pPr>
            <a:r>
              <a:rPr lang="en-US" sz="750" dirty="0">
                <a:solidFill>
                  <a:srgbClr val="6B9DAD"/>
                </a:solidFill>
              </a:rPr>
              <a:t>Visit us at: </a:t>
            </a:r>
            <a:pPr algn="ctr" indent="0" marL="0">
              <a:buNone/>
            </a:pPr>
            <a:r>
              <a:rPr lang="en-US" sz="750" u="sng" dirty="0">
                <a:solidFill>
                  <a:srgbClr val="00F5D4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https://accredian.com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Deep RL &amp; Modern Breakthroughs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32688"/>
            <a:ext cx="4160520" cy="1078992"/>
          </a:xfrm>
          <a:prstGeom prst="rect">
            <a:avLst>
              <a:gd name="adj" fmla="val 6780"/>
            </a:avLst>
          </a:prstGeom>
          <a:solidFill>
            <a:srgbClr val="082A38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32688"/>
            <a:ext cx="4160520" cy="640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3566160" y="1024128"/>
            <a:ext cx="749808" cy="256032"/>
          </a:xfrm>
          <a:prstGeom prst="rect">
            <a:avLst>
              <a:gd name="adj" fmla="val 17857"/>
            </a:avLst>
          </a:prstGeom>
          <a:solidFill>
            <a:srgbClr val="00F5D4"/>
          </a:solidFill>
          <a:ln/>
        </p:spPr>
      </p:sp>
      <p:sp>
        <p:nvSpPr>
          <p:cNvPr id="7" name="Text 5"/>
          <p:cNvSpPr/>
          <p:nvPr/>
        </p:nvSpPr>
        <p:spPr>
          <a:xfrm>
            <a:off x="3566160" y="102412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0F14"/>
                </a:solidFill>
              </a:rPr>
              <a:t>2013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4048" y="1024128"/>
            <a:ext cx="438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🕹️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41248" y="102412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5D4"/>
                </a:solidFill>
              </a:rPr>
              <a:t>DQN — Atari Master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41248" y="129844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A896"/>
                </a:solidFill>
              </a:rPr>
              <a:t>by DeepMind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" y="1554480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CF0EA"/>
                </a:solidFill>
              </a:rPr>
              <a:t>First deep RL agent to surpass human performance on 49 Atari games using raw pixel input and Q-learning.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932688"/>
            <a:ext cx="4160520" cy="1078992"/>
          </a:xfrm>
          <a:prstGeom prst="rect">
            <a:avLst>
              <a:gd name="adj" fmla="val 6780"/>
            </a:avLst>
          </a:prstGeom>
          <a:solidFill>
            <a:srgbClr val="082A38"/>
          </a:solidFill>
          <a:ln/>
        </p:spPr>
      </p:sp>
      <p:sp>
        <p:nvSpPr>
          <p:cNvPr id="13" name="Shape 11"/>
          <p:cNvSpPr/>
          <p:nvPr/>
        </p:nvSpPr>
        <p:spPr>
          <a:xfrm>
            <a:off x="4754880" y="932688"/>
            <a:ext cx="4160520" cy="640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Shape 12"/>
          <p:cNvSpPr/>
          <p:nvPr/>
        </p:nvSpPr>
        <p:spPr>
          <a:xfrm>
            <a:off x="8046720" y="1024128"/>
            <a:ext cx="749808" cy="256032"/>
          </a:xfrm>
          <a:prstGeom prst="rect">
            <a:avLst>
              <a:gd name="adj" fmla="val 17857"/>
            </a:avLst>
          </a:prstGeom>
          <a:solidFill>
            <a:srgbClr val="00F5D4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0" y="102412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0F14"/>
                </a:solidFill>
              </a:rPr>
              <a:t>2016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64608" y="1024128"/>
            <a:ext cx="438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⚫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321808" y="102412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5D4"/>
                </a:solidFill>
              </a:rPr>
              <a:t>AlphaGo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21808" y="129844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A896"/>
                </a:solidFill>
              </a:rPr>
              <a:t>by DeepMind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64608" y="1554480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CF0EA"/>
                </a:solidFill>
              </a:rPr>
              <a:t>Combined MCTS, supervised learning, and self-play RL to defeat 18-time world Go champion Lee Sedol 4-1.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2139696"/>
            <a:ext cx="4160520" cy="1078992"/>
          </a:xfrm>
          <a:prstGeom prst="rect">
            <a:avLst>
              <a:gd name="adj" fmla="val 6780"/>
            </a:avLst>
          </a:prstGeom>
          <a:solidFill>
            <a:srgbClr val="082A38"/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" y="2139696"/>
            <a:ext cx="4160520" cy="640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Shape 20"/>
          <p:cNvSpPr/>
          <p:nvPr/>
        </p:nvSpPr>
        <p:spPr>
          <a:xfrm>
            <a:off x="3566160" y="2231136"/>
            <a:ext cx="749808" cy="256032"/>
          </a:xfrm>
          <a:prstGeom prst="rect">
            <a:avLst>
              <a:gd name="adj" fmla="val 17857"/>
            </a:avLst>
          </a:prstGeom>
          <a:solidFill>
            <a:srgbClr val="00F5D4"/>
          </a:solidFill>
          <a:ln/>
        </p:spPr>
      </p:sp>
      <p:sp>
        <p:nvSpPr>
          <p:cNvPr id="23" name="Text 21"/>
          <p:cNvSpPr/>
          <p:nvPr/>
        </p:nvSpPr>
        <p:spPr>
          <a:xfrm>
            <a:off x="3566160" y="2231136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0F14"/>
                </a:solidFill>
              </a:rPr>
              <a:t>2018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84048" y="2231136"/>
            <a:ext cx="438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♟️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41248" y="2231136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5D4"/>
                </a:solidFill>
              </a:rPr>
              <a:t>AlphaZero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41248" y="250545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A896"/>
                </a:solidFill>
              </a:rPr>
              <a:t>by DeepMind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84048" y="2761488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CF0EA"/>
                </a:solidFill>
              </a:rPr>
              <a:t>Mastered chess, shogi, and Go from scratch in under 24 hours using pure self-play RL — no human games.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54880" y="2139696"/>
            <a:ext cx="4160520" cy="1078992"/>
          </a:xfrm>
          <a:prstGeom prst="rect">
            <a:avLst>
              <a:gd name="adj" fmla="val 6780"/>
            </a:avLst>
          </a:prstGeom>
          <a:solidFill>
            <a:srgbClr val="082A38"/>
          </a:solidFill>
          <a:ln/>
        </p:spPr>
      </p:sp>
      <p:sp>
        <p:nvSpPr>
          <p:cNvPr id="29" name="Shape 27"/>
          <p:cNvSpPr/>
          <p:nvPr/>
        </p:nvSpPr>
        <p:spPr>
          <a:xfrm>
            <a:off x="4754880" y="2139696"/>
            <a:ext cx="4160520" cy="640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0" name="Shape 28"/>
          <p:cNvSpPr/>
          <p:nvPr/>
        </p:nvSpPr>
        <p:spPr>
          <a:xfrm>
            <a:off x="8046720" y="2231136"/>
            <a:ext cx="749808" cy="256032"/>
          </a:xfrm>
          <a:prstGeom prst="rect">
            <a:avLst>
              <a:gd name="adj" fmla="val 17857"/>
            </a:avLst>
          </a:prstGeom>
          <a:solidFill>
            <a:srgbClr val="00F5D4"/>
          </a:solidFill>
          <a:ln/>
        </p:spPr>
      </p:sp>
      <p:sp>
        <p:nvSpPr>
          <p:cNvPr id="31" name="Text 29"/>
          <p:cNvSpPr/>
          <p:nvPr/>
        </p:nvSpPr>
        <p:spPr>
          <a:xfrm>
            <a:off x="8046720" y="2231136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0F14"/>
                </a:solidFill>
              </a:rPr>
              <a:t>2019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64608" y="2231136"/>
            <a:ext cx="438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⭐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321808" y="2231136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5D4"/>
                </a:solidFill>
              </a:rPr>
              <a:t>OpenAI Five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21808" y="250545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A896"/>
                </a:solidFill>
              </a:rPr>
              <a:t>by OpenAI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64608" y="2761488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CF0EA"/>
                </a:solidFill>
              </a:rPr>
              <a:t>Defeated world champions in Dota 2 — a real-time strategy game with 1,000× larger action space than chess.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74320" y="3346704"/>
            <a:ext cx="4160520" cy="1078992"/>
          </a:xfrm>
          <a:prstGeom prst="rect">
            <a:avLst>
              <a:gd name="adj" fmla="val 6780"/>
            </a:avLst>
          </a:prstGeom>
          <a:solidFill>
            <a:srgbClr val="082A38"/>
          </a:solidFill>
          <a:ln/>
        </p:spPr>
      </p:sp>
      <p:sp>
        <p:nvSpPr>
          <p:cNvPr id="37" name="Shape 35"/>
          <p:cNvSpPr/>
          <p:nvPr/>
        </p:nvSpPr>
        <p:spPr>
          <a:xfrm>
            <a:off x="274320" y="3346704"/>
            <a:ext cx="4160520" cy="640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8" name="Shape 36"/>
          <p:cNvSpPr/>
          <p:nvPr/>
        </p:nvSpPr>
        <p:spPr>
          <a:xfrm>
            <a:off x="3566160" y="3438144"/>
            <a:ext cx="749808" cy="256032"/>
          </a:xfrm>
          <a:prstGeom prst="rect">
            <a:avLst>
              <a:gd name="adj" fmla="val 17857"/>
            </a:avLst>
          </a:prstGeom>
          <a:solidFill>
            <a:srgbClr val="00F5D4"/>
          </a:solidFill>
          <a:ln/>
        </p:spPr>
      </p:sp>
      <p:sp>
        <p:nvSpPr>
          <p:cNvPr id="39" name="Text 37"/>
          <p:cNvSpPr/>
          <p:nvPr/>
        </p:nvSpPr>
        <p:spPr>
          <a:xfrm>
            <a:off x="3566160" y="343814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0F14"/>
                </a:solidFill>
              </a:rPr>
              <a:t>2022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84048" y="3438144"/>
            <a:ext cx="438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841248" y="3438144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5D4"/>
                </a:solidFill>
              </a:rPr>
              <a:t>RLHF in ChatGPT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41248" y="371246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A896"/>
                </a:solidFill>
              </a:rPr>
              <a:t>by OpenAI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84048" y="3968496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CF0EA"/>
                </a:solidFill>
              </a:rPr>
              <a:t>Proximal Policy Optimisation with human feedback aligned GPT-3 into safe, helpful conversational AI.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754880" y="3346704"/>
            <a:ext cx="4160520" cy="1078992"/>
          </a:xfrm>
          <a:prstGeom prst="rect">
            <a:avLst>
              <a:gd name="adj" fmla="val 6780"/>
            </a:avLst>
          </a:prstGeom>
          <a:solidFill>
            <a:srgbClr val="082A38"/>
          </a:solidFill>
          <a:ln/>
        </p:spPr>
      </p:sp>
      <p:sp>
        <p:nvSpPr>
          <p:cNvPr id="45" name="Shape 43"/>
          <p:cNvSpPr/>
          <p:nvPr/>
        </p:nvSpPr>
        <p:spPr>
          <a:xfrm>
            <a:off x="4754880" y="3346704"/>
            <a:ext cx="4160520" cy="640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6" name="Shape 44"/>
          <p:cNvSpPr/>
          <p:nvPr/>
        </p:nvSpPr>
        <p:spPr>
          <a:xfrm>
            <a:off x="8046720" y="3438144"/>
            <a:ext cx="749808" cy="256032"/>
          </a:xfrm>
          <a:prstGeom prst="rect">
            <a:avLst>
              <a:gd name="adj" fmla="val 17857"/>
            </a:avLst>
          </a:prstGeom>
          <a:solidFill>
            <a:srgbClr val="00F5D4"/>
          </a:solidFill>
          <a:ln/>
        </p:spPr>
      </p:sp>
      <p:sp>
        <p:nvSpPr>
          <p:cNvPr id="47" name="Text 45"/>
          <p:cNvSpPr/>
          <p:nvPr/>
        </p:nvSpPr>
        <p:spPr>
          <a:xfrm>
            <a:off x="8046720" y="343814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0F14"/>
                </a:solidFill>
              </a:rPr>
              <a:t>2024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864608" y="3438144"/>
            <a:ext cx="438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🔬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5321808" y="3438144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5D4"/>
                </a:solidFill>
              </a:rPr>
              <a:t>AlphaFold 3 + RL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5321808" y="371246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A896"/>
                </a:solidFill>
              </a:rPr>
              <a:t>by DeepMind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864608" y="3968496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CF0EA"/>
                </a:solidFill>
              </a:rPr>
              <a:t>RL-enhanced protein and molecular interaction prediction — transforming drug discovery pipelines globally.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30F14"/>
          </a:solidFill>
          <a:ln w="19050">
            <a:solidFill>
              <a:srgbClr val="00F5D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9DAD"/>
                </a:solidFill>
              </a:rPr>
              <a:t>Accredian is a leading Indian institution specialising in AI, Data Science, and Management research and education.  </a:t>
            </a:r>
            <a:pPr algn="ctr" indent="0" marL="0">
              <a:buNone/>
            </a:pPr>
            <a:r>
              <a:rPr lang="en-US" sz="750" dirty="0">
                <a:solidFill>
                  <a:srgbClr val="6B9DAD"/>
                </a:solidFill>
              </a:rPr>
              <a:t>Visit us at: </a:t>
            </a:r>
            <a:pPr algn="ctr" indent="0" marL="0">
              <a:buNone/>
            </a:pPr>
            <a:r>
              <a:rPr lang="en-US" sz="750" u="sng" dirty="0">
                <a:solidFill>
                  <a:srgbClr val="00F5D4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https://accredian.com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Real-World Applications of RL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2880" y="932688"/>
            <a:ext cx="2084832" cy="1645920"/>
          </a:xfrm>
          <a:prstGeom prst="rect">
            <a:avLst>
              <a:gd name="adj" fmla="val 5556"/>
            </a:avLst>
          </a:prstGeom>
          <a:solidFill>
            <a:srgbClr val="082A38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" y="932688"/>
            <a:ext cx="2084832" cy="640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24128"/>
            <a:ext cx="438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🚗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148132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F5D4"/>
                </a:solidFill>
              </a:rPr>
              <a:t>Autonomous Vehicles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74320" y="1828800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CF0EA"/>
                </a:solidFill>
              </a:rPr>
              <a:t>RL trains self-driving car policies for lane changes, merging, and collision avoidance in complex traffic scenarios.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395728" y="932688"/>
            <a:ext cx="2084832" cy="1645920"/>
          </a:xfrm>
          <a:prstGeom prst="rect">
            <a:avLst>
              <a:gd name="adj" fmla="val 5556"/>
            </a:avLst>
          </a:prstGeom>
          <a:solidFill>
            <a:srgbClr val="082A38"/>
          </a:solidFill>
          <a:ln/>
        </p:spPr>
      </p:sp>
      <p:sp>
        <p:nvSpPr>
          <p:cNvPr id="10" name="Shape 8"/>
          <p:cNvSpPr/>
          <p:nvPr/>
        </p:nvSpPr>
        <p:spPr>
          <a:xfrm>
            <a:off x="2395728" y="932688"/>
            <a:ext cx="2084832" cy="640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2487168" y="1024128"/>
            <a:ext cx="438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487168" y="148132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F5D4"/>
                </a:solidFill>
              </a:rPr>
              <a:t>Industrial Robotics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487168" y="1828800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CF0EA"/>
                </a:solidFill>
              </a:rPr>
              <a:t>Robot arms learn assembly, welding, and pick-and-place tasks through simulation-to-real transfer RL.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08576" y="932688"/>
            <a:ext cx="2084832" cy="1645920"/>
          </a:xfrm>
          <a:prstGeom prst="rect">
            <a:avLst>
              <a:gd name="adj" fmla="val 5556"/>
            </a:avLst>
          </a:prstGeom>
          <a:solidFill>
            <a:srgbClr val="082A38"/>
          </a:solidFill>
          <a:ln/>
        </p:spPr>
      </p:sp>
      <p:sp>
        <p:nvSpPr>
          <p:cNvPr id="15" name="Shape 13"/>
          <p:cNvSpPr/>
          <p:nvPr/>
        </p:nvSpPr>
        <p:spPr>
          <a:xfrm>
            <a:off x="4608576" y="932688"/>
            <a:ext cx="2084832" cy="640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4700016" y="1024128"/>
            <a:ext cx="438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🌡️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700016" y="148132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F5D4"/>
                </a:solidFill>
              </a:rPr>
              <a:t>Data Centre Cooling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700016" y="1828800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CF0EA"/>
                </a:solidFill>
              </a:rPr>
              <a:t>Google's DeepMind RL system reduced data centre cooling energy by 40% — saving millions annually.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21424" y="932688"/>
            <a:ext cx="2084832" cy="1645920"/>
          </a:xfrm>
          <a:prstGeom prst="rect">
            <a:avLst>
              <a:gd name="adj" fmla="val 5556"/>
            </a:avLst>
          </a:prstGeom>
          <a:solidFill>
            <a:srgbClr val="082A38"/>
          </a:solidFill>
          <a:ln/>
        </p:spPr>
      </p:sp>
      <p:sp>
        <p:nvSpPr>
          <p:cNvPr id="20" name="Shape 18"/>
          <p:cNvSpPr/>
          <p:nvPr/>
        </p:nvSpPr>
        <p:spPr>
          <a:xfrm>
            <a:off x="6821424" y="932688"/>
            <a:ext cx="2084832" cy="640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912864" y="1024128"/>
            <a:ext cx="438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912864" y="148132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F5D4"/>
                </a:solidFill>
              </a:rPr>
              <a:t>Algorithmic Trading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912864" y="1828800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CF0EA"/>
                </a:solidFill>
              </a:rPr>
              <a:t>RL agents optimise order execution, portfolio rebalancing, and market-making strategies in real time.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82880" y="2715768"/>
            <a:ext cx="2084832" cy="1645920"/>
          </a:xfrm>
          <a:prstGeom prst="rect">
            <a:avLst>
              <a:gd name="adj" fmla="val 5556"/>
            </a:avLst>
          </a:prstGeom>
          <a:solidFill>
            <a:srgbClr val="082A38"/>
          </a:solidFill>
          <a:ln/>
        </p:spPr>
      </p:sp>
      <p:sp>
        <p:nvSpPr>
          <p:cNvPr id="25" name="Shape 23"/>
          <p:cNvSpPr/>
          <p:nvPr/>
        </p:nvSpPr>
        <p:spPr>
          <a:xfrm>
            <a:off x="182880" y="2715768"/>
            <a:ext cx="2084832" cy="640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2807208"/>
            <a:ext cx="438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💊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274320" y="326440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F5D4"/>
                </a:solidFill>
              </a:rPr>
              <a:t>Personalised Medicine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274320" y="3611880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CF0EA"/>
                </a:solidFill>
              </a:rPr>
              <a:t>RL optimises adaptive clinical trial designs and dynamic treatment regimens for individual patients.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395728" y="2715768"/>
            <a:ext cx="2084832" cy="1645920"/>
          </a:xfrm>
          <a:prstGeom prst="rect">
            <a:avLst>
              <a:gd name="adj" fmla="val 5556"/>
            </a:avLst>
          </a:prstGeom>
          <a:solidFill>
            <a:srgbClr val="082A38"/>
          </a:solidFill>
          <a:ln/>
        </p:spPr>
      </p:sp>
      <p:sp>
        <p:nvSpPr>
          <p:cNvPr id="30" name="Shape 28"/>
          <p:cNvSpPr/>
          <p:nvPr/>
        </p:nvSpPr>
        <p:spPr>
          <a:xfrm>
            <a:off x="2395728" y="2715768"/>
            <a:ext cx="2084832" cy="640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2487168" y="2807208"/>
            <a:ext cx="438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🎮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2487168" y="326440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F5D4"/>
                </a:solidFill>
              </a:rPr>
              <a:t>Game AI &amp; Simulation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2487168" y="3611880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CF0EA"/>
                </a:solidFill>
              </a:rPr>
              <a:t>RL agents are used to playtest games, discover bugs, and generate diverse adversarial scenarios.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608576" y="2715768"/>
            <a:ext cx="2084832" cy="1645920"/>
          </a:xfrm>
          <a:prstGeom prst="rect">
            <a:avLst>
              <a:gd name="adj" fmla="val 5556"/>
            </a:avLst>
          </a:prstGeom>
          <a:solidFill>
            <a:srgbClr val="082A38"/>
          </a:solidFill>
          <a:ln/>
        </p:spPr>
      </p:sp>
      <p:sp>
        <p:nvSpPr>
          <p:cNvPr id="35" name="Shape 33"/>
          <p:cNvSpPr/>
          <p:nvPr/>
        </p:nvSpPr>
        <p:spPr>
          <a:xfrm>
            <a:off x="4608576" y="2715768"/>
            <a:ext cx="2084832" cy="640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6" name="Text 34"/>
          <p:cNvSpPr/>
          <p:nvPr/>
        </p:nvSpPr>
        <p:spPr>
          <a:xfrm>
            <a:off x="4700016" y="2807208"/>
            <a:ext cx="438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🔋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4700016" y="326440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F5D4"/>
                </a:solidFill>
              </a:rPr>
              <a:t>Energy Grid Management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700016" y="3611880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CF0EA"/>
                </a:solidFill>
              </a:rPr>
              <a:t>RL schedules renewable energy dispatch and demand response to minimise cost and carbon emissions.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821424" y="2715768"/>
            <a:ext cx="2084832" cy="1645920"/>
          </a:xfrm>
          <a:prstGeom prst="rect">
            <a:avLst>
              <a:gd name="adj" fmla="val 5556"/>
            </a:avLst>
          </a:prstGeom>
          <a:solidFill>
            <a:srgbClr val="082A38"/>
          </a:solidFill>
          <a:ln/>
        </p:spPr>
      </p:sp>
      <p:sp>
        <p:nvSpPr>
          <p:cNvPr id="40" name="Shape 38"/>
          <p:cNvSpPr/>
          <p:nvPr/>
        </p:nvSpPr>
        <p:spPr>
          <a:xfrm>
            <a:off x="6821424" y="2715768"/>
            <a:ext cx="2084832" cy="640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1" name="Text 39"/>
          <p:cNvSpPr/>
          <p:nvPr/>
        </p:nvSpPr>
        <p:spPr>
          <a:xfrm>
            <a:off x="6912864" y="2807208"/>
            <a:ext cx="438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🗣️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6912864" y="326440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F5D4"/>
                </a:solidFill>
              </a:rPr>
              <a:t>RLHF in LLMs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6912864" y="3611880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CF0EA"/>
                </a:solidFill>
              </a:rPr>
              <a:t>Reinforcement Learning from Human Feedback is the core technique aligning ChatGPT, Claude, and Gemini.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30F14"/>
          </a:solidFill>
          <a:ln w="19050">
            <a:solidFill>
              <a:srgbClr val="00F5D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9DAD"/>
                </a:solidFill>
              </a:rPr>
              <a:t>Accredian is a leading Indian institution specialising in AI, Data Science, and Management research and education.  </a:t>
            </a:r>
            <a:pPr algn="ctr" indent="0" marL="0">
              <a:buNone/>
            </a:pPr>
            <a:r>
              <a:rPr lang="en-US" sz="750" dirty="0">
                <a:solidFill>
                  <a:srgbClr val="6B9DAD"/>
                </a:solidFill>
              </a:rPr>
              <a:t>Visit us at: </a:t>
            </a:r>
            <a:pPr algn="ctr" indent="0" marL="0">
              <a:buNone/>
            </a:pPr>
            <a:r>
              <a:rPr lang="en-US" sz="750" u="sng" dirty="0">
                <a:solidFill>
                  <a:srgbClr val="00F5D4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https://accredian.com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RLHF: The Engine Behind Aligned AI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74320" y="877824"/>
            <a:ext cx="8595360" cy="640080"/>
          </a:xfrm>
          <a:prstGeom prst="rect">
            <a:avLst>
              <a:gd name="adj" fmla="val 11429"/>
            </a:avLst>
          </a:prstGeom>
          <a:solidFill>
            <a:srgbClr val="082A38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77824"/>
            <a:ext cx="91440" cy="6400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905256"/>
            <a:ext cx="81838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CF0EA"/>
                </a:solidFill>
              </a:rPr>
              <a:t>RLHF (Reinforcement Learning from Human Feedback) is the technique that transformed raw LLMs into helpful, harmless, and honest AI assistants — making it the most impactful RL application of the decade.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74320" y="1682496"/>
            <a:ext cx="658368" cy="530352"/>
          </a:xfrm>
          <a:prstGeom prst="rect">
            <a:avLst>
              <a:gd name="adj" fmla="val 10345"/>
            </a:avLst>
          </a:prstGeom>
          <a:solidFill>
            <a:srgbClr val="00F5D4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682496"/>
            <a:ext cx="658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30F14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76072" y="2212848"/>
            <a:ext cx="54864" cy="1828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0" name="Shape 8"/>
          <p:cNvSpPr/>
          <p:nvPr/>
        </p:nvSpPr>
        <p:spPr>
          <a:xfrm>
            <a:off x="1051560" y="1682496"/>
            <a:ext cx="7772400" cy="530352"/>
          </a:xfrm>
          <a:prstGeom prst="rect">
            <a:avLst>
              <a:gd name="adj" fmla="val 12069"/>
            </a:avLst>
          </a:prstGeom>
          <a:solidFill>
            <a:srgbClr val="082A38"/>
          </a:solidFill>
          <a:ln/>
        </p:spPr>
      </p:sp>
      <p:sp>
        <p:nvSpPr>
          <p:cNvPr id="11" name="Shape 9"/>
          <p:cNvSpPr/>
          <p:nvPr/>
        </p:nvSpPr>
        <p:spPr>
          <a:xfrm>
            <a:off x="1051560" y="1682496"/>
            <a:ext cx="73152" cy="5303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171907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5D4"/>
                </a:solidFill>
              </a:rPr>
              <a:t>Pre-train LLM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34440" y="1956816"/>
            <a:ext cx="7406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F0EA"/>
                </a:solidFill>
              </a:rPr>
              <a:t>A large language model is pre-trained on massive text corpora to develop general language capabilities.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395728"/>
            <a:ext cx="658368" cy="530352"/>
          </a:xfrm>
          <a:prstGeom prst="rect">
            <a:avLst>
              <a:gd name="adj" fmla="val 10345"/>
            </a:avLst>
          </a:prstGeom>
          <a:solidFill>
            <a:srgbClr val="00F5D4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2395728"/>
            <a:ext cx="658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30F14"/>
                </a:solidFill>
              </a:rPr>
              <a:t>2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76072" y="2926080"/>
            <a:ext cx="54864" cy="1828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7" name="Shape 15"/>
          <p:cNvSpPr/>
          <p:nvPr/>
        </p:nvSpPr>
        <p:spPr>
          <a:xfrm>
            <a:off x="1051560" y="2395728"/>
            <a:ext cx="7772400" cy="530352"/>
          </a:xfrm>
          <a:prstGeom prst="rect">
            <a:avLst>
              <a:gd name="adj" fmla="val 12069"/>
            </a:avLst>
          </a:prstGeom>
          <a:solidFill>
            <a:srgbClr val="082A38"/>
          </a:solidFill>
          <a:ln/>
        </p:spPr>
      </p:sp>
      <p:sp>
        <p:nvSpPr>
          <p:cNvPr id="18" name="Shape 16"/>
          <p:cNvSpPr/>
          <p:nvPr/>
        </p:nvSpPr>
        <p:spPr>
          <a:xfrm>
            <a:off x="1051560" y="2395728"/>
            <a:ext cx="73152" cy="5303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1234440" y="2432304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5D4"/>
                </a:solidFill>
              </a:rPr>
              <a:t>Collect Human Comparisons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34440" y="2670048"/>
            <a:ext cx="7406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F0EA"/>
                </a:solidFill>
              </a:rPr>
              <a:t>Human labellers rank multiple model outputs for quality, helpfulness, safety, and accuracy.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108960"/>
            <a:ext cx="658368" cy="530352"/>
          </a:xfrm>
          <a:prstGeom prst="rect">
            <a:avLst>
              <a:gd name="adj" fmla="val 10345"/>
            </a:avLst>
          </a:prstGeom>
          <a:solidFill>
            <a:srgbClr val="00F5D4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3108960"/>
            <a:ext cx="658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30F14"/>
                </a:solidFill>
              </a:rPr>
              <a:t>3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76072" y="3639312"/>
            <a:ext cx="54864" cy="1828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4" name="Shape 22"/>
          <p:cNvSpPr/>
          <p:nvPr/>
        </p:nvSpPr>
        <p:spPr>
          <a:xfrm>
            <a:off x="1051560" y="3108960"/>
            <a:ext cx="7772400" cy="530352"/>
          </a:xfrm>
          <a:prstGeom prst="rect">
            <a:avLst>
              <a:gd name="adj" fmla="val 12069"/>
            </a:avLst>
          </a:prstGeom>
          <a:solidFill>
            <a:srgbClr val="082A38"/>
          </a:solidFill>
          <a:ln/>
        </p:spPr>
      </p:sp>
      <p:sp>
        <p:nvSpPr>
          <p:cNvPr id="25" name="Shape 23"/>
          <p:cNvSpPr/>
          <p:nvPr/>
        </p:nvSpPr>
        <p:spPr>
          <a:xfrm>
            <a:off x="1051560" y="3108960"/>
            <a:ext cx="73152" cy="5303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1234440" y="3145536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5D4"/>
                </a:solidFill>
              </a:rPr>
              <a:t>Train Reward Model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234440" y="3383280"/>
            <a:ext cx="7406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F0EA"/>
                </a:solidFill>
              </a:rPr>
              <a:t>A separate neural network learns to predict human preference scores from the comparison dataset.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3822192"/>
            <a:ext cx="658368" cy="530352"/>
          </a:xfrm>
          <a:prstGeom prst="rect">
            <a:avLst>
              <a:gd name="adj" fmla="val 10345"/>
            </a:avLst>
          </a:prstGeom>
          <a:solidFill>
            <a:srgbClr val="00F5D4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3822192"/>
            <a:ext cx="658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30F14"/>
                </a:solidFill>
              </a:rPr>
              <a:t>4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051560" y="3822192"/>
            <a:ext cx="7772400" cy="530352"/>
          </a:xfrm>
          <a:prstGeom prst="rect">
            <a:avLst>
              <a:gd name="adj" fmla="val 12069"/>
            </a:avLst>
          </a:prstGeom>
          <a:solidFill>
            <a:srgbClr val="082A38"/>
          </a:solidFill>
          <a:ln/>
        </p:spPr>
      </p:sp>
      <p:sp>
        <p:nvSpPr>
          <p:cNvPr id="31" name="Shape 29"/>
          <p:cNvSpPr/>
          <p:nvPr/>
        </p:nvSpPr>
        <p:spPr>
          <a:xfrm>
            <a:off x="1051560" y="3822192"/>
            <a:ext cx="73152" cy="5303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2" name="Text 30"/>
          <p:cNvSpPr/>
          <p:nvPr/>
        </p:nvSpPr>
        <p:spPr>
          <a:xfrm>
            <a:off x="1234440" y="385876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5D4"/>
                </a:solidFill>
              </a:rPr>
              <a:t>Fine-tune with PPO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234440" y="4096512"/>
            <a:ext cx="7406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F0EA"/>
                </a:solidFill>
              </a:rPr>
              <a:t>The LLM policy is optimised using Proximal Policy Optimisation against the reward model's signals.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74320" y="457200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</a:rPr>
              <a:t>Models aligned with RLHF: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560320" y="4526280"/>
            <a:ext cx="1207008" cy="256032"/>
          </a:xfrm>
          <a:prstGeom prst="rect">
            <a:avLst>
              <a:gd name="adj" fmla="val 17857"/>
            </a:avLst>
          </a:prstGeom>
          <a:solidFill>
            <a:srgbClr val="028090"/>
          </a:solidFill>
          <a:ln/>
        </p:spPr>
      </p:sp>
      <p:sp>
        <p:nvSpPr>
          <p:cNvPr id="36" name="Text 34"/>
          <p:cNvSpPr/>
          <p:nvPr/>
        </p:nvSpPr>
        <p:spPr>
          <a:xfrm>
            <a:off x="2560320" y="4526280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ChatGPT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858768" y="4526280"/>
            <a:ext cx="1207008" cy="256032"/>
          </a:xfrm>
          <a:prstGeom prst="rect">
            <a:avLst>
              <a:gd name="adj" fmla="val 17857"/>
            </a:avLst>
          </a:prstGeom>
          <a:solidFill>
            <a:srgbClr val="028090"/>
          </a:solidFill>
          <a:ln/>
        </p:spPr>
      </p:sp>
      <p:sp>
        <p:nvSpPr>
          <p:cNvPr id="38" name="Text 36"/>
          <p:cNvSpPr/>
          <p:nvPr/>
        </p:nvSpPr>
        <p:spPr>
          <a:xfrm>
            <a:off x="3858768" y="4526280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Claude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157216" y="4526280"/>
            <a:ext cx="1207008" cy="256032"/>
          </a:xfrm>
          <a:prstGeom prst="rect">
            <a:avLst>
              <a:gd name="adj" fmla="val 17857"/>
            </a:avLst>
          </a:prstGeom>
          <a:solidFill>
            <a:srgbClr val="028090"/>
          </a:solidFill>
          <a:ln/>
        </p:spPr>
      </p:sp>
      <p:sp>
        <p:nvSpPr>
          <p:cNvPr id="40" name="Text 38"/>
          <p:cNvSpPr/>
          <p:nvPr/>
        </p:nvSpPr>
        <p:spPr>
          <a:xfrm>
            <a:off x="5157216" y="4526280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Gemini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455664" y="4526280"/>
            <a:ext cx="1207008" cy="256032"/>
          </a:xfrm>
          <a:prstGeom prst="rect">
            <a:avLst>
              <a:gd name="adj" fmla="val 17857"/>
            </a:avLst>
          </a:prstGeom>
          <a:solidFill>
            <a:srgbClr val="028090"/>
          </a:solidFill>
          <a:ln/>
        </p:spPr>
      </p:sp>
      <p:sp>
        <p:nvSpPr>
          <p:cNvPr id="42" name="Text 40"/>
          <p:cNvSpPr/>
          <p:nvPr/>
        </p:nvSpPr>
        <p:spPr>
          <a:xfrm>
            <a:off x="6455664" y="4526280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LLaMA 3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7754112" y="4526280"/>
            <a:ext cx="1207008" cy="256032"/>
          </a:xfrm>
          <a:prstGeom prst="rect">
            <a:avLst>
              <a:gd name="adj" fmla="val 17857"/>
            </a:avLst>
          </a:prstGeom>
          <a:solidFill>
            <a:srgbClr val="028090"/>
          </a:solidFill>
          <a:ln/>
        </p:spPr>
      </p:sp>
      <p:sp>
        <p:nvSpPr>
          <p:cNvPr id="44" name="Text 42"/>
          <p:cNvSpPr/>
          <p:nvPr/>
        </p:nvSpPr>
        <p:spPr>
          <a:xfrm>
            <a:off x="7754112" y="4526280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Mistral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30F14"/>
          </a:solidFill>
          <a:ln w="19050">
            <a:solidFill>
              <a:srgbClr val="00F5D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9DAD"/>
                </a:solidFill>
              </a:rPr>
              <a:t>Accredian is a leading Indian institution specialising in AI, Data Science, and Management research and education.  </a:t>
            </a:r>
            <a:pPr algn="ctr" indent="0" marL="0">
              <a:buNone/>
            </a:pPr>
            <a:r>
              <a:rPr lang="en-US" sz="750" dirty="0">
                <a:solidFill>
                  <a:srgbClr val="6B9DAD"/>
                </a:solidFill>
              </a:rPr>
              <a:t>Visit us at: </a:t>
            </a:r>
            <a:pPr algn="ctr" indent="0" marL="0">
              <a:buNone/>
            </a:pPr>
            <a:r>
              <a:rPr lang="en-US" sz="750" u="sng" dirty="0">
                <a:solidFill>
                  <a:srgbClr val="00F5D4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https://accredian.com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Challenges &amp; Open Problems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32688"/>
            <a:ext cx="4160520" cy="1051560"/>
          </a:xfrm>
          <a:prstGeom prst="rect">
            <a:avLst>
              <a:gd name="adj" fmla="val 6957"/>
            </a:avLst>
          </a:prstGeom>
          <a:solidFill>
            <a:srgbClr val="082A38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32688"/>
            <a:ext cx="4160520" cy="64008"/>
          </a:xfrm>
          <a:prstGeom prst="rect">
            <a:avLst/>
          </a:prstGeom>
          <a:solidFill>
            <a:srgbClr val="A84232"/>
          </a:solidFill>
          <a:ln/>
        </p:spPr>
      </p:sp>
      <p:sp>
        <p:nvSpPr>
          <p:cNvPr id="6" name="Text 4"/>
          <p:cNvSpPr/>
          <p:nvPr/>
        </p:nvSpPr>
        <p:spPr>
          <a:xfrm>
            <a:off x="402336" y="102412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🌵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96112" y="102412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</a:rPr>
              <a:t>Sample Inefficiency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2336" y="1389888"/>
            <a:ext cx="39136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CF0EA"/>
                </a:solidFill>
              </a:rPr>
              <a:t>RL requires millions of environment interactions to learn what humans master in minutes. Sim-to-real transfer helps but gaps remain.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932688"/>
            <a:ext cx="4160520" cy="1051560"/>
          </a:xfrm>
          <a:prstGeom prst="rect">
            <a:avLst>
              <a:gd name="adj" fmla="val 6957"/>
            </a:avLst>
          </a:prstGeom>
          <a:solidFill>
            <a:srgbClr val="082A38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932688"/>
            <a:ext cx="4160520" cy="64008"/>
          </a:xfrm>
          <a:prstGeom prst="rect">
            <a:avLst/>
          </a:prstGeom>
          <a:solidFill>
            <a:srgbClr val="A84232"/>
          </a:solidFill>
          <a:ln/>
        </p:spPr>
      </p:sp>
      <p:sp>
        <p:nvSpPr>
          <p:cNvPr id="11" name="Text 9"/>
          <p:cNvSpPr/>
          <p:nvPr/>
        </p:nvSpPr>
        <p:spPr>
          <a:xfrm>
            <a:off x="4882896" y="102412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🏆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376672" y="102412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</a:rPr>
              <a:t>Reward Hacking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82896" y="1389888"/>
            <a:ext cx="39136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CF0EA"/>
                </a:solidFill>
              </a:rPr>
              <a:t>Agents exploit unintended loopholes in reward functions, achieving high scores without the intended behaviour — a core alignment risk.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121408"/>
            <a:ext cx="4160520" cy="1051560"/>
          </a:xfrm>
          <a:prstGeom prst="rect">
            <a:avLst>
              <a:gd name="adj" fmla="val 6957"/>
            </a:avLst>
          </a:prstGeom>
          <a:solidFill>
            <a:srgbClr val="082A38"/>
          </a:solidFill>
          <a:ln/>
        </p:spPr>
      </p:sp>
      <p:sp>
        <p:nvSpPr>
          <p:cNvPr id="15" name="Shape 13"/>
          <p:cNvSpPr/>
          <p:nvPr/>
        </p:nvSpPr>
        <p:spPr>
          <a:xfrm>
            <a:off x="274320" y="2121408"/>
            <a:ext cx="4160520" cy="64008"/>
          </a:xfrm>
          <a:prstGeom prst="rect">
            <a:avLst/>
          </a:prstGeom>
          <a:solidFill>
            <a:srgbClr val="A84232"/>
          </a:solidFill>
          <a:ln/>
        </p:spPr>
      </p:sp>
      <p:sp>
        <p:nvSpPr>
          <p:cNvPr id="16" name="Text 14"/>
          <p:cNvSpPr/>
          <p:nvPr/>
        </p:nvSpPr>
        <p:spPr>
          <a:xfrm>
            <a:off x="402336" y="221284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🌊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96112" y="221284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</a:rPr>
              <a:t>Non-Stationarity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02336" y="2578608"/>
            <a:ext cx="39136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CF0EA"/>
                </a:solidFill>
              </a:rPr>
              <a:t>Real-world environments change over time. RL agents trained in fixed settings often fail to adapt to distributional shifts.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121408"/>
            <a:ext cx="4160520" cy="1051560"/>
          </a:xfrm>
          <a:prstGeom prst="rect">
            <a:avLst>
              <a:gd name="adj" fmla="val 6957"/>
            </a:avLst>
          </a:prstGeom>
          <a:solidFill>
            <a:srgbClr val="082A38"/>
          </a:solidFill>
          <a:ln/>
        </p:spPr>
      </p:sp>
      <p:sp>
        <p:nvSpPr>
          <p:cNvPr id="20" name="Shape 18"/>
          <p:cNvSpPr/>
          <p:nvPr/>
        </p:nvSpPr>
        <p:spPr>
          <a:xfrm>
            <a:off x="4754880" y="2121408"/>
            <a:ext cx="4160520" cy="64008"/>
          </a:xfrm>
          <a:prstGeom prst="rect">
            <a:avLst/>
          </a:prstGeom>
          <a:solidFill>
            <a:srgbClr val="A84232"/>
          </a:solidFill>
          <a:ln/>
        </p:spPr>
      </p:sp>
      <p:sp>
        <p:nvSpPr>
          <p:cNvPr id="21" name="Text 19"/>
          <p:cNvSpPr/>
          <p:nvPr/>
        </p:nvSpPr>
        <p:spPr>
          <a:xfrm>
            <a:off x="4882896" y="221284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376672" y="221284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</a:rPr>
              <a:t>Safety &amp; Constraint Violation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82896" y="2578608"/>
            <a:ext cx="39136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CF0EA"/>
                </a:solidFill>
              </a:rPr>
              <a:t>Ensuring RL agents respect hard constraints (collision avoidance, ethical limits) during exploration remains an unsolved problem.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310128"/>
            <a:ext cx="4160520" cy="1051560"/>
          </a:xfrm>
          <a:prstGeom prst="rect">
            <a:avLst>
              <a:gd name="adj" fmla="val 6957"/>
            </a:avLst>
          </a:prstGeom>
          <a:solidFill>
            <a:srgbClr val="082A38"/>
          </a:solidFill>
          <a:ln/>
        </p:spPr>
      </p:sp>
      <p:sp>
        <p:nvSpPr>
          <p:cNvPr id="25" name="Shape 23"/>
          <p:cNvSpPr/>
          <p:nvPr/>
        </p:nvSpPr>
        <p:spPr>
          <a:xfrm>
            <a:off x="274320" y="3310128"/>
            <a:ext cx="4160520" cy="64008"/>
          </a:xfrm>
          <a:prstGeom prst="rect">
            <a:avLst/>
          </a:prstGeom>
          <a:solidFill>
            <a:srgbClr val="A84232"/>
          </a:solidFill>
          <a:ln/>
        </p:spPr>
      </p:sp>
      <p:sp>
        <p:nvSpPr>
          <p:cNvPr id="26" name="Text 24"/>
          <p:cNvSpPr/>
          <p:nvPr/>
        </p:nvSpPr>
        <p:spPr>
          <a:xfrm>
            <a:off x="402336" y="340156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📐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96112" y="340156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</a:rPr>
              <a:t>Credit Assignment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02336" y="3767328"/>
            <a:ext cx="39136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CF0EA"/>
                </a:solidFill>
              </a:rPr>
              <a:t>In long-horizon tasks, determining which action caused a reward received thousands of steps later is computationally challenging.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310128"/>
            <a:ext cx="4160520" cy="1051560"/>
          </a:xfrm>
          <a:prstGeom prst="rect">
            <a:avLst>
              <a:gd name="adj" fmla="val 6957"/>
            </a:avLst>
          </a:prstGeom>
          <a:solidFill>
            <a:srgbClr val="082A38"/>
          </a:solidFill>
          <a:ln/>
        </p:spPr>
      </p:sp>
      <p:sp>
        <p:nvSpPr>
          <p:cNvPr id="30" name="Shape 28"/>
          <p:cNvSpPr/>
          <p:nvPr/>
        </p:nvSpPr>
        <p:spPr>
          <a:xfrm>
            <a:off x="4754880" y="3310128"/>
            <a:ext cx="4160520" cy="64008"/>
          </a:xfrm>
          <a:prstGeom prst="rect">
            <a:avLst/>
          </a:prstGeom>
          <a:solidFill>
            <a:srgbClr val="A84232"/>
          </a:solidFill>
          <a:ln/>
        </p:spPr>
      </p:sp>
      <p:sp>
        <p:nvSpPr>
          <p:cNvPr id="31" name="Text 29"/>
          <p:cNvSpPr/>
          <p:nvPr/>
        </p:nvSpPr>
        <p:spPr>
          <a:xfrm>
            <a:off x="4882896" y="340156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💸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376672" y="340156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</a:rPr>
              <a:t>Compute Cost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82896" y="3767328"/>
            <a:ext cx="39136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CF0EA"/>
                </a:solidFill>
              </a:rPr>
              <a:t>Training world-class RL systems (AlphaZero, MuZero) requires thousands of TPU-hours — prohibitively expensive for most teams.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30F14"/>
          </a:solidFill>
          <a:ln w="19050">
            <a:solidFill>
              <a:srgbClr val="00F5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9DAD"/>
                </a:solidFill>
              </a:rPr>
              <a:t>Accredian is a leading Indian institution specialising in AI, Data Science, and Management research and education.  </a:t>
            </a:r>
            <a:pPr algn="ctr" indent="0" marL="0">
              <a:buNone/>
            </a:pPr>
            <a:r>
              <a:rPr lang="en-US" sz="750" dirty="0">
                <a:solidFill>
                  <a:srgbClr val="6B9DAD"/>
                </a:solidFill>
              </a:rPr>
              <a:t>Visit us at: </a:t>
            </a:r>
            <a:pPr algn="ctr" indent="0" marL="0">
              <a:buNone/>
            </a:pPr>
            <a:r>
              <a:rPr lang="en-US" sz="750" u="sng" dirty="0">
                <a:solidFill>
                  <a:srgbClr val="00F5D4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https://accredian.com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Future of Reinforcement Learning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32688"/>
            <a:ext cx="1051560" cy="749808"/>
          </a:xfrm>
          <a:prstGeom prst="rect">
            <a:avLst>
              <a:gd name="adj" fmla="val 9756"/>
            </a:avLst>
          </a:prstGeom>
          <a:solidFill>
            <a:srgbClr val="00F5D4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32688"/>
            <a:ext cx="1051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30F14"/>
                </a:solidFill>
              </a:rPr>
              <a:t>2025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25880" y="1280160"/>
            <a:ext cx="256032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Shape 5"/>
          <p:cNvSpPr/>
          <p:nvPr/>
        </p:nvSpPr>
        <p:spPr>
          <a:xfrm>
            <a:off x="1581912" y="932688"/>
            <a:ext cx="7269480" cy="749808"/>
          </a:xfrm>
          <a:prstGeom prst="rect">
            <a:avLst>
              <a:gd name="adj" fmla="val 9756"/>
            </a:avLst>
          </a:prstGeom>
          <a:solidFill>
            <a:srgbClr val="082A38"/>
          </a:solidFill>
          <a:ln/>
        </p:spPr>
      </p:sp>
      <p:sp>
        <p:nvSpPr>
          <p:cNvPr id="8" name="Shape 6"/>
          <p:cNvSpPr/>
          <p:nvPr/>
        </p:nvSpPr>
        <p:spPr>
          <a:xfrm>
            <a:off x="1581912" y="932688"/>
            <a:ext cx="82296" cy="7498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1755648" y="987552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5D4"/>
                </a:solidFill>
              </a:rPr>
              <a:t>RL + LLMs = Reasoning Agents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755648" y="1316736"/>
            <a:ext cx="6949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F0EA"/>
                </a:solidFill>
              </a:rPr>
              <a:t>LLMs as world models combined with RL planners produce agents that reason, plan, and act across open-ended tasks.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828800"/>
            <a:ext cx="1051560" cy="749808"/>
          </a:xfrm>
          <a:prstGeom prst="rect">
            <a:avLst>
              <a:gd name="adj" fmla="val 9756"/>
            </a:avLst>
          </a:prstGeom>
          <a:solidFill>
            <a:srgbClr val="00F5D4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1828800"/>
            <a:ext cx="1051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30F14"/>
                </a:solidFill>
              </a:rPr>
              <a:t>2026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325880" y="2176272"/>
            <a:ext cx="256032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Shape 12"/>
          <p:cNvSpPr/>
          <p:nvPr/>
        </p:nvSpPr>
        <p:spPr>
          <a:xfrm>
            <a:off x="1581912" y="1828800"/>
            <a:ext cx="7269480" cy="749808"/>
          </a:xfrm>
          <a:prstGeom prst="rect">
            <a:avLst>
              <a:gd name="adj" fmla="val 9756"/>
            </a:avLst>
          </a:prstGeom>
          <a:solidFill>
            <a:srgbClr val="082A38"/>
          </a:solidFill>
          <a:ln/>
        </p:spPr>
      </p:sp>
      <p:sp>
        <p:nvSpPr>
          <p:cNvPr id="15" name="Shape 13"/>
          <p:cNvSpPr/>
          <p:nvPr/>
        </p:nvSpPr>
        <p:spPr>
          <a:xfrm>
            <a:off x="1581912" y="1828800"/>
            <a:ext cx="82296" cy="7498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1755648" y="1883664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5D4"/>
                </a:solidFill>
              </a:rPr>
              <a:t>Real-World Robot Learning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755648" y="2212848"/>
            <a:ext cx="6949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F0EA"/>
                </a:solidFill>
              </a:rPr>
              <a:t>Sim-to-real RL enables robots to learn manipulation, navigation, and dextrous tasks with human-level reliability.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2724912"/>
            <a:ext cx="1051560" cy="749808"/>
          </a:xfrm>
          <a:prstGeom prst="rect">
            <a:avLst>
              <a:gd name="adj" fmla="val 9756"/>
            </a:avLst>
          </a:prstGeom>
          <a:solidFill>
            <a:srgbClr val="00F5D4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2724912"/>
            <a:ext cx="1051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30F14"/>
                </a:solidFill>
              </a:rPr>
              <a:t>2027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325880" y="3072384"/>
            <a:ext cx="256032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Shape 19"/>
          <p:cNvSpPr/>
          <p:nvPr/>
        </p:nvSpPr>
        <p:spPr>
          <a:xfrm>
            <a:off x="1581912" y="2724912"/>
            <a:ext cx="7269480" cy="749808"/>
          </a:xfrm>
          <a:prstGeom prst="rect">
            <a:avLst>
              <a:gd name="adj" fmla="val 9756"/>
            </a:avLst>
          </a:prstGeom>
          <a:solidFill>
            <a:srgbClr val="082A38"/>
          </a:solidFill>
          <a:ln/>
        </p:spPr>
      </p:sp>
      <p:sp>
        <p:nvSpPr>
          <p:cNvPr id="22" name="Shape 20"/>
          <p:cNvSpPr/>
          <p:nvPr/>
        </p:nvSpPr>
        <p:spPr>
          <a:xfrm>
            <a:off x="1581912" y="2724912"/>
            <a:ext cx="82296" cy="7498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1755648" y="2779776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5D4"/>
                </a:solidFill>
              </a:rPr>
              <a:t>Scientific Discovery Engines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755648" y="3108960"/>
            <a:ext cx="6949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F0EA"/>
                </a:solidFill>
              </a:rPr>
              <a:t>RL agents autonomously design experiments, run simulations, and iterate hypotheses — accelerating material science and biotech.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3621024"/>
            <a:ext cx="1051560" cy="749808"/>
          </a:xfrm>
          <a:prstGeom prst="rect">
            <a:avLst>
              <a:gd name="adj" fmla="val 9756"/>
            </a:avLst>
          </a:prstGeom>
          <a:solidFill>
            <a:srgbClr val="00F5D4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3621024"/>
            <a:ext cx="1051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30F14"/>
                </a:solidFill>
              </a:rPr>
              <a:t>2030+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325880" y="3968496"/>
            <a:ext cx="256032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8" name="Shape 26"/>
          <p:cNvSpPr/>
          <p:nvPr/>
        </p:nvSpPr>
        <p:spPr>
          <a:xfrm>
            <a:off x="1581912" y="3621024"/>
            <a:ext cx="7269480" cy="749808"/>
          </a:xfrm>
          <a:prstGeom prst="rect">
            <a:avLst>
              <a:gd name="adj" fmla="val 9756"/>
            </a:avLst>
          </a:prstGeom>
          <a:solidFill>
            <a:srgbClr val="082A38"/>
          </a:solidFill>
          <a:ln/>
        </p:spPr>
      </p:sp>
      <p:sp>
        <p:nvSpPr>
          <p:cNvPr id="29" name="Shape 27"/>
          <p:cNvSpPr/>
          <p:nvPr/>
        </p:nvSpPr>
        <p:spPr>
          <a:xfrm>
            <a:off x="1581912" y="3621024"/>
            <a:ext cx="82296" cy="7498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1755648" y="3675888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5D4"/>
                </a:solidFill>
              </a:rPr>
              <a:t>Towards General Decision-Making AI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755648" y="4005072"/>
            <a:ext cx="6949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F0EA"/>
                </a:solidFill>
              </a:rPr>
              <a:t>World-model RL systems that generalise across domains become the backbone of autonomous, goal-directed AI agents.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74320" y="4553712"/>
            <a:ext cx="8595360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3" name="Text 31"/>
          <p:cNvSpPr/>
          <p:nvPr/>
        </p:nvSpPr>
        <p:spPr>
          <a:xfrm>
            <a:off x="274320" y="431596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4E8D3"/>
                </a:solidFill>
              </a:rPr>
              <a:t>"RL is the closest thing we have to a general framework for intelligence — learning through experience."  — Richard Sutton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30F14"/>
          </a:solidFill>
          <a:ln w="19050">
            <a:solidFill>
              <a:srgbClr val="00F5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9DAD"/>
                </a:solidFill>
              </a:rPr>
              <a:t>Accredian is a leading Indian institution specialising in AI, Data Science, and Management research and education.  </a:t>
            </a:r>
            <a:pPr algn="ctr" indent="0" marL="0">
              <a:buNone/>
            </a:pPr>
            <a:r>
              <a:rPr lang="en-US" sz="750" dirty="0">
                <a:solidFill>
                  <a:srgbClr val="6B9DAD"/>
                </a:solidFill>
              </a:rPr>
              <a:t>Visit us at: </a:t>
            </a:r>
            <a:pPr algn="ctr" indent="0" marL="0">
              <a:buNone/>
            </a:pPr>
            <a:r>
              <a:rPr lang="en-US" sz="750" u="sng" dirty="0">
                <a:solidFill>
                  <a:srgbClr val="00F5D4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https://accredian.com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&amp; Reinforcement Learning: Training Machines to Master Any Task</dc:title>
  <dc:subject>PptxGenJS Presentation</dc:subject>
  <dc:creator>PptxGenJS</dc:creator>
  <cp:lastModifiedBy>PptxGenJS</cp:lastModifiedBy>
  <cp:revision>1</cp:revision>
  <dcterms:created xsi:type="dcterms:W3CDTF">2026-04-01T05:51:21Z</dcterms:created>
  <dcterms:modified xsi:type="dcterms:W3CDTF">2026-04-01T05:51:21Z</dcterms:modified>
</cp:coreProperties>
</file>