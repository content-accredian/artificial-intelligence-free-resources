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9AIH5euqTy3iIexRhUuaz9buu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ccredian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ccredian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ccredian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ccredian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ccredian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ccredian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669280" y="-731520"/>
            <a:ext cx="4114800" cy="4114800"/>
          </a:xfrm>
          <a:prstGeom prst="ellipse">
            <a:avLst/>
          </a:prstGeom>
          <a:solidFill>
            <a:srgbClr val="0077B6">
              <a:alpha val="20000"/>
            </a:srgbClr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0" y="1645920"/>
            <a:ext cx="2743200" cy="2743200"/>
          </a:xfrm>
          <a:prstGeom prst="ellipse">
            <a:avLst/>
          </a:prstGeom>
          <a:solidFill>
            <a:srgbClr val="00B4D8">
              <a:alpha val="12156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502920"/>
            <a:ext cx="25603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50292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TRUST IN THE AGE OF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960120"/>
            <a:ext cx="59436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Provenance &amp;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Brand Authenticity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2670048"/>
            <a:ext cx="32004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57200" y="2743200"/>
            <a:ext cx="5669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Winning the Trust War in a World of Synthetic Everything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" y="34564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Content Credentials  ·  C2PA Standards  ·  Digital Watermarking  ·  Human-Led Verification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28600" y="4818888"/>
            <a:ext cx="8686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 Visit us at:   </a:t>
            </a:r>
            <a:r>
              <a:rPr b="0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B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914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TRUST CRISIS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65760" y="5303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Why authenticity has become the new competitive frontier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0040" y="1097280"/>
            <a:ext cx="265176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20040" y="1097280"/>
            <a:ext cx="2651760" cy="82296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57200" y="128016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79%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228600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of consumers say they can no longer distinguish AI content from human-made 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00400" y="1097280"/>
            <a:ext cx="265176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200400" y="1097280"/>
            <a:ext cx="2651760" cy="82296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337560" y="128016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62%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337560" y="228600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would switch brands if they felt misled about AI-generated marketing 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080760" y="1097280"/>
            <a:ext cx="265176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080760" y="1097280"/>
            <a:ext cx="2651760" cy="82296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217920" y="128016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$1.3T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217920" y="228600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estimated brand value at risk globally from synthetic content erosion by 2027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65760" y="443484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Sources: Edelman Trust Barometer 2024  ·  Gartner CMO Survey  ·  WEF Global Risk Report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28600" y="4818888"/>
            <a:ext cx="8686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 Visit us at:   </a:t>
            </a:r>
            <a:r>
              <a:rPr b="0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0" y="0"/>
            <a:ext cx="3474720" cy="4800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228600" y="45720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C2PA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28600" y="123444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Coalition for Content Provenance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 Authenticity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1965960"/>
            <a:ext cx="237744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228600" y="210312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4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D4EA"/>
                </a:solidFill>
                <a:latin typeface="Calibri"/>
                <a:ea typeface="Calibri"/>
                <a:cs typeface="Calibri"/>
                <a:sym typeface="Calibri"/>
              </a:rPr>
              <a:t>The open technical standard attaching tamper-evident metadata to content — proving its origin, history, and any AI involvement.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28600" y="333756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BACKED BY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28600" y="3566160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Adobe  ·  Microsoft  ·  Google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28600" y="3822192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  ·  Sony  ·  BBC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28600" y="4078224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Reuters  ·  The New York Times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749040" y="2743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How Content Credentials 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749040" y="868680"/>
            <a:ext cx="457200" cy="4572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749040" y="868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343400" y="85039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Capture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343400" y="112471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At the moment of creation, metadata is attached — recording the creator, tool, and timestamp.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959352" y="1325880"/>
            <a:ext cx="36576" cy="457200"/>
          </a:xfrm>
          <a:prstGeom prst="rect">
            <a:avLst/>
          </a:prstGeom>
          <a:solidFill>
            <a:srgbClr val="D0E8F7"/>
          </a:solidFill>
          <a:ln cap="flat" cmpd="sng" w="12700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749040" y="1783080"/>
            <a:ext cx="457200" cy="4572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74904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343400" y="176479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343400" y="203911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 cryptographic signature seals the manifest. Any modification breaks the chain and is flagged.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959352" y="2240280"/>
            <a:ext cx="36576" cy="457200"/>
          </a:xfrm>
          <a:prstGeom prst="rect">
            <a:avLst/>
          </a:prstGeom>
          <a:solidFill>
            <a:srgbClr val="D0E8F7"/>
          </a:solidFill>
          <a:ln cap="flat" cmpd="sng" w="12700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3749040" y="2697480"/>
            <a:ext cx="457200" cy="4572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74904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343400" y="267919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343400" y="295351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Credentials are embedded directly in the file using standardized JUMBF metadata boxes.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959352" y="3154680"/>
            <a:ext cx="36576" cy="457200"/>
          </a:xfrm>
          <a:prstGeom prst="rect">
            <a:avLst/>
          </a:prstGeom>
          <a:solidFill>
            <a:srgbClr val="D0E8F7"/>
          </a:solidFill>
          <a:ln cap="flat" cmpd="sng" w="12700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749040" y="3611880"/>
            <a:ext cx="457200" cy="4572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749040" y="3611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343400" y="359359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Verify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343400" y="386791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Consumers, platforms, and regulators can check provenance via any C2PA-compliant inspector.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28600" y="4818888"/>
            <a:ext cx="8686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 Visit us at:   </a:t>
            </a:r>
            <a:r>
              <a:rPr b="0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MARKS. ONE MESSAGE: WE ARE TRANSPARENT.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65760" y="548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Introducing your brand's new authenticity labels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20040" y="1097280"/>
            <a:ext cx="3977640" cy="3337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20040" y="1097280"/>
            <a:ext cx="3977640" cy="9144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02920" y="123444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HUMAN-LED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02920" y="1664208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Created primarily by human talent with minimal AI assistance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02920" y="2148840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Strategy, concept &amp; creative direction by humans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02920" y="2221992"/>
            <a:ext cx="128016" cy="128016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31520" y="214884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Strategy, concept &amp; creative direction by humans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02920" y="2624328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AI used only for minor tasks (grammar, resize)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02920" y="2697480"/>
            <a:ext cx="128016" cy="128016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31520" y="262432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AI used only for minor tasks (grammar, resize)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3099816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Signed by named human creators in the manifest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02920" y="3172968"/>
            <a:ext cx="128016" cy="128016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731520" y="309981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Signed by named human creators in the manifest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02920" y="3575304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Highest-trust tier for sensitive communications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02920" y="3648456"/>
            <a:ext cx="128016" cy="128016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731520" y="3575304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Highest-trust tier for sensitive communications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846320" y="1097280"/>
            <a:ext cx="3977640" cy="3337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846320" y="1097280"/>
            <a:ext cx="3977640" cy="9144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5029200" y="123444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AI-VERIFIED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029200" y="1664208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AI-assisted or AI-generated content, fully disclosed and verified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029200" y="2221992"/>
            <a:ext cx="128016" cy="128016"/>
          </a:xfrm>
          <a:prstGeom prst="ellipse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5257800" y="214884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Full AI model and version logged in credential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029200" y="2697480"/>
            <a:ext cx="128016" cy="128016"/>
          </a:xfrm>
          <a:prstGeom prst="ellipse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257800" y="262432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Prompt hash included for complete audit trail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029200" y="3172968"/>
            <a:ext cx="128016" cy="128016"/>
          </a:xfrm>
          <a:prstGeom prst="ellipse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5257800" y="309981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Human reviewer sign-off before publication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029200" y="3648456"/>
            <a:ext cx="128016" cy="128016"/>
          </a:xfrm>
          <a:prstGeom prst="ellipse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5257800" y="3575304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Compliance-ready for EU AI Act and beyond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28600" y="4818888"/>
            <a:ext cx="8686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 Visit us at: </a:t>
            </a:r>
            <a:r>
              <a:rPr b="0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  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MAKING TRANSPARENCY YOUR MOST VALUABLE PRODUCT FEATURE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200400" y="914400"/>
            <a:ext cx="27432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132338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11480" y="11430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Premium Pricing Power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11480" y="1527048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E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8D4EA"/>
                </a:solidFill>
                <a:latin typeface="Calibri"/>
                <a:ea typeface="Calibri"/>
                <a:cs typeface="Calibri"/>
                <a:sym typeface="Calibri"/>
              </a:rPr>
              <a:t>Verified authentic brands command 18–23% higher margins in trust-sensitive categories.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132338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337560" y="11430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Engagement Lift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337560" y="1527048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E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8D4EA"/>
                </a:solidFill>
                <a:latin typeface="Calibri"/>
                <a:ea typeface="Calibri"/>
                <a:cs typeface="Calibri"/>
                <a:sym typeface="Calibri"/>
              </a:rPr>
              <a:t>Content with visible credentials sees 2.4x higher click-through and 31% longer dwell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132338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263640" y="11430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Regulatory Readiness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263640" y="1527048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E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8D4EA"/>
                </a:solidFill>
                <a:latin typeface="Calibri"/>
                <a:ea typeface="Calibri"/>
                <a:cs typeface="Calibri"/>
                <a:sym typeface="Calibri"/>
              </a:rPr>
              <a:t>Pre-empt EU AI Act, UK Online Safety Act and FTC disclosure requirements — now.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74320" y="2651760"/>
            <a:ext cx="2743200" cy="1463040"/>
          </a:xfrm>
          <a:prstGeom prst="rect">
            <a:avLst/>
          </a:prstGeom>
          <a:solidFill>
            <a:srgbClr val="132338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11480" y="27432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Partner Confidence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11480" y="3127248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E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8D4EA"/>
                </a:solidFill>
                <a:latin typeface="Calibri"/>
                <a:ea typeface="Calibri"/>
                <a:cs typeface="Calibri"/>
                <a:sym typeface="Calibri"/>
              </a:rPr>
              <a:t>B2B partners and retail channels prefer credentialed suppliers for co-branded campaigns.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200400" y="2651760"/>
            <a:ext cx="2743200" cy="1463040"/>
          </a:xfrm>
          <a:prstGeom prst="rect">
            <a:avLst/>
          </a:prstGeom>
          <a:solidFill>
            <a:srgbClr val="132338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337560" y="27432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Reduced Fraud Surface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337560" y="3127248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E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8D4EA"/>
                </a:solidFill>
                <a:latin typeface="Calibri"/>
                <a:ea typeface="Calibri"/>
                <a:cs typeface="Calibri"/>
                <a:sym typeface="Calibri"/>
              </a:rPr>
              <a:t>Tamper-evident manifests make deep-fake impersonation immediately detectable.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126480" y="2651760"/>
            <a:ext cx="2743200" cy="1463040"/>
          </a:xfrm>
          <a:prstGeom prst="rect">
            <a:avLst/>
          </a:prstGeom>
          <a:solidFill>
            <a:srgbClr val="132338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263640" y="27432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Brand Differentiation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263640" y="3127248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E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8D4EA"/>
                </a:solidFill>
                <a:latin typeface="Calibri"/>
                <a:ea typeface="Calibri"/>
                <a:cs typeface="Calibri"/>
                <a:sym typeface="Calibri"/>
              </a:rPr>
              <a:t>First movers in your category own the 'gold standard of trust' narrative indefinitely.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228600" y="4818888"/>
            <a:ext cx="8686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 Visit us at:   </a:t>
            </a:r>
            <a:r>
              <a:rPr b="0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65760" y="109728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ROADMAP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A phased approach to embedding AI Provenance into your brand operations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5760" y="2816352"/>
            <a:ext cx="8412480" cy="45720"/>
          </a:xfrm>
          <a:prstGeom prst="rect">
            <a:avLst/>
          </a:prstGeom>
          <a:solidFill>
            <a:srgbClr val="D0E8F7"/>
          </a:solidFill>
          <a:ln cap="flat" cmpd="sng" w="12700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20040" y="1078992"/>
            <a:ext cx="1965960" cy="2468880"/>
          </a:xfrm>
          <a:prstGeom prst="rect">
            <a:avLst/>
          </a:prstGeom>
          <a:solidFill>
            <a:srgbClr val="F0F6FB"/>
          </a:solidFill>
          <a:ln cap="flat" cmpd="sng" w="9525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20040" y="1078992"/>
            <a:ext cx="196596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11480" y="118872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11480" y="1417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Month 1–2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11480" y="166420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Audit &amp; Foundation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76072" y="2057400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Content inventory scan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76072" y="240487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AI-vs-human classification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76072" y="2752344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C2PA tooling selection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76072" y="3099816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Policy framework draft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216152" y="2706624"/>
            <a:ext cx="201168" cy="20116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411480" y="2926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Month 1–2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468880" y="1078992"/>
            <a:ext cx="1965960" cy="2468880"/>
          </a:xfrm>
          <a:prstGeom prst="rect">
            <a:avLst/>
          </a:prstGeom>
          <a:solidFill>
            <a:srgbClr val="F0F6FB"/>
          </a:solidFill>
          <a:ln cap="flat" cmpd="sng" w="9525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2468880" y="1078992"/>
            <a:ext cx="1965960" cy="7315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2560320" y="118872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2560320" y="1417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Month 3–4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560320" y="166420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Pilot &amp; Credential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724912" y="2057400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Pilot on 2–3 content types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2724912" y="240487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Integrate signing workflow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724912" y="2752344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Train creative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2724912" y="3099816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Internal QA processes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364992" y="2706624"/>
            <a:ext cx="201168" cy="201168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2560320" y="2926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Month 3–4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617720" y="1078992"/>
            <a:ext cx="1965960" cy="2468880"/>
          </a:xfrm>
          <a:prstGeom prst="rect">
            <a:avLst/>
          </a:prstGeom>
          <a:solidFill>
            <a:srgbClr val="F0F6FB"/>
          </a:solidFill>
          <a:ln cap="flat" cmpd="sng" w="9525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617720" y="1078992"/>
            <a:ext cx="1965960" cy="73152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4709160" y="118872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709160" y="1417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Month 5–6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709160" y="166420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Deploy &amp; Communicate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873752" y="2057400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Launch consumer-facing badge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873752" y="240487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Press &amp; partner disclosure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873752" y="2752344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Embed in brand guidelines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873752" y="3099816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Partner onboarding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513832" y="2706624"/>
            <a:ext cx="201168" cy="20116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4709160" y="2926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Month 5–6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766560" y="1078992"/>
            <a:ext cx="1965960" cy="2468880"/>
          </a:xfrm>
          <a:prstGeom prst="rect">
            <a:avLst/>
          </a:prstGeom>
          <a:solidFill>
            <a:srgbClr val="F0F6FB"/>
          </a:solidFill>
          <a:ln cap="flat" cmpd="sng" w="9525">
            <a:solidFill>
              <a:srgbClr val="D0E8F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6766560" y="1078992"/>
            <a:ext cx="1965960" cy="73152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6858000" y="118872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858000" y="1417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Month 7–12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858000" y="166420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Scale &amp; Govern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022592" y="2057400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Full catalogue credentialing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7022592" y="240487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Real-time monitoring dash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022592" y="2752344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Annual provenance audit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022592" y="3099816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Regulatory reporting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7662672" y="2706624"/>
            <a:ext cx="201168" cy="201168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6858000" y="2926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Month 7–12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228600" y="4818888"/>
            <a:ext cx="8686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 Visit us at:   </a:t>
            </a:r>
            <a:r>
              <a:rPr b="0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B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2D"/>
          </a:solidFill>
          <a:ln cap="flat" cmpd="sng" w="12700">
            <a:solidFill>
              <a:srgbClr val="7B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365760" y="109728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COST OF WAITING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6C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5C6C6"/>
                </a:solidFill>
                <a:latin typeface="Calibri"/>
                <a:ea typeface="Calibri"/>
                <a:cs typeface="Calibri"/>
                <a:sym typeface="Calibri"/>
              </a:rPr>
              <a:t>The window of first-mover advantage is closing. Every quarter of delay compounds the risk.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20040" y="1188720"/>
            <a:ext cx="64008" cy="8046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548640" y="122529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D2D"/>
                </a:solidFill>
                <a:latin typeface="Calibri"/>
                <a:ea typeface="Calibri"/>
                <a:cs typeface="Calibri"/>
                <a:sym typeface="Calibri"/>
              </a:rPr>
              <a:t>Regulatory Exposure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48640" y="151790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The EU AI Act mandates AI disclosure for general-purpose content by 2025. Non-compliance fines reach 3% of global turnover — for large enterprises, that can exceed $150M.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20040" y="2267712"/>
            <a:ext cx="64008" cy="8046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548640" y="23042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D2D"/>
                </a:solidFill>
                <a:latin typeface="Calibri"/>
                <a:ea typeface="Calibri"/>
                <a:cs typeface="Calibri"/>
                <a:sym typeface="Calibri"/>
              </a:rPr>
              <a:t>Reputational Contagion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48640" y="2596896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 single viral AI-impersonation incident can permanently reframe your brand. Recovery campaigns average 18 months and cost 3–5x the original content budget.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20040" y="3346704"/>
            <a:ext cx="64008" cy="8046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548640" y="33832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D2D"/>
                </a:solidFill>
                <a:latin typeface="Calibri"/>
                <a:ea typeface="Calibri"/>
                <a:cs typeface="Calibri"/>
                <a:sym typeface="Calibri"/>
              </a:rPr>
              <a:t>Platform Gating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48640" y="3675888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Google, Meta and LinkedIn are piloting label-based downranking for unverified AI content. Uncredentialed brands face algorithmic invisibility by 2026.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754880" y="1097280"/>
            <a:ext cx="4069080" cy="33375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4937760" y="123444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Trust Gap 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Opportunity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760720" y="2103120"/>
            <a:ext cx="210312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937760" y="2240280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Brands that establish provenance frameworks today will be seen as the gold standard when verification becomes mandatory.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029200" y="3310128"/>
            <a:ext cx="3657600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074920" y="333756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Early adopters see 3x greater consumer trust index scores vs. industry peers within 12 months.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228600" y="4818888"/>
            <a:ext cx="8686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 Visit us at:   </a:t>
            </a:r>
            <a:r>
              <a:rPr b="0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77B6">
              <a:alpha val="14901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00B4D8">
              <a:alpha val="10196"/>
            </a:srgbClr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11480" y="365760"/>
            <a:ext cx="2286000" cy="274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411480" y="3657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YOUR NEXT STEP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411480" y="777240"/>
            <a:ext cx="5943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Not a Risk.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It's a Revenue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Strategy.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11480" y="3063240"/>
            <a:ext cx="36576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411480" y="3200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Three decisions to make this quarter: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11480" y="3584448"/>
            <a:ext cx="256032" cy="256032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11480" y="35844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777240" y="35661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Commission a Content Provenance Audit across your marketing assets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11480" y="3950208"/>
            <a:ext cx="256032" cy="256032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411480" y="39502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777240" y="393192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Appoint a Brand Authenticity Lead to own the C2PA implementation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11480" y="4315968"/>
            <a:ext cx="256032" cy="256032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11480" y="431596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77240" y="429768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 a public commitment date for AI-Verified labelling on all 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228600" y="4818888"/>
            <a:ext cx="86868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E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0CAE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 Visit us at:  </a:t>
            </a:r>
            <a:r>
              <a:rPr b="0" i="0" lang="en-US" sz="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 https://accredian.com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2026-04-05T12:40:19Z</dcterms:created>
  <dc:creator>PptxGenJS</dc:creator>
</cp:coreProperties>
</file>