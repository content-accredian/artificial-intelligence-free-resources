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e48eb633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e48eb6330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e48eb6330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e48eb6330_2_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e48eb6330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e48eb6330_2_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e48eb6330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de48eb6330_2_9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e48eb6330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de48eb6330_2_1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e48eb6330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e48eb6330_2_10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e48eb6330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e48eb6330_2_1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e48eb6330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e48eb6330_2_1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e48eb6330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de48eb6330_2_1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e48eb6330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de48eb6330_2_1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e48eb6330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e48eb6330_2_1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ccredian.co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ccredian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ccredian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ccredian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ccredian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ccredian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ccredian.com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ccredian.com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ccredia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682B4"/>
          </a:solidFill>
          <a:ln cap="flat" cmpd="sng" w="9525">
            <a:solidFill>
              <a:srgbClr val="4682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640080" y="1714500"/>
            <a:ext cx="804672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AI Moat Illusion</a:t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640080" y="2880360"/>
            <a:ext cx="804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Why raw AI capability is commoditizing fast, and what actually builds defensible businesses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0" y="4828032"/>
            <a:ext cx="9144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lang="en" sz="85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5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682B4"/>
          </a:solidFill>
          <a:ln cap="flat" cmpd="sng" w="9525">
            <a:solidFill>
              <a:srgbClr val="4682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640080" y="3429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The Reality Timeline</a:t>
            </a:r>
            <a:endParaRPr/>
          </a:p>
        </p:txBody>
      </p:sp>
      <p:sp>
        <p:nvSpPr>
          <p:cNvPr id="139" name="Google Shape;139;p26"/>
          <p:cNvSpPr txBox="1"/>
          <p:nvPr/>
        </p:nvSpPr>
        <p:spPr>
          <a:xfrm>
            <a:off x="640080" y="1028700"/>
            <a:ext cx="804672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2023: OpenAI releases GPT-4. Everyone believes they found the competitive moat.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2024: 10,000 startups build on top of GPT-4. The perceived moat evaporates in months.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2025: Claude, Gemini, Llama, and open-source models achieve functional equivalence in capability.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The Hard Truth: Model performance is now a commodity with minimal differentiation.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Reality Check: Every startup has identical access to frontier AI. Marginal prompting advantages are not business defensibility.</a:t>
            </a:r>
            <a:endParaRPr/>
          </a:p>
        </p:txBody>
      </p:sp>
      <p:sp>
        <p:nvSpPr>
          <p:cNvPr id="140" name="Google Shape;140;p26"/>
          <p:cNvSpPr/>
          <p:nvPr/>
        </p:nvSpPr>
        <p:spPr>
          <a:xfrm>
            <a:off x="0" y="4828032"/>
            <a:ext cx="9144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lang="en" sz="85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682B4"/>
          </a:solidFill>
          <a:ln cap="flat" cmpd="sng" w="9525">
            <a:solidFill>
              <a:srgbClr val="4682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640080" y="274320"/>
            <a:ext cx="80467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Why Model-Based Moats No Longer Exist</a:t>
            </a:r>
            <a:endParaRPr/>
          </a:p>
        </p:txBody>
      </p:sp>
      <p:sp>
        <p:nvSpPr>
          <p:cNvPr id="147" name="Google Shape;147;p27"/>
          <p:cNvSpPr txBox="1"/>
          <p:nvPr/>
        </p:nvSpPr>
        <p:spPr>
          <a:xfrm>
            <a:off x="702930" y="1232340"/>
            <a:ext cx="365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2023: The Illusion</a:t>
            </a:r>
            <a:endParaRPr/>
          </a:p>
        </p:txBody>
      </p:sp>
      <p:sp>
        <p:nvSpPr>
          <p:cNvPr id="148" name="Google Shape;148;p27"/>
          <p:cNvSpPr txBox="1"/>
          <p:nvPr/>
        </p:nvSpPr>
        <p:spPr>
          <a:xfrm>
            <a:off x="640075" y="1644122"/>
            <a:ext cx="40233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Proprietary models were exceptionally rare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Model training costs exceeded millions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Closed ecosystems provided defensibility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First movers held 18-month advantage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The model WAS the entire business value</a:t>
            </a:r>
            <a:endParaRPr/>
          </a:p>
        </p:txBody>
      </p:sp>
      <p:sp>
        <p:nvSpPr>
          <p:cNvPr id="149" name="Google Shape;149;p27"/>
          <p:cNvSpPr txBox="1"/>
          <p:nvPr/>
        </p:nvSpPr>
        <p:spPr>
          <a:xfrm>
            <a:off x="4801445" y="1232340"/>
            <a:ext cx="365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2025: The Reality</a:t>
            </a:r>
            <a:endParaRPr/>
          </a:p>
        </p:txBody>
      </p:sp>
      <p:sp>
        <p:nvSpPr>
          <p:cNvPr id="150" name="Google Shape;150;p27"/>
          <p:cNvSpPr txBox="1"/>
          <p:nvPr/>
        </p:nvSpPr>
        <p:spPr>
          <a:xfrm>
            <a:off x="4846325" y="1644122"/>
            <a:ext cx="38406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5+ frontier models with equivalent performance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Fine-tuning costs have dropped significantly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Open-source models are rapidly closing the gap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Competitive features are replicated in weeks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Model capability is now merely table stakes</a:t>
            </a:r>
            <a:endParaRPr/>
          </a:p>
        </p:txBody>
      </p:sp>
      <p:sp>
        <p:nvSpPr>
          <p:cNvPr id="151" name="Google Shape;151;p27"/>
          <p:cNvSpPr/>
          <p:nvPr/>
        </p:nvSpPr>
        <p:spPr>
          <a:xfrm>
            <a:off x="0" y="4828032"/>
            <a:ext cx="9144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lang="en" sz="85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5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682B4"/>
          </a:solidFill>
          <a:ln cap="flat" cmpd="sng" w="9525">
            <a:solidFill>
              <a:srgbClr val="4682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640080" y="274320"/>
            <a:ext cx="80467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The Business Reality: Key Numbers</a:t>
            </a:r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640138" y="1340369"/>
            <a:ext cx="80466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1. Zero switching cost to migrate from OpenAI to Anthropic to Google instantaneously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2. 6-12 months before competitors match your AI capability with minimal investment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3. 90% of 'AI startups' are merely API wrappers with no sustainable defensibility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4. 15+ organizations can now train competitive models in weeks with standard infrastructure</a:t>
            </a:r>
            <a:endParaRPr/>
          </a:p>
        </p:txBody>
      </p:sp>
      <p:sp>
        <p:nvSpPr>
          <p:cNvPr id="159" name="Google Shape;159;p28"/>
          <p:cNvSpPr/>
          <p:nvPr/>
        </p:nvSpPr>
        <p:spPr>
          <a:xfrm>
            <a:off x="0" y="4828032"/>
            <a:ext cx="9144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lang="en" sz="85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E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682B4"/>
          </a:solidFill>
          <a:ln cap="flat" cmpd="sng" w="9525">
            <a:solidFill>
              <a:srgbClr val="4682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914400" y="771240"/>
            <a:ext cx="73152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Actually Creates Defensible Business Value?</a:t>
            </a:r>
            <a:b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answer has nothing to do with the model.</a:t>
            </a:r>
            <a:endParaRPr sz="300"/>
          </a:p>
        </p:txBody>
      </p:sp>
      <p:sp>
        <p:nvSpPr>
          <p:cNvPr id="166" name="Google Shape;166;p29"/>
          <p:cNvSpPr/>
          <p:nvPr/>
        </p:nvSpPr>
        <p:spPr>
          <a:xfrm>
            <a:off x="0" y="4828032"/>
            <a:ext cx="9144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lang="en" sz="85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5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682B4"/>
          </a:solidFill>
          <a:ln cap="flat" cmpd="sng" w="9525">
            <a:solidFill>
              <a:srgbClr val="4682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0"/>
          <p:cNvSpPr txBox="1"/>
          <p:nvPr/>
        </p:nvSpPr>
        <p:spPr>
          <a:xfrm>
            <a:off x="640080" y="3429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The Five Real Sources of Competitive Moats</a:t>
            </a:r>
            <a:endParaRPr/>
          </a:p>
        </p:txBody>
      </p:sp>
      <p:sp>
        <p:nvSpPr>
          <p:cNvPr id="173" name="Google Shape;173;p30"/>
          <p:cNvSpPr txBox="1"/>
          <p:nvPr/>
        </p:nvSpPr>
        <p:spPr>
          <a:xfrm>
            <a:off x="640138" y="1755800"/>
            <a:ext cx="80466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1. Domain Expertise: Specialized knowledge competitors cannot quickly acquire or replicate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2. Proprietary Data: Datasets so unique they systematically improve your model for your specific use case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3. Network Effects: More users generate more data, which improves product, which attracts more users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4. Product Integration: Solutions so embedded in customer workflows that switching creates organizational friction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5. Switching Costs: Customer dependencies that compound over time and create lock-in dynamics</a:t>
            </a:r>
            <a:endParaRPr/>
          </a:p>
        </p:txBody>
      </p:sp>
      <p:sp>
        <p:nvSpPr>
          <p:cNvPr id="174" name="Google Shape;174;p30"/>
          <p:cNvSpPr/>
          <p:nvPr/>
        </p:nvSpPr>
        <p:spPr>
          <a:xfrm>
            <a:off x="0" y="4828032"/>
            <a:ext cx="9144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lang="en" sz="85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5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682B4"/>
          </a:solidFill>
          <a:ln cap="flat" cmpd="sng" w="9525">
            <a:solidFill>
              <a:srgbClr val="4682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640080" y="274320"/>
            <a:ext cx="80467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Market Winners vs Disrupted Companies</a:t>
            </a:r>
            <a:endParaRPr/>
          </a:p>
        </p:txBody>
      </p:sp>
      <p:sp>
        <p:nvSpPr>
          <p:cNvPr id="181" name="Google Shape;181;p31"/>
          <p:cNvSpPr txBox="1"/>
          <p:nvPr/>
        </p:nvSpPr>
        <p:spPr>
          <a:xfrm>
            <a:off x="640080" y="1286515"/>
            <a:ext cx="365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Building Sustainable Moats</a:t>
            </a:r>
            <a:endParaRPr/>
          </a:p>
        </p:txBody>
      </p:sp>
      <p:sp>
        <p:nvSpPr>
          <p:cNvPr id="182" name="Google Shape;182;p31"/>
          <p:cNvSpPr txBox="1"/>
          <p:nvPr/>
        </p:nvSpPr>
        <p:spPr>
          <a:xfrm>
            <a:off x="494850" y="1718698"/>
            <a:ext cx="4023300" cy="17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Company possesses proprietary datasets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Deep, irreplaceable customer workflows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Network effects systematically embedded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Custom fine-tuned models for specific domain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Integration creates switching costs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Unfair domain expertise advantage</a:t>
            </a:r>
            <a:endParaRPr/>
          </a:p>
        </p:txBody>
      </p:sp>
      <p:sp>
        <p:nvSpPr>
          <p:cNvPr id="183" name="Google Shape;183;p31"/>
          <p:cNvSpPr txBox="1"/>
          <p:nvPr/>
        </p:nvSpPr>
        <p:spPr>
          <a:xfrm>
            <a:off x="4864595" y="1284415"/>
            <a:ext cx="365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Getting Rapidly Disrupted</a:t>
            </a:r>
            <a:endParaRPr/>
          </a:p>
        </p:txBody>
      </p:sp>
      <p:sp>
        <p:nvSpPr>
          <p:cNvPr id="184" name="Google Shape;184;p31"/>
          <p:cNvSpPr txBox="1"/>
          <p:nvPr/>
        </p:nvSpPr>
        <p:spPr>
          <a:xfrm>
            <a:off x="4846325" y="1805723"/>
            <a:ext cx="3840600" cy="17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Claims of superior GPT-4 utilization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Serves generic, undifferentiated use cases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No sustainable competitive advantage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Pure API wrapper on commodity models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Customer replacement is frictionless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• Commodity-like business thinking</a:t>
            </a:r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0" y="4828032"/>
            <a:ext cx="9144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lang="en" sz="85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5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682B4"/>
          </a:solidFill>
          <a:ln cap="flat" cmpd="sng" w="9525">
            <a:solidFill>
              <a:srgbClr val="4682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2"/>
          <p:cNvSpPr txBox="1"/>
          <p:nvPr/>
        </p:nvSpPr>
        <p:spPr>
          <a:xfrm>
            <a:off x="640080" y="274320"/>
            <a:ext cx="80467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The Strategic Playbook for Founders</a:t>
            </a:r>
            <a:endParaRPr/>
          </a:p>
        </p:txBody>
      </p:sp>
      <p:sp>
        <p:nvSpPr>
          <p:cNvPr id="192" name="Google Shape;192;p32"/>
          <p:cNvSpPr txBox="1"/>
          <p:nvPr/>
        </p:nvSpPr>
        <p:spPr>
          <a:xfrm>
            <a:off x="640138" y="1187773"/>
            <a:ext cx="8046600" cy="29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1. Do not compete on model capability. Assume frontier models become free or commodity within 6 months.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2. Build your sustainable advantage on layers above commodity AI: data, network effects, and integration lock-in.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3. Identify vertical markets where you possess unfair domain advantage and can accumulate proprietary data.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4. Design network effects where each customer adds data, improving the product, attracting more customers.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5. In 2027, market winners will not be 'AI companies.' They will be domain companies powered by AI infrastructure.</a:t>
            </a:r>
            <a:endParaRPr/>
          </a:p>
        </p:txBody>
      </p:sp>
      <p:sp>
        <p:nvSpPr>
          <p:cNvPr id="193" name="Google Shape;193;p32"/>
          <p:cNvSpPr/>
          <p:nvPr/>
        </p:nvSpPr>
        <p:spPr>
          <a:xfrm>
            <a:off x="0" y="4828032"/>
            <a:ext cx="9144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lang="en" sz="85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5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682B4"/>
          </a:solidFill>
          <a:ln cap="flat" cmpd="sng" w="9525">
            <a:solidFill>
              <a:srgbClr val="4682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3"/>
          <p:cNvSpPr txBox="1"/>
          <p:nvPr/>
        </p:nvSpPr>
        <p:spPr>
          <a:xfrm>
            <a:off x="640075" y="342900"/>
            <a:ext cx="8046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What This Means: Founder Action Items</a:t>
            </a:r>
            <a:endParaRPr/>
          </a:p>
        </p:txBody>
      </p:sp>
      <p:sp>
        <p:nvSpPr>
          <p:cNvPr id="200" name="Google Shape;200;p33"/>
          <p:cNvSpPr txBox="1"/>
          <p:nvPr/>
        </p:nvSpPr>
        <p:spPr>
          <a:xfrm>
            <a:off x="640138" y="1567275"/>
            <a:ext cx="80466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23C"/>
              </a:buClr>
              <a:buSzPts val="1600"/>
              <a:buFont typeface="Calibri"/>
              <a:buChar char="●"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Stop chasing incremental model improvements or claiming superior prompting capabilities.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23C"/>
              </a:buClr>
              <a:buSzPts val="1600"/>
              <a:buFont typeface="Calibri"/>
              <a:buChar char="●"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Redirect resources toward building defensibility: proprietary data, network effects, customer lock-in.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23C"/>
              </a:buClr>
              <a:buSzPts val="1600"/>
              <a:buFont typeface="Calibri"/>
              <a:buChar char="●"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Focus on accumulating datasets that improve your model specifically for your customer segment.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23C"/>
              </a:buClr>
              <a:buSzPts val="1600"/>
              <a:buFont typeface="Calibri"/>
              <a:buChar char="●"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Design product architecture where network effects compound with each additional customer.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23C"/>
              </a:buClr>
              <a:buSzPts val="1600"/>
              <a:buFont typeface="Calibri"/>
              <a:buChar char="●"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Hire for domain expertise in your vertical. Industry insiders outcompete generalist AI entrepreneurs.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23C"/>
              </a:buClr>
              <a:buSzPts val="1600"/>
              <a:buFont typeface="Calibri"/>
              <a:buChar char="●"/>
            </a:pPr>
            <a:r>
              <a:rPr b="0" i="0" lang="en" sz="1600" u="none" cap="none" strike="noStrike">
                <a:solidFill>
                  <a:srgbClr val="32323C"/>
                </a:solidFill>
                <a:latin typeface="Calibri"/>
                <a:ea typeface="Calibri"/>
                <a:cs typeface="Calibri"/>
                <a:sym typeface="Calibri"/>
              </a:rPr>
              <a:t>Move with urgency. Model parity occurs in 6-12 months. Build your moat while you still have advantage.</a:t>
            </a:r>
            <a:endParaRPr/>
          </a:p>
        </p:txBody>
      </p:sp>
      <p:sp>
        <p:nvSpPr>
          <p:cNvPr id="201" name="Google Shape;201;p33"/>
          <p:cNvSpPr/>
          <p:nvPr/>
        </p:nvSpPr>
        <p:spPr>
          <a:xfrm>
            <a:off x="0" y="4828032"/>
            <a:ext cx="9144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lang="en" sz="85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E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682B4"/>
          </a:solidFill>
          <a:ln cap="flat" cmpd="sng" w="9525">
            <a:solidFill>
              <a:srgbClr val="4682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4"/>
          <p:cNvSpPr txBox="1"/>
          <p:nvPr/>
        </p:nvSpPr>
        <p:spPr>
          <a:xfrm>
            <a:off x="995200" y="852065"/>
            <a:ext cx="73152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competition is not about AI capability.</a:t>
            </a:r>
            <a:b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is about domain expertise and data.</a:t>
            </a:r>
            <a:endParaRPr sz="500"/>
          </a:p>
        </p:txBody>
      </p:sp>
      <p:sp>
        <p:nvSpPr>
          <p:cNvPr id="208" name="Google Shape;208;p34"/>
          <p:cNvSpPr/>
          <p:nvPr/>
        </p:nvSpPr>
        <p:spPr>
          <a:xfrm>
            <a:off x="0" y="4828032"/>
            <a:ext cx="9144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FE2F3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</a:t>
            </a:r>
            <a:r>
              <a:rPr lang="en" sz="85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85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E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682B4"/>
          </a:solidFill>
          <a:ln cap="flat" cmpd="sng" w="9525">
            <a:solidFill>
              <a:srgbClr val="4682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5"/>
          <p:cNvSpPr txBox="1"/>
          <p:nvPr/>
        </p:nvSpPr>
        <p:spPr>
          <a:xfrm>
            <a:off x="640080" y="1508760"/>
            <a:ext cx="8046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Stop Chasing the Model.</a:t>
            </a:r>
            <a:b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Building Your Moat.</a:t>
            </a:r>
            <a:endParaRPr/>
          </a:p>
        </p:txBody>
      </p:sp>
      <p:sp>
        <p:nvSpPr>
          <p:cNvPr id="215" name="Google Shape;215;p35"/>
          <p:cNvSpPr txBox="1"/>
          <p:nvPr/>
        </p:nvSpPr>
        <p:spPr>
          <a:xfrm>
            <a:off x="640143" y="3212485"/>
            <a:ext cx="804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The next generation of unicorns will not be built on AI capability.</a:t>
            </a:r>
            <a:br>
              <a:rPr b="0" i="0" lang="en" sz="18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8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They will be built on data, networks, and domain mastery.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216" name="Google Shape;216;p35"/>
          <p:cNvSpPr/>
          <p:nvPr/>
        </p:nvSpPr>
        <p:spPr>
          <a:xfrm>
            <a:off x="0" y="4828032"/>
            <a:ext cx="9144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FE2F3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</a:t>
            </a:r>
            <a:r>
              <a:rPr lang="en" sz="85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85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