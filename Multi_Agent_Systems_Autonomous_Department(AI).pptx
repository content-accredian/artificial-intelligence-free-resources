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cF2Zuw/q4Sq0H3l1P0IlXrS3c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DFB62B-129C-4502-A9E0-FE9B62479818}">
  <a:tblStyle styleId="{C5DFB62B-129C-4502-A9E0-FE9B624798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0" y="-1645920"/>
            <a:ext cx="5486400" cy="5486400"/>
          </a:xfrm>
          <a:prstGeom prst="ellipse">
            <a:avLst/>
          </a:prstGeom>
          <a:solidFill>
            <a:srgbClr val="122035"/>
          </a:solidFill>
          <a:ln cap="flat" cmpd="sng" w="12700">
            <a:solidFill>
              <a:srgbClr val="18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0" y="-640080"/>
            <a:ext cx="3474720" cy="3474720"/>
          </a:xfrm>
          <a:prstGeom prst="ellipse">
            <a:avLst/>
          </a:prstGeom>
          <a:solidFill>
            <a:srgbClr val="1A2E48"/>
          </a:solidFill>
          <a:ln cap="flat" cmpd="sng" w="12700">
            <a:solidFill>
              <a:srgbClr val="202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23760" y="182880"/>
            <a:ext cx="1828800" cy="1828800"/>
          </a:xfrm>
          <a:prstGeom prst="ellipse">
            <a:avLst/>
          </a:prstGeom>
          <a:solidFill>
            <a:srgbClr val="1E3050"/>
          </a:solidFill>
          <a:ln cap="flat" cmpd="sng" w="12700">
            <a:solidFill>
              <a:srgbClr val="2538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8046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A7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8A78"/>
                </a:solidFill>
                <a:latin typeface="Calibri"/>
                <a:ea typeface="Calibri"/>
                <a:cs typeface="Calibri"/>
                <a:sym typeface="Calibri"/>
              </a:rPr>
              <a:t>AI OPERATIONS  ·  AUTONOMOUS SYSTEMS  ·  ORGANISATIONAL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170432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Multi-Agent Systems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CDAA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6ACDAA"/>
                </a:solidFill>
                <a:latin typeface="Calibri"/>
                <a:ea typeface="Calibri"/>
                <a:cs typeface="Calibri"/>
                <a:sym typeface="Calibri"/>
              </a:rPr>
              <a:t>&amp; The “Autonomous Department”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560320"/>
            <a:ext cx="4114800" cy="36576"/>
          </a:xfrm>
          <a:prstGeom prst="rect">
            <a:avLst/>
          </a:prstGeom>
          <a:solidFill>
            <a:srgbClr val="1E3A5E"/>
          </a:solidFill>
          <a:ln cap="flat" cmpd="sng" w="12700">
            <a:solidFill>
              <a:srgbClr val="1E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2724912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How networks of specialised AI agents are replacing entire departmental workflows — and what that means for how organisations are structured.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3310128"/>
            <a:ext cx="9144000" cy="512064"/>
          </a:xfrm>
          <a:prstGeom prst="rect">
            <a:avLst/>
          </a:prstGeom>
          <a:solidFill>
            <a:srgbClr val="080F1A"/>
          </a:solidFill>
          <a:ln cap="flat" cmpd="sng" w="12700">
            <a:solidFill>
              <a:srgbClr val="080F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65760" y="3364992"/>
            <a:ext cx="1572768" cy="347472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65760" y="33649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048256" y="3364992"/>
            <a:ext cx="1572768" cy="347472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048256" y="33649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730752" y="3364992"/>
            <a:ext cx="1572768" cy="347472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30752" y="33649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13248" y="3364992"/>
            <a:ext cx="1572768" cy="347472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13248" y="33649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095744" y="3364992"/>
            <a:ext cx="1572768" cy="347472"/>
          </a:xfrm>
          <a:prstGeom prst="rect">
            <a:avLst/>
          </a:prstGeom>
          <a:solidFill>
            <a:srgbClr val="8A1A2E"/>
          </a:solidFill>
          <a:ln cap="flat" cmpd="sng" w="12700">
            <a:solidFill>
              <a:srgbClr val="8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095744" y="3364992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Comms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0" y="3931920"/>
            <a:ext cx="9144000" cy="886968"/>
          </a:xfrm>
          <a:prstGeom prst="rect">
            <a:avLst/>
          </a:prstGeom>
          <a:solidFill>
            <a:srgbClr val="060D18"/>
          </a:solidFill>
          <a:ln cap="flat" cmpd="sng" w="12700">
            <a:solidFill>
              <a:srgbClr val="060D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57200" y="400507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 Slides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57200" y="42976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A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8A78"/>
                </a:solidFill>
                <a:latin typeface="Calibri"/>
                <a:ea typeface="Calibri"/>
                <a:cs typeface="Calibri"/>
                <a:sym typeface="Calibri"/>
              </a:rPr>
              <a:t>Framework + Evidence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291840" y="4114800"/>
            <a:ext cx="27432" cy="50292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3429000" y="400507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 Examples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3429000" y="42976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A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8A78"/>
                </a:solidFill>
                <a:latin typeface="Calibri"/>
                <a:ea typeface="Calibri"/>
                <a:cs typeface="Calibri"/>
                <a:sym typeface="Calibri"/>
              </a:rPr>
              <a:t>Live Enterprise Deployments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263640" y="4114800"/>
            <a:ext cx="27432" cy="50292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6400800" y="4005072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Actionable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400800" y="429768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A7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8A78"/>
                </a:solidFill>
                <a:latin typeface="Calibri"/>
                <a:ea typeface="Calibri"/>
                <a:cs typeface="Calibri"/>
                <a:sym typeface="Calibri"/>
              </a:rPr>
              <a:t>Blueprint for Today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01 OF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5760" y="493776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The Shift: From AI Tools to AI Teams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65760" y="100584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first wave of enterprise AI gave individuals better tools. The second wave gives organisations autonomous teams. Multi-Agent Systems represent a structural change in how work gets done — not just how fast.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47472" y="1554480"/>
            <a:ext cx="2048256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47472" y="1554480"/>
            <a:ext cx="2048256" cy="56692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47472" y="1609344"/>
            <a:ext cx="20482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57200" y="2212848"/>
            <a:ext cx="1828800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 enterprise AI deployments in 2026 will involve multiple specialised agents working in concert, up from 12% in 2023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47472" y="4114800"/>
            <a:ext cx="2048256" cy="18288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38912" y="4123944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Source: Gartner Agentic AI 2025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496312" y="1554480"/>
            <a:ext cx="2048256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496312" y="1554480"/>
            <a:ext cx="2048256" cy="56692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496312" y="1609344"/>
            <a:ext cx="20482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4.1×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606040" y="2212848"/>
            <a:ext cx="1828800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productivity multiplier when MAS replaces a sequential human workflow vs. single-model AI augmentation of the same workflow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496312" y="4114800"/>
            <a:ext cx="2048256" cy="18288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587752" y="4123944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Source: McKinsey Agentic AI Impact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645152" y="1554480"/>
            <a:ext cx="2048256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645152" y="1554480"/>
            <a:ext cx="2048256" cy="56692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645152" y="1609344"/>
            <a:ext cx="20482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754880" y="2212848"/>
            <a:ext cx="1828800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 CFOs surveyed say they expect at least one full departmental function to operate autonomously within 3 years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45152" y="4114800"/>
            <a:ext cx="2048256" cy="18288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736592" y="4123944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Source: Deloitte CFO Survey 2025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793992" y="1554480"/>
            <a:ext cx="2048256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793992" y="1554480"/>
            <a:ext cx="2048256" cy="56692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793992" y="1609344"/>
            <a:ext cx="20482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$15T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903720" y="2212848"/>
            <a:ext cx="1828800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estimated global value unlock from agentic AI automating knowledge work by 2030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793992" y="4114800"/>
            <a:ext cx="2048256" cy="18288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885432" y="4123944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Source: Goldman Sachs AI Research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834640" y="0"/>
            <a:ext cx="54864" cy="5143500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28600" y="237744"/>
            <a:ext cx="2377440" cy="237744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28600" y="2377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/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56032" y="621792"/>
            <a:ext cx="235915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Multi-Agent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— and How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Does It Work?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28600" y="3218688"/>
            <a:ext cx="2395728" cy="1316736"/>
          </a:xfrm>
          <a:prstGeom prst="rect">
            <a:avLst/>
          </a:prstGeom>
          <a:solidFill>
            <a:srgbClr val="090F1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10896" y="3291840"/>
            <a:ext cx="223113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“A single agent is a capable employee. A multi-agent system is a functioning department. The difference is not speed — it is the ability to tackle complexity that requires simultaneous specialised judgment.”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063240" y="256032"/>
            <a:ext cx="5806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A Precise Definition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063240" y="658368"/>
            <a:ext cx="5806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Multi-Agent System (MAS) is a network of specialised AI agents, each with a defined role, context window, toolset, and objective, that collaborate asynchronously to complete complex multi-step tasks. Unlike a single model, a MAS can parallelise work, specialise judgment, and self-check outputs through inter-agent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063240" y="1280160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The Four Defining Properties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063240" y="1609344"/>
            <a:ext cx="5806440" cy="73152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063240" y="1609344"/>
            <a:ext cx="310896" cy="731520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063240" y="1609344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474720" y="1691640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Specialisation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474720" y="192024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agent is configured for a specific function: research, drafting, code execution, quality review, external API calls. Specialised agents outperform general agents on their designated task by 40–70%.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063240" y="2414016"/>
            <a:ext cx="5806440" cy="73152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063240" y="2414016"/>
            <a:ext cx="310896" cy="731520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3063240" y="2414016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474720" y="2496312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474720" y="272491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controller layer — the ‘orchestrator agent’ — routes tasks to the appropriate specialist, manages dependencies, and handles exceptions. It is the department head of the autonomous team.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063240" y="3218688"/>
            <a:ext cx="5806440" cy="73152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063240" y="3218688"/>
            <a:ext cx="310896" cy="731520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3063240" y="3218688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474720" y="3300984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Parallel Execution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474720" y="352958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Tasks that in a human workflow occur sequentially (draft then review then approve) can occur simultaneously across agents. This is the primary source of the 4× productivity multiplier.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063240" y="4023360"/>
            <a:ext cx="5806440" cy="731520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063240" y="4023360"/>
            <a:ext cx="310896" cy="731520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063240" y="4023360"/>
            <a:ext cx="3108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474720" y="4105656"/>
            <a:ext cx="5212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Inter-Agent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474720" y="4334256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dedicated critic or reviewer agent audits the outputs of other agents before surfacing results. This is how MAS catches errors that a single model cannot self-detect — it mirrors the value of peer review.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5943600" y="2743200"/>
            <a:ext cx="5029200" cy="5029200"/>
          </a:xfrm>
          <a:prstGeom prst="ellipse">
            <a:avLst/>
          </a:prstGeom>
          <a:solidFill>
            <a:srgbClr val="122035"/>
          </a:solidFill>
          <a:ln cap="flat" cmpd="sng" w="12700">
            <a:solidFill>
              <a:srgbClr val="12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03 OF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Anatomy of an Autonomous Department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65760" y="1069848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Every autonomous department has the same five-layer structure regardless of function. The layers interact continuously — not sequentially.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5760" y="1481328"/>
            <a:ext cx="8412480" cy="56692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65760" y="1481328"/>
            <a:ext cx="1645920" cy="56692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57200" y="157276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17556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Department 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194560" y="157276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Routes tasks, manages dependencies, handles exceptions, escalates to human supervisors. The orchestrator never does substantive work — it only coordinates.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2121408"/>
            <a:ext cx="8412480" cy="56692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65760" y="2121408"/>
            <a:ext cx="1645920" cy="56692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57200" y="221284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239572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Analyst 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194560" y="221284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Retrieval, web search, database query, API calls. These agents have read-only access to external systems and return structured information packages to the orchestrator.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65760" y="2761488"/>
            <a:ext cx="8412480" cy="56692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65760" y="2761488"/>
            <a:ext cx="1645920" cy="56692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57200" y="285292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57200" y="303580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Production Workers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194560" y="285292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Code generation, document drafting, data transformation, form completion, email sending. These agents have write access to internal systems within defined policy limits.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65760" y="3401568"/>
            <a:ext cx="8412480" cy="56692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365760" y="3401568"/>
            <a:ext cx="1645920" cy="56692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57200" y="349300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57200" y="367588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194560" y="349300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Output review, fact-checking, compliance verification, tone audit. Every substantive output passes through at least one critic agent before leaving the department.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65760" y="4041648"/>
            <a:ext cx="8412480" cy="56692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65760" y="4041648"/>
            <a:ext cx="1645920" cy="566928"/>
          </a:xfrm>
          <a:prstGeom prst="rect">
            <a:avLst/>
          </a:prstGeom>
          <a:solidFill>
            <a:srgbClr val="8A1A2E"/>
          </a:solidFill>
          <a:ln cap="flat" cmpd="sng" w="12700">
            <a:solidFill>
              <a:srgbClr val="8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57200" y="4133088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57200" y="431596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Institutional Memory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2194560" y="41330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Shared vector store containing department-level context, historical decisions, style guides, regulatory constraints, and learned preferences. All agents read from it; updates are controlled.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65760" y="4681728"/>
            <a:ext cx="8412480" cy="9144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365760" y="4672584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A7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8A78"/>
                </a:solidFill>
                <a:latin typeface="Calibri"/>
                <a:ea typeface="Calibri"/>
                <a:cs typeface="Calibri"/>
                <a:sym typeface="Calibri"/>
              </a:rPr>
              <a:t>▸  HUMAN OVERSIGHT LAYER — Supervisors approve high-stakes outputs, set policy limits, review anomaly escalations, and update the memory layer with strategic guidance. Not in the task loop; in the governance loop.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04 OF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65760" y="493776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Autonomous Departments in Production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These are not pilots. These are production deployments generating measurable business outcomes.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0040" y="1408176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20040" y="1408176"/>
            <a:ext cx="2798064" cy="6400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20040" y="1408176"/>
            <a:ext cx="128016" cy="1499616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539496" y="14996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Market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9496" y="171907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E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3E8A"/>
                </a:solidFill>
                <a:latin typeface="Calibri"/>
                <a:ea typeface="Calibri"/>
                <a:cs typeface="Calibri"/>
                <a:sym typeface="Calibri"/>
              </a:rPr>
              <a:t>Agents: Research + Analysis + Report Writer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39496" y="1901952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Orchestrator triggers research agents across 40+ sources simultaneously. Analysis agent synthesises. Writer agent formats. Critic reviews citations.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39496" y="2450592"/>
            <a:ext cx="2468880" cy="1828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539496" y="25054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E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3E8A"/>
                </a:solidFill>
                <a:latin typeface="Calibri"/>
                <a:ea typeface="Calibri"/>
                <a:cs typeface="Calibri"/>
                <a:sym typeface="Calibri"/>
              </a:rPr>
              <a:t>Morgan Stanley: 80% reduction in research aggregation time; analyst output quality scores up 35% post-deployment.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246120" y="1408176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246120" y="1408176"/>
            <a:ext cx="2798064" cy="6400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246120" y="1408176"/>
            <a:ext cx="128016" cy="1499616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465576" y="14996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Legal &amp; Contract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465576" y="171907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B5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6B5A"/>
                </a:solidFill>
                <a:latin typeface="Calibri"/>
                <a:ea typeface="Calibri"/>
                <a:cs typeface="Calibri"/>
                <a:sym typeface="Calibri"/>
              </a:rPr>
              <a:t>Agents: Reader + Classifier + Risk Flagging + Drafter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465576" y="1901952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Parallel agents review each section simultaneously. Risk classifier flags unusual clauses. Drafter proposes counter-language. Critic audits completeness.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465576" y="2450592"/>
            <a:ext cx="2468880" cy="1828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465576" y="25054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B5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A6B5A"/>
                </a:solidFill>
                <a:latin typeface="Calibri"/>
                <a:ea typeface="Calibri"/>
                <a:cs typeface="Calibri"/>
                <a:sym typeface="Calibri"/>
              </a:rPr>
              <a:t>Allen &amp; Overy: contract review time down from 4 hrs to 26 mins; clause detection rate up from 78% to 97%.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172200" y="1408176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172200" y="1408176"/>
            <a:ext cx="2798064" cy="6400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172200" y="1408176"/>
            <a:ext cx="128016" cy="1499616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391656" y="14996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Customer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391656" y="1719072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01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A5010"/>
                </a:solidFill>
                <a:latin typeface="Calibri"/>
                <a:ea typeface="Calibri"/>
                <a:cs typeface="Calibri"/>
                <a:sym typeface="Calibri"/>
              </a:rPr>
              <a:t>Agents: Intent + Resolution + Escalation + Quality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391656" y="1901952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Intent agent classifies and routes. Resolution agent handles Tier-1 autonomously. Escalation agent prepares full context for Tier-2 handoff. Quality agent audits every interaction.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391656" y="2450592"/>
            <a:ext cx="2468880" cy="1828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391656" y="250545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01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A5010"/>
                </a:solidFill>
                <a:latin typeface="Calibri"/>
                <a:ea typeface="Calibri"/>
                <a:cs typeface="Calibri"/>
                <a:sym typeface="Calibri"/>
              </a:rPr>
              <a:t>Klarna: 700 FTE equivalent handled by MAS; avg resolution time from 11 mins to 2 mins. CSAT maintained at 92%.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20040" y="3035808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20040" y="3035808"/>
            <a:ext cx="2798064" cy="6400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20040" y="3035808"/>
            <a:ext cx="128016" cy="1499616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39496" y="312724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Financial Reporting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9496" y="3346704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A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1A8A"/>
                </a:solidFill>
                <a:latin typeface="Calibri"/>
                <a:ea typeface="Calibri"/>
                <a:cs typeface="Calibri"/>
                <a:sym typeface="Calibri"/>
              </a:rPr>
              <a:t>Agents: Data Pull + Reconciler + Narrative Writer + Validator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39496" y="3529584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agents pull from ERP, CRM, and banking systems simultaneously. Reconciler identifies discrepancies. Writer creates narrative. Validator checks against prior-period benchmarks.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39496" y="4078224"/>
            <a:ext cx="2468880" cy="1828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39496" y="41330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A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A1A8A"/>
                </a:solidFill>
                <a:latin typeface="Calibri"/>
                <a:ea typeface="Calibri"/>
                <a:cs typeface="Calibri"/>
                <a:sym typeface="Calibri"/>
              </a:rPr>
              <a:t>Unilever pilot: month-end close cycle reduced from 9 days to 3.5 days; zero material reconciliation errors in 6 months.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246120" y="3035808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246120" y="3035808"/>
            <a:ext cx="2798064" cy="64008"/>
          </a:xfrm>
          <a:prstGeom prst="rect">
            <a:avLst/>
          </a:prstGeom>
          <a:solidFill>
            <a:srgbClr val="8A1A2E"/>
          </a:solidFill>
          <a:ln cap="flat" cmpd="sng" w="12700">
            <a:solidFill>
              <a:srgbClr val="8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246120" y="3035808"/>
            <a:ext cx="128016" cy="1499616"/>
          </a:xfrm>
          <a:prstGeom prst="rect">
            <a:avLst/>
          </a:prstGeom>
          <a:solidFill>
            <a:srgbClr val="8A1A2E"/>
          </a:solidFill>
          <a:ln cap="flat" cmpd="sng" w="12700">
            <a:solidFill>
              <a:srgbClr val="8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465576" y="312724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Competitive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465576" y="3346704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A2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A1A2E"/>
                </a:solidFill>
                <a:latin typeface="Calibri"/>
                <a:ea typeface="Calibri"/>
                <a:cs typeface="Calibri"/>
                <a:sym typeface="Calibri"/>
              </a:rPr>
              <a:t>Agents: Monitor + Analyst + Alert + Briefing Writer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465576" y="3529584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Monitor agents track competitor sites, filings, social, and news continuously. Analyst agent identifies signals. Alert agent triggers for threshold events. Briefing agent produces daily digest.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465576" y="4078224"/>
            <a:ext cx="2468880" cy="18288"/>
          </a:xfrm>
          <a:prstGeom prst="rect">
            <a:avLst/>
          </a:prstGeom>
          <a:solidFill>
            <a:srgbClr val="8A1A2E"/>
          </a:solidFill>
          <a:ln cap="flat" cmpd="sng" w="12700">
            <a:solidFill>
              <a:srgbClr val="8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3465576" y="41330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1A2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A1A2E"/>
                </a:solidFill>
                <a:latin typeface="Calibri"/>
                <a:ea typeface="Calibri"/>
                <a:cs typeface="Calibri"/>
                <a:sym typeface="Calibri"/>
              </a:rPr>
              <a:t>Salesforce internal: competitive signal detection latency from 3 weeks to 6 hours; strategic response time halved.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172200" y="3035808"/>
            <a:ext cx="2798064" cy="1499616"/>
          </a:xfrm>
          <a:prstGeom prst="rect">
            <a:avLst/>
          </a:prstGeom>
          <a:solidFill>
            <a:srgbClr val="EEF3F9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6172200" y="3035808"/>
            <a:ext cx="2798064" cy="6400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6172200" y="3035808"/>
            <a:ext cx="128016" cy="1499616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391656" y="312724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1829"/>
                </a:solidFill>
                <a:latin typeface="Calibri"/>
                <a:ea typeface="Calibri"/>
                <a:cs typeface="Calibri"/>
                <a:sym typeface="Calibri"/>
              </a:rPr>
              <a:t>Software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391656" y="3346704"/>
            <a:ext cx="2468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01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A5010"/>
                </a:solidFill>
                <a:latin typeface="Calibri"/>
                <a:ea typeface="Calibri"/>
                <a:cs typeface="Calibri"/>
                <a:sym typeface="Calibri"/>
              </a:rPr>
              <a:t>Agents: Planner + Coder + Tester + Reviewer + Deployer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391656" y="3529584"/>
            <a:ext cx="2468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Planner decomposes tickets. Coder generates implementations. Tester writes and runs unit tests. Reviewer checks for security and style. Deployer manages CI/CD pipeline.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391656" y="4078224"/>
            <a:ext cx="2468880" cy="1828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391656" y="41330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01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A5010"/>
                </a:solidFill>
                <a:latin typeface="Calibri"/>
                <a:ea typeface="Calibri"/>
                <a:cs typeface="Calibri"/>
                <a:sym typeface="Calibri"/>
              </a:rPr>
              <a:t>Cognition AI (Devin): end-to-end ticket completion without human input on 13.86% of SWE-bench tasks; projected 50% by 2026.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82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6217920" y="2743200"/>
            <a:ext cx="5029200" cy="5029200"/>
          </a:xfrm>
          <a:prstGeom prst="ellipse">
            <a:avLst/>
          </a:prstGeom>
          <a:solidFill>
            <a:srgbClr val="122035"/>
          </a:solidFill>
          <a:ln cap="flat" cmpd="sng" w="12700">
            <a:solidFill>
              <a:srgbClr val="12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365760" y="20116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05 OF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65760" y="56692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Risks, Guardrails &amp; Human Oversight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1060704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Autonomous departments multiply both capability and consequence. The governance framework must scale with the autonomy level — not lag behind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65760" y="1463040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0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02A"/>
                </a:solidFill>
                <a:latin typeface="Calibri"/>
                <a:ea typeface="Calibri"/>
                <a:cs typeface="Calibri"/>
                <a:sym typeface="Calibri"/>
              </a:rPr>
              <a:t>Failure Modes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65760" y="1792224"/>
            <a:ext cx="4005072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65760" y="1792224"/>
            <a:ext cx="164592" cy="658368"/>
          </a:xfrm>
          <a:prstGeom prst="rect">
            <a:avLst/>
          </a:prstGeom>
          <a:solidFill>
            <a:srgbClr val="E85050"/>
          </a:solidFill>
          <a:ln cap="flat" cmpd="sng" w="12700">
            <a:solidFill>
              <a:srgbClr val="E8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21792" y="1856232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Hallucination Cascade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21792" y="2066544"/>
            <a:ext cx="36210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Mandate critic agents for all output chains. Use RAG-grounded research agents as single source of truth.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65760" y="2523744"/>
            <a:ext cx="4005072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65760" y="2523744"/>
            <a:ext cx="164592" cy="65836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21792" y="2587752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Runaway Execution &amp; Cost Explosion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21792" y="2798064"/>
            <a:ext cx="36210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Hard token budgets per agent invocation. Automatic circuit breakers on anomalous tool call frequency. Real-time cost dashboards.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65760" y="3255264"/>
            <a:ext cx="4005072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365760" y="3255264"/>
            <a:ext cx="164592" cy="65836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21792" y="3319272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Authority Ambiguity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21792" y="3529584"/>
            <a:ext cx="36210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Define explicit action tiers: read-only, internal write, external communication, financial transaction. Each tier requires progressively stricter authorisation.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65760" y="3986784"/>
            <a:ext cx="4005072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65760" y="3986784"/>
            <a:ext cx="164592" cy="65836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21792" y="4050792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Poisoning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21792" y="4261104"/>
            <a:ext cx="36210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Write-access to memory layer restricted to orchestrator only. All memory updates logged with source attribution and timestamp. Regular memory audits.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553712" y="1463040"/>
            <a:ext cx="4224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B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6B5A"/>
                </a:solidFill>
                <a:latin typeface="Calibri"/>
                <a:ea typeface="Calibri"/>
                <a:cs typeface="Calibri"/>
                <a:sym typeface="Calibri"/>
              </a:rPr>
              <a:t>Governance Principles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553712" y="1792224"/>
            <a:ext cx="4224528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4553712" y="1792224"/>
            <a:ext cx="164592" cy="65836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4809744" y="185623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the Human-in-the-Loop 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809744" y="206654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Classify every action by consequence. Reversible low-value actions: fully autonomous. Irreversible or externally visible actions: human approval required within defined SLA.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553712" y="2523744"/>
            <a:ext cx="4224528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553712" y="2523744"/>
            <a:ext cx="164592" cy="65836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809744" y="25877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Maintain a Full Agent Audit Trail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809744" y="27980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Every agent action, tool call, memory read, and inter-agent message is logged with timestamp, agent identity, and input/output hash. Immutable. Retention minimum 12 months.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553712" y="3255264"/>
            <a:ext cx="4224528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4553712" y="3255264"/>
            <a:ext cx="164592" cy="65836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4809744" y="33192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Version-Control Agent Configurations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809744" y="352958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Agent system prompts, tool access policies, and orchestration logic are version-controlled. Changes are deployed via reviewed pull requests, not ad-hoc configuration edits.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553712" y="3986784"/>
            <a:ext cx="4224528" cy="658368"/>
          </a:xfrm>
          <a:prstGeom prst="rect">
            <a:avLst/>
          </a:prstGeom>
          <a:solidFill>
            <a:srgbClr val="0A1525"/>
          </a:solidFill>
          <a:ln cap="flat" cmpd="sng" w="12700">
            <a:solidFill>
              <a:srgbClr val="1A3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4553712" y="3986784"/>
            <a:ext cx="164592" cy="65836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4809744" y="4050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Establish Departmental Ownership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4809744" y="426110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Every autonomous department has a named human owner accountable for its outputs. Autonomy does not transfer accountability. The owner reviews weekly performance reports and approves policy changes.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2834640" y="0"/>
            <a:ext cx="54864" cy="5143500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228600" y="237744"/>
            <a:ext cx="2377440" cy="237744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28600" y="2377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/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56032" y="621792"/>
            <a:ext cx="235915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Single Agent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Multi-Agent: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When Does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Switch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Make Sense?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228600" y="3218688"/>
            <a:ext cx="2395728" cy="1316736"/>
          </a:xfrm>
          <a:prstGeom prst="rect">
            <a:avLst/>
          </a:prstGeom>
          <a:solidFill>
            <a:srgbClr val="090F1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10896" y="3291840"/>
            <a:ext cx="2231136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BDE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ABDE0"/>
                </a:solidFill>
                <a:latin typeface="Calibri"/>
                <a:ea typeface="Calibri"/>
                <a:cs typeface="Calibri"/>
                <a:sym typeface="Calibri"/>
              </a:rPr>
              <a:t>“Not every task benefits from a MAS. The question is not ‘can we build an agent swarm for this?’ but ‘does the complexity of this task exceed what a single specialist can resolve?’”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063240" y="256032"/>
            <a:ext cx="5806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The Architecture Decision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063240" y="658368"/>
            <a:ext cx="5806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this framework to decide whether a task warrants single-agent AI, a lightweight multi-agent setup, or a full autonomous department deployment.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7"/>
          <p:cNvGraphicFramePr/>
          <p:nvPr/>
        </p:nvGraphicFramePr>
        <p:xfrm>
          <a:off x="3063240" y="1115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{C5DFB62B-129C-4502-A9E0-FE9B62479818}</a:tableStyleId>
              </a:tblPr>
              <a:tblGrid>
                <a:gridCol w="1481325"/>
                <a:gridCol w="1435600"/>
                <a:gridCol w="1435600"/>
                <a:gridCol w="145390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Dimension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8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Agent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6B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MAS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(2–3 agents)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Autonomous Department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(5+ agents)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A8A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complexity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Single-step, well-defined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Multi-step, structured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Ongoing, open-ended workflows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Specialisation needed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capability sufficient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2–3 distinct skill sets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5+ distinct functions needed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Parallelism value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Sequential is fine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 parallelism beneficial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parallelism = core value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cost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/ easily corrected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/ auditable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— critic agents required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 oversight need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Per-output review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Exception-based review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Policy-level governance only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to value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Days to deploy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Weeks to configure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Months to mature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829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B18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Recommended for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Ad-hoc queries, drafting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generation, research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 close, legal ops, sales ops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01600" marL="101600" anchor="ctr">
                    <a:lnL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5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65760" y="15544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07 OF 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65760" y="493776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Your Multi-Agent Implementation Roadmap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structured path from single-model AI augmentation to a fully operational autonomous department in four phases.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47472" y="1371600"/>
            <a:ext cx="2048256" cy="3310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347472" y="1371600"/>
            <a:ext cx="2048256" cy="475488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57200" y="14081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57200" y="15819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Month 1–2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57200" y="19385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Identify &amp;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" y="2231136"/>
            <a:ext cx="1828800" cy="27432"/>
          </a:xfrm>
          <a:prstGeom prst="rect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475488" y="2414016"/>
            <a:ext cx="164592" cy="164592"/>
          </a:xfrm>
          <a:prstGeom prst="ellipse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75488" y="241401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94944" y="239572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Map 10 highest-volume workflows; identify top 3 by complexity and error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75488" y="2980944"/>
            <a:ext cx="164592" cy="164592"/>
          </a:xfrm>
          <a:prstGeom prst="ellipse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475488" y="29809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94944" y="2962656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Classify each workflow: single-agent vs. MAS vs. autonomous department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75488" y="3547872"/>
            <a:ext cx="164592" cy="164592"/>
          </a:xfrm>
          <a:prstGeom prst="ellipse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75488" y="354787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94944" y="3529584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human-in-the-loop thresholds for each candidate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75488" y="4114800"/>
            <a:ext cx="164592" cy="164592"/>
          </a:xfrm>
          <a:prstGeom prst="ellipse">
            <a:avLst/>
          </a:prstGeom>
          <a:solidFill>
            <a:srgbClr val="0A6B5A"/>
          </a:solidFill>
          <a:ln cap="flat" cmpd="sng" w="12700">
            <a:solidFill>
              <a:srgbClr val="0A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75488" y="411480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94944" y="4096512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Assess tool integrations required (API access, database write permissions)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496312" y="1371600"/>
            <a:ext cx="2048256" cy="3310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2496312" y="1371600"/>
            <a:ext cx="2048256" cy="475488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2606040" y="14081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2606040" y="15819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Month 3–4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2606040" y="19385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Build &amp; Configure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606040" y="2231136"/>
            <a:ext cx="1828800" cy="27432"/>
          </a:xfrm>
          <a:prstGeom prst="rect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624328" y="2414016"/>
            <a:ext cx="164592" cy="164592"/>
          </a:xfrm>
          <a:prstGeom prst="ellipse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2624328" y="241401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843784" y="239572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the orchestrator and 2–3 specialist agents for the priority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624328" y="2980944"/>
            <a:ext cx="164592" cy="164592"/>
          </a:xfrm>
          <a:prstGeom prst="ellipse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624328" y="29809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843784" y="2962656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agent system prompts, tool access policies, and memory schema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624328" y="3547872"/>
            <a:ext cx="164592" cy="164592"/>
          </a:xfrm>
          <a:prstGeom prst="ellipse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2624328" y="354787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2843784" y="3529584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Implement inter-agent handoffs and the critic agent review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2624328" y="4114800"/>
            <a:ext cx="164592" cy="164592"/>
          </a:xfrm>
          <a:prstGeom prst="ellipse">
            <a:avLst/>
          </a:prstGeom>
          <a:solidFill>
            <a:srgbClr val="1A3E8A"/>
          </a:solidFill>
          <a:ln cap="flat" cmpd="sng" w="12700">
            <a:solidFill>
              <a:srgbClr val="1A3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2624328" y="411480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843784" y="4096512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 the MAS on historical data; compare output quality to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645152" y="1371600"/>
            <a:ext cx="2048256" cy="3310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4645152" y="1371600"/>
            <a:ext cx="2048256" cy="475488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754880" y="14081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754880" y="15819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Month 5–6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754880" y="19385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Deploy &amp; Govern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754880" y="2231136"/>
            <a:ext cx="1828800" cy="27432"/>
          </a:xfrm>
          <a:prstGeom prst="rect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4773168" y="2414016"/>
            <a:ext cx="164592" cy="164592"/>
          </a:xfrm>
          <a:prstGeom prst="ellipse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4773168" y="241401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992624" y="239572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Deploy to production with full audit logging and cost monitoring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773168" y="2980944"/>
            <a:ext cx="164592" cy="164592"/>
          </a:xfrm>
          <a:prstGeom prst="ellipse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773168" y="29809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992624" y="2962656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Assign a named departmental owner accountable for all MAS outputs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773168" y="3547872"/>
            <a:ext cx="164592" cy="164592"/>
          </a:xfrm>
          <a:prstGeom prst="ellipse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4773168" y="354787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992624" y="3529584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escalation paths for human-in-the-loop decision 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773168" y="4114800"/>
            <a:ext cx="164592" cy="164592"/>
          </a:xfrm>
          <a:prstGeom prst="ellipse">
            <a:avLst/>
          </a:prstGeom>
          <a:solidFill>
            <a:srgbClr val="9A5010"/>
          </a:solidFill>
          <a:ln cap="flat" cmpd="sng" w="12700">
            <a:solidFill>
              <a:srgbClr val="9A5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773168" y="411480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992624" y="4096512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Conduct weekly performance reviews for first 6 weeks post-launch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793992" y="1371600"/>
            <a:ext cx="2048256" cy="3310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5E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793992" y="1371600"/>
            <a:ext cx="2048256" cy="475488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6903720" y="14081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903720" y="15819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Month 7+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903720" y="19385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82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1829"/>
                </a:solidFill>
                <a:latin typeface="Georgia"/>
                <a:ea typeface="Georgia"/>
                <a:cs typeface="Georgia"/>
                <a:sym typeface="Georgia"/>
              </a:rPr>
              <a:t>Expand &amp; Mature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903720" y="2231136"/>
            <a:ext cx="1828800" cy="27432"/>
          </a:xfrm>
          <a:prstGeom prst="rect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6922008" y="2414016"/>
            <a:ext cx="164592" cy="164592"/>
          </a:xfrm>
          <a:prstGeom prst="ellipse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6922008" y="241401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7141464" y="239572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Expand to additional workflows using learnings from Phase 1–3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6922008" y="2980944"/>
            <a:ext cx="164592" cy="164592"/>
          </a:xfrm>
          <a:prstGeom prst="ellipse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6922008" y="298094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7141464" y="2962656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 domain memory layer with verified institutional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922008" y="3547872"/>
            <a:ext cx="164592" cy="164592"/>
          </a:xfrm>
          <a:prstGeom prst="ellipse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6922008" y="354787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7141464" y="3529584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internal MAS capability: train team leads on agent configuration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6922008" y="4114800"/>
            <a:ext cx="164592" cy="164592"/>
          </a:xfrm>
          <a:prstGeom prst="ellipse">
            <a:avLst/>
          </a:prstGeom>
          <a:solidFill>
            <a:srgbClr val="4A1A8A"/>
          </a:solidFill>
          <a:ln cap="flat" cmpd="sng" w="12700">
            <a:solidFill>
              <a:srgbClr val="4A1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6922008" y="411480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7141464" y="4096512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Establish Autonomous Operations Review Committee for governance at scale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B1829"/>
          </a:solidFill>
          <a:ln cap="flat" cmpd="sng" w="12700">
            <a:solidFill>
              <a:srgbClr val="0B18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0" y="4826203"/>
            <a:ext cx="9144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AAC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  •  Visit us at: </a:t>
            </a:r>
            <a:r>
              <a:rPr b="0" i="0" lang="en-US" sz="8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2026-04-09T04:55:13Z</dcterms:created>
  <dc:creator>PptxGenJS</dc:creator>
</cp:coreProperties>
</file>