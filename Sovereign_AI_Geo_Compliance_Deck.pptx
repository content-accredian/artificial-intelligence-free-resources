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Lst>
  <p:sldSz cy="5143500" cx="9144000"/>
  <p:notesSz cx="51435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4" roundtripDataSignature="AMtx7mitO0s43hA+UmRNDx+OMgyhi72rY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19675EF-4782-491A-A18C-60592B1FF900}">
  <a:tblStyle styleId="{319675EF-4782-491A-A18C-60592B1FF900}"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4" Type="http://customschemas.google.com/relationships/presentationmetadata" Target="meta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857400" y="685800"/>
            <a:ext cx="342915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514350" y="4343400"/>
            <a:ext cx="41148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 name="Shape 7"/>
        <p:cNvGrpSpPr/>
        <p:nvPr/>
      </p:nvGrpSpPr>
      <p:grpSpPr>
        <a:xfrm>
          <a:off x="0" y="0"/>
          <a:ext cx="0" cy="0"/>
          <a:chOff x="0" y="0"/>
          <a:chExt cx="0" cy="0"/>
        </a:xfrm>
      </p:grpSpPr>
      <p:sp>
        <p:nvSpPr>
          <p:cNvPr id="8" name="Google Shape;8;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 name="Google Shape;9;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0" name="Google Shape;10;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800" u="none" cap="none" strike="noStrike">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 name="Shape 43"/>
        <p:cNvGrpSpPr/>
        <p:nvPr/>
      </p:nvGrpSpPr>
      <p:grpSpPr>
        <a:xfrm>
          <a:off x="0" y="0"/>
          <a:ext cx="0" cy="0"/>
          <a:chOff x="0" y="0"/>
          <a:chExt cx="0" cy="0"/>
        </a:xfrm>
      </p:grpSpPr>
      <p:sp>
        <p:nvSpPr>
          <p:cNvPr id="44" name="Google Shape;44;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 name="Google Shape;45;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46" name="Google Shape;46;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1" name="Google Shape;81;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82" name="Google Shape;82;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3" name="Google Shape;113;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14" name="Google Shape;114;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1" name="Google Shape;161;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62" name="Google Shape;162;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8" name="Google Shape;178;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79" name="Google Shape;179;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2" name="Google Shape;222;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223" name="Google Shape;223;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2" name="Google Shape;262;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263" name="Google Shape;263;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6" name="Shape 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accredian.com/"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hyperlink" Target="https://accredian.com"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hyperlink" Target="https://accredian.com/"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hyperlink" Target="https://accredian.com/"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hyperlink" Target="https://accredian.com/"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hyperlink" Target="https://accredian.com/"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hyperlink" Target="https://accredian.com/"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hyperlink" Target="https://accredian.com/"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829"/>
        </a:solidFill>
      </p:bgPr>
    </p:bg>
    <p:spTree>
      <p:nvGrpSpPr>
        <p:cNvPr id="11" name="Shape 11"/>
        <p:cNvGrpSpPr/>
        <p:nvPr/>
      </p:nvGrpSpPr>
      <p:grpSpPr>
        <a:xfrm>
          <a:off x="0" y="0"/>
          <a:ext cx="0" cy="0"/>
          <a:chOff x="0" y="0"/>
          <a:chExt cx="0" cy="0"/>
        </a:xfrm>
      </p:grpSpPr>
      <p:sp>
        <p:nvSpPr>
          <p:cNvPr id="12" name="Google Shape;12;p1"/>
          <p:cNvSpPr/>
          <p:nvPr/>
        </p:nvSpPr>
        <p:spPr>
          <a:xfrm>
            <a:off x="5303520" y="-1645920"/>
            <a:ext cx="5943600" cy="5943600"/>
          </a:xfrm>
          <a:prstGeom prst="ellipse">
            <a:avLst/>
          </a:prstGeom>
          <a:solidFill>
            <a:srgbClr val="122035"/>
          </a:solidFill>
          <a:ln cap="flat" cmpd="sng" w="12700">
            <a:solidFill>
              <a:srgbClr val="182A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1"/>
          <p:cNvSpPr/>
          <p:nvPr/>
        </p:nvSpPr>
        <p:spPr>
          <a:xfrm>
            <a:off x="6217920" y="-731520"/>
            <a:ext cx="3840480" cy="3840480"/>
          </a:xfrm>
          <a:prstGeom prst="ellipse">
            <a:avLst/>
          </a:prstGeom>
          <a:solidFill>
            <a:srgbClr val="1A2E48"/>
          </a:solidFill>
          <a:ln cap="flat" cmpd="sng" w="12700">
            <a:solidFill>
              <a:srgbClr val="202F4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1"/>
          <p:cNvSpPr/>
          <p:nvPr/>
        </p:nvSpPr>
        <p:spPr>
          <a:xfrm>
            <a:off x="6949440" y="0"/>
            <a:ext cx="2194560" cy="2194560"/>
          </a:xfrm>
          <a:prstGeom prst="ellipse">
            <a:avLst/>
          </a:prstGeom>
          <a:solidFill>
            <a:srgbClr val="1E3050"/>
          </a:solidFill>
          <a:ln cap="flat" cmpd="sng" w="12700">
            <a:solidFill>
              <a:srgbClr val="25385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1"/>
          <p:cNvSpPr/>
          <p:nvPr/>
        </p:nvSpPr>
        <p:spPr>
          <a:xfrm>
            <a:off x="0" y="0"/>
            <a:ext cx="82296" cy="5143500"/>
          </a:xfrm>
          <a:prstGeom prst="rect">
            <a:avLst/>
          </a:prstGeom>
          <a:solidFill>
            <a:srgbClr val="1A4A8A"/>
          </a:solidFill>
          <a:ln cap="flat" cmpd="sng" w="12700">
            <a:solidFill>
              <a:srgbClr val="1A4A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1"/>
          <p:cNvSpPr/>
          <p:nvPr/>
        </p:nvSpPr>
        <p:spPr>
          <a:xfrm>
            <a:off x="457200" y="804672"/>
            <a:ext cx="77724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7AB8"/>
              </a:buClr>
              <a:buSzPts val="950"/>
              <a:buFont typeface="Calibri"/>
              <a:buNone/>
            </a:pPr>
            <a:r>
              <a:rPr b="1" i="0" lang="en-US" sz="950" u="none" cap="none" strike="noStrike">
                <a:solidFill>
                  <a:srgbClr val="4A7AB8"/>
                </a:solidFill>
                <a:latin typeface="Calibri"/>
                <a:ea typeface="Calibri"/>
                <a:cs typeface="Calibri"/>
                <a:sym typeface="Calibri"/>
              </a:rPr>
              <a:t>GEOPOLITICS  ·  AI INFRASTRUCTURE  ·  REGULATORY STRATEGY</a:t>
            </a:r>
            <a:endParaRPr b="0" i="0" sz="950" u="none" cap="none" strike="noStrike">
              <a:solidFill>
                <a:schemeClr val="dk1"/>
              </a:solidFill>
              <a:latin typeface="Calibri"/>
              <a:ea typeface="Calibri"/>
              <a:cs typeface="Calibri"/>
              <a:sym typeface="Calibri"/>
            </a:endParaRPr>
          </a:p>
        </p:txBody>
      </p:sp>
      <p:sp>
        <p:nvSpPr>
          <p:cNvPr id="17" name="Google Shape;17;p1"/>
          <p:cNvSpPr/>
          <p:nvPr/>
        </p:nvSpPr>
        <p:spPr>
          <a:xfrm>
            <a:off x="457200" y="1170432"/>
            <a:ext cx="8229600" cy="7498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5000"/>
              <a:buFont typeface="Georgia"/>
              <a:buNone/>
            </a:pPr>
            <a:r>
              <a:rPr b="1" i="0" lang="en-US" sz="5000" u="none" cap="none" strike="noStrike">
                <a:solidFill>
                  <a:srgbClr val="FFFFFF"/>
                </a:solidFill>
                <a:latin typeface="Georgia"/>
                <a:ea typeface="Georgia"/>
                <a:cs typeface="Georgia"/>
                <a:sym typeface="Georgia"/>
              </a:rPr>
              <a:t>Sovereign AI &amp;</a:t>
            </a:r>
            <a:endParaRPr b="0" i="0" sz="5000" u="none" cap="none" strike="noStrike">
              <a:solidFill>
                <a:schemeClr val="dk1"/>
              </a:solidFill>
              <a:latin typeface="Calibri"/>
              <a:ea typeface="Calibri"/>
              <a:cs typeface="Calibri"/>
              <a:sym typeface="Calibri"/>
            </a:endParaRPr>
          </a:p>
        </p:txBody>
      </p:sp>
      <p:sp>
        <p:nvSpPr>
          <p:cNvPr id="18" name="Google Shape;18;p1"/>
          <p:cNvSpPr/>
          <p:nvPr/>
        </p:nvSpPr>
        <p:spPr>
          <a:xfrm>
            <a:off x="457200" y="1883664"/>
            <a:ext cx="8229600"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AAAD8"/>
              </a:buClr>
              <a:buSzPts val="2800"/>
              <a:buFont typeface="Calibri"/>
              <a:buNone/>
            </a:pPr>
            <a:r>
              <a:rPr b="0" i="1" lang="en-US" sz="2800" u="none" cap="none" strike="noStrike">
                <a:solidFill>
                  <a:srgbClr val="6AAAD8"/>
                </a:solidFill>
                <a:latin typeface="Calibri"/>
                <a:ea typeface="Calibri"/>
                <a:cs typeface="Calibri"/>
                <a:sym typeface="Calibri"/>
              </a:rPr>
              <a:t>Geo-Specific Compliance</a:t>
            </a:r>
            <a:endParaRPr b="0" i="0" sz="2800" u="none" cap="none" strike="noStrike">
              <a:solidFill>
                <a:schemeClr val="dk1"/>
              </a:solidFill>
              <a:latin typeface="Calibri"/>
              <a:ea typeface="Calibri"/>
              <a:cs typeface="Calibri"/>
              <a:sym typeface="Calibri"/>
            </a:endParaRPr>
          </a:p>
        </p:txBody>
      </p:sp>
      <p:sp>
        <p:nvSpPr>
          <p:cNvPr id="19" name="Google Shape;19;p1"/>
          <p:cNvSpPr/>
          <p:nvPr/>
        </p:nvSpPr>
        <p:spPr>
          <a:xfrm>
            <a:off x="457200" y="2505456"/>
            <a:ext cx="4114800" cy="36576"/>
          </a:xfrm>
          <a:prstGeom prst="rect">
            <a:avLst/>
          </a:prstGeom>
          <a:solidFill>
            <a:srgbClr val="1E3A5E"/>
          </a:solidFill>
          <a:ln cap="flat" cmpd="sng" w="12700">
            <a:solidFill>
              <a:srgbClr val="1E3A5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1"/>
          <p:cNvSpPr/>
          <p:nvPr/>
        </p:nvSpPr>
        <p:spPr>
          <a:xfrm>
            <a:off x="457200" y="2670048"/>
            <a:ext cx="7132320"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ACCC"/>
              </a:buClr>
              <a:buSzPts val="1400"/>
              <a:buFont typeface="Calibri"/>
              <a:buNone/>
            </a:pPr>
            <a:r>
              <a:rPr b="0" i="0" lang="en-US" sz="1400" u="none" cap="none" strike="noStrike">
                <a:solidFill>
                  <a:srgbClr val="8AACCC"/>
                </a:solidFill>
                <a:latin typeface="Calibri"/>
                <a:ea typeface="Calibri"/>
                <a:cs typeface="Calibri"/>
                <a:sym typeface="Calibri"/>
              </a:rPr>
              <a:t>Future-proofing the business against escalating digital trade wars and local AI regulations.</a:t>
            </a:r>
            <a:endParaRPr b="0" i="0" sz="1400" u="none" cap="none" strike="noStrike">
              <a:solidFill>
                <a:schemeClr val="dk1"/>
              </a:solidFill>
              <a:latin typeface="Calibri"/>
              <a:ea typeface="Calibri"/>
              <a:cs typeface="Calibri"/>
              <a:sym typeface="Calibri"/>
            </a:endParaRPr>
          </a:p>
        </p:txBody>
      </p:sp>
      <p:sp>
        <p:nvSpPr>
          <p:cNvPr id="21" name="Google Shape;21;p1"/>
          <p:cNvSpPr/>
          <p:nvPr/>
        </p:nvSpPr>
        <p:spPr>
          <a:xfrm>
            <a:off x="0" y="3291840"/>
            <a:ext cx="9144000" cy="512064"/>
          </a:xfrm>
          <a:prstGeom prst="rect">
            <a:avLst/>
          </a:prstGeom>
          <a:solidFill>
            <a:srgbClr val="080F1A"/>
          </a:solidFill>
          <a:ln cap="flat" cmpd="sng" w="12700">
            <a:solidFill>
              <a:srgbClr val="080F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1"/>
          <p:cNvSpPr/>
          <p:nvPr/>
        </p:nvSpPr>
        <p:spPr>
          <a:xfrm>
            <a:off x="365760" y="3364992"/>
            <a:ext cx="1572768" cy="347472"/>
          </a:xfrm>
          <a:prstGeom prst="rect">
            <a:avLst/>
          </a:prstGeom>
          <a:solidFill>
            <a:srgbClr val="1A4A8A"/>
          </a:solidFill>
          <a:ln cap="flat" cmpd="sng" w="12700">
            <a:solidFill>
              <a:srgbClr val="1A4A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1"/>
          <p:cNvSpPr/>
          <p:nvPr/>
        </p:nvSpPr>
        <p:spPr>
          <a:xfrm>
            <a:off x="365760" y="3364992"/>
            <a:ext cx="1572768"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alibri"/>
              <a:buNone/>
            </a:pPr>
            <a:r>
              <a:rPr b="1" i="0" lang="en-US" sz="850" u="none" cap="none" strike="noStrike">
                <a:solidFill>
                  <a:srgbClr val="FFFFFF"/>
                </a:solidFill>
                <a:latin typeface="Calibri"/>
                <a:ea typeface="Calibri"/>
                <a:cs typeface="Calibri"/>
                <a:sym typeface="Calibri"/>
              </a:rPr>
              <a:t>EU — AI Act + GDPR</a:t>
            </a:r>
            <a:endParaRPr b="0" i="0" sz="850" u="none" cap="none" strike="noStrike">
              <a:solidFill>
                <a:schemeClr val="dk1"/>
              </a:solidFill>
              <a:latin typeface="Calibri"/>
              <a:ea typeface="Calibri"/>
              <a:cs typeface="Calibri"/>
              <a:sym typeface="Calibri"/>
            </a:endParaRPr>
          </a:p>
        </p:txBody>
      </p:sp>
      <p:sp>
        <p:nvSpPr>
          <p:cNvPr id="24" name="Google Shape;24;p1"/>
          <p:cNvSpPr/>
          <p:nvPr/>
        </p:nvSpPr>
        <p:spPr>
          <a:xfrm>
            <a:off x="2048256" y="3364992"/>
            <a:ext cx="1572768" cy="347472"/>
          </a:xfrm>
          <a:prstGeom prst="rect">
            <a:avLst/>
          </a:prstGeom>
          <a:solidFill>
            <a:srgbClr val="0A7A72"/>
          </a:solidFill>
          <a:ln cap="flat" cmpd="sng" w="12700">
            <a:solidFill>
              <a:srgbClr val="0A7A7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1"/>
          <p:cNvSpPr/>
          <p:nvPr/>
        </p:nvSpPr>
        <p:spPr>
          <a:xfrm>
            <a:off x="2048256" y="3364992"/>
            <a:ext cx="1572768"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alibri"/>
              <a:buNone/>
            </a:pPr>
            <a:r>
              <a:rPr b="1" i="0" lang="en-US" sz="850" u="none" cap="none" strike="noStrike">
                <a:solidFill>
                  <a:srgbClr val="FFFFFF"/>
                </a:solidFill>
                <a:latin typeface="Calibri"/>
                <a:ea typeface="Calibri"/>
                <a:cs typeface="Calibri"/>
                <a:sym typeface="Calibri"/>
              </a:rPr>
              <a:t>India — DPDP 2025</a:t>
            </a:r>
            <a:endParaRPr b="0" i="0" sz="850" u="none" cap="none" strike="noStrike">
              <a:solidFill>
                <a:schemeClr val="dk1"/>
              </a:solidFill>
              <a:latin typeface="Calibri"/>
              <a:ea typeface="Calibri"/>
              <a:cs typeface="Calibri"/>
              <a:sym typeface="Calibri"/>
            </a:endParaRPr>
          </a:p>
        </p:txBody>
      </p:sp>
      <p:sp>
        <p:nvSpPr>
          <p:cNvPr id="26" name="Google Shape;26;p1"/>
          <p:cNvSpPr/>
          <p:nvPr/>
        </p:nvSpPr>
        <p:spPr>
          <a:xfrm>
            <a:off x="3730752" y="3364992"/>
            <a:ext cx="1572768" cy="347472"/>
          </a:xfrm>
          <a:prstGeom prst="rect">
            <a:avLst/>
          </a:prstGeom>
          <a:solidFill>
            <a:srgbClr val="8A1C2E"/>
          </a:solidFill>
          <a:ln cap="flat" cmpd="sng" w="12700">
            <a:solidFill>
              <a:srgbClr val="8A1C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1"/>
          <p:cNvSpPr/>
          <p:nvPr/>
        </p:nvSpPr>
        <p:spPr>
          <a:xfrm>
            <a:off x="3730752" y="3364992"/>
            <a:ext cx="1572768"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alibri"/>
              <a:buNone/>
            </a:pPr>
            <a:r>
              <a:rPr b="1" i="0" lang="en-US" sz="850" u="none" cap="none" strike="noStrike">
                <a:solidFill>
                  <a:srgbClr val="FFFFFF"/>
                </a:solidFill>
                <a:latin typeface="Calibri"/>
                <a:ea typeface="Calibri"/>
                <a:cs typeface="Calibri"/>
                <a:sym typeface="Calibri"/>
              </a:rPr>
              <a:t>China — CAC Rules</a:t>
            </a:r>
            <a:endParaRPr b="0" i="0" sz="850" u="none" cap="none" strike="noStrike">
              <a:solidFill>
                <a:schemeClr val="dk1"/>
              </a:solidFill>
              <a:latin typeface="Calibri"/>
              <a:ea typeface="Calibri"/>
              <a:cs typeface="Calibri"/>
              <a:sym typeface="Calibri"/>
            </a:endParaRPr>
          </a:p>
        </p:txBody>
      </p:sp>
      <p:sp>
        <p:nvSpPr>
          <p:cNvPr id="28" name="Google Shape;28;p1"/>
          <p:cNvSpPr/>
          <p:nvPr/>
        </p:nvSpPr>
        <p:spPr>
          <a:xfrm>
            <a:off x="5413248" y="3364992"/>
            <a:ext cx="1572768" cy="347472"/>
          </a:xfrm>
          <a:prstGeom prst="rect">
            <a:avLst/>
          </a:prstGeom>
          <a:solidFill>
            <a:srgbClr val="A0511A"/>
          </a:solidFill>
          <a:ln cap="flat" cmpd="sng" w="12700">
            <a:solidFill>
              <a:srgbClr val="A051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1"/>
          <p:cNvSpPr/>
          <p:nvPr/>
        </p:nvSpPr>
        <p:spPr>
          <a:xfrm>
            <a:off x="5413248" y="3364992"/>
            <a:ext cx="1572768"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alibri"/>
              <a:buNone/>
            </a:pPr>
            <a:r>
              <a:rPr b="1" i="0" lang="en-US" sz="850" u="none" cap="none" strike="noStrike">
                <a:solidFill>
                  <a:srgbClr val="FFFFFF"/>
                </a:solidFill>
                <a:latin typeface="Calibri"/>
                <a:ea typeface="Calibri"/>
                <a:cs typeface="Calibri"/>
                <a:sym typeface="Calibri"/>
              </a:rPr>
              <a:t>US — EO 14110</a:t>
            </a:r>
            <a:endParaRPr b="0" i="0" sz="850" u="none" cap="none" strike="noStrike">
              <a:solidFill>
                <a:schemeClr val="dk1"/>
              </a:solidFill>
              <a:latin typeface="Calibri"/>
              <a:ea typeface="Calibri"/>
              <a:cs typeface="Calibri"/>
              <a:sym typeface="Calibri"/>
            </a:endParaRPr>
          </a:p>
        </p:txBody>
      </p:sp>
      <p:sp>
        <p:nvSpPr>
          <p:cNvPr id="30" name="Google Shape;30;p1"/>
          <p:cNvSpPr/>
          <p:nvPr/>
        </p:nvSpPr>
        <p:spPr>
          <a:xfrm>
            <a:off x="7095744" y="3364992"/>
            <a:ext cx="1572768" cy="347472"/>
          </a:xfrm>
          <a:prstGeom prst="rect">
            <a:avLst/>
          </a:prstGeom>
          <a:solidFill>
            <a:srgbClr val="4A1A8A"/>
          </a:solidFill>
          <a:ln cap="flat" cmpd="sng" w="12700">
            <a:solidFill>
              <a:srgbClr val="4A1A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1"/>
          <p:cNvSpPr/>
          <p:nvPr/>
        </p:nvSpPr>
        <p:spPr>
          <a:xfrm>
            <a:off x="7095744" y="3364992"/>
            <a:ext cx="1572768"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alibri"/>
              <a:buNone/>
            </a:pPr>
            <a:r>
              <a:rPr b="1" i="0" lang="en-US" sz="850" u="none" cap="none" strike="noStrike">
                <a:solidFill>
                  <a:srgbClr val="FFFFFF"/>
                </a:solidFill>
                <a:latin typeface="Calibri"/>
                <a:ea typeface="Calibri"/>
                <a:cs typeface="Calibri"/>
                <a:sym typeface="Calibri"/>
              </a:rPr>
              <a:t>ASEAN — Model Framework</a:t>
            </a:r>
            <a:endParaRPr b="0" i="0" sz="850" u="none" cap="none" strike="noStrike">
              <a:solidFill>
                <a:schemeClr val="dk1"/>
              </a:solidFill>
              <a:latin typeface="Calibri"/>
              <a:ea typeface="Calibri"/>
              <a:cs typeface="Calibri"/>
              <a:sym typeface="Calibri"/>
            </a:endParaRPr>
          </a:p>
        </p:txBody>
      </p:sp>
      <p:sp>
        <p:nvSpPr>
          <p:cNvPr id="32" name="Google Shape;32;p1"/>
          <p:cNvSpPr/>
          <p:nvPr/>
        </p:nvSpPr>
        <p:spPr>
          <a:xfrm>
            <a:off x="0" y="3931920"/>
            <a:ext cx="9144000" cy="886968"/>
          </a:xfrm>
          <a:prstGeom prst="rect">
            <a:avLst/>
          </a:prstGeom>
          <a:solidFill>
            <a:srgbClr val="060D18"/>
          </a:solidFill>
          <a:ln cap="flat" cmpd="sng" w="12700">
            <a:solidFill>
              <a:srgbClr val="060D1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1"/>
          <p:cNvSpPr/>
          <p:nvPr/>
        </p:nvSpPr>
        <p:spPr>
          <a:xfrm>
            <a:off x="457200" y="4005072"/>
            <a:ext cx="265176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8 Slides</a:t>
            </a:r>
            <a:endParaRPr b="0" i="0" sz="1600" u="none" cap="none" strike="noStrike">
              <a:solidFill>
                <a:schemeClr val="dk1"/>
              </a:solidFill>
              <a:latin typeface="Calibri"/>
              <a:ea typeface="Calibri"/>
              <a:cs typeface="Calibri"/>
              <a:sym typeface="Calibri"/>
            </a:endParaRPr>
          </a:p>
        </p:txBody>
      </p:sp>
      <p:sp>
        <p:nvSpPr>
          <p:cNvPr id="34" name="Google Shape;34;p1"/>
          <p:cNvSpPr/>
          <p:nvPr/>
        </p:nvSpPr>
        <p:spPr>
          <a:xfrm>
            <a:off x="457200" y="4297680"/>
            <a:ext cx="265176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7AB8"/>
              </a:buClr>
              <a:buSzPts val="950"/>
              <a:buFont typeface="Calibri"/>
              <a:buNone/>
            </a:pPr>
            <a:r>
              <a:rPr b="0" i="0" lang="en-US" sz="950" u="none" cap="none" strike="noStrike">
                <a:solidFill>
                  <a:srgbClr val="4A7AB8"/>
                </a:solidFill>
                <a:latin typeface="Calibri"/>
                <a:ea typeface="Calibri"/>
                <a:cs typeface="Calibri"/>
                <a:sym typeface="Calibri"/>
              </a:rPr>
              <a:t>Framework + Evidence</a:t>
            </a:r>
            <a:endParaRPr b="0" i="0" sz="950" u="none" cap="none" strike="noStrike">
              <a:solidFill>
                <a:schemeClr val="dk1"/>
              </a:solidFill>
              <a:latin typeface="Calibri"/>
              <a:ea typeface="Calibri"/>
              <a:cs typeface="Calibri"/>
              <a:sym typeface="Calibri"/>
            </a:endParaRPr>
          </a:p>
        </p:txBody>
      </p:sp>
      <p:sp>
        <p:nvSpPr>
          <p:cNvPr id="35" name="Google Shape;35;p1"/>
          <p:cNvSpPr/>
          <p:nvPr/>
        </p:nvSpPr>
        <p:spPr>
          <a:xfrm>
            <a:off x="3291840" y="4114800"/>
            <a:ext cx="27432" cy="502920"/>
          </a:xfrm>
          <a:prstGeom prst="rect">
            <a:avLst/>
          </a:prstGeom>
          <a:solidFill>
            <a:srgbClr val="1A3050"/>
          </a:solidFill>
          <a:ln cap="flat" cmpd="sng" w="12700">
            <a:solidFill>
              <a:srgbClr val="1A305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1"/>
          <p:cNvSpPr/>
          <p:nvPr/>
        </p:nvSpPr>
        <p:spPr>
          <a:xfrm>
            <a:off x="3429000" y="4005072"/>
            <a:ext cx="265176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2026 Deadlines</a:t>
            </a:r>
            <a:endParaRPr b="0" i="0" sz="1600" u="none" cap="none" strike="noStrike">
              <a:solidFill>
                <a:schemeClr val="dk1"/>
              </a:solidFill>
              <a:latin typeface="Calibri"/>
              <a:ea typeface="Calibri"/>
              <a:cs typeface="Calibri"/>
              <a:sym typeface="Calibri"/>
            </a:endParaRPr>
          </a:p>
        </p:txBody>
      </p:sp>
      <p:sp>
        <p:nvSpPr>
          <p:cNvPr id="37" name="Google Shape;37;p1"/>
          <p:cNvSpPr/>
          <p:nvPr/>
        </p:nvSpPr>
        <p:spPr>
          <a:xfrm>
            <a:off x="3429000" y="4297680"/>
            <a:ext cx="265176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7AB8"/>
              </a:buClr>
              <a:buSzPts val="950"/>
              <a:buFont typeface="Calibri"/>
              <a:buNone/>
            </a:pPr>
            <a:r>
              <a:rPr b="0" i="0" lang="en-US" sz="950" u="none" cap="none" strike="noStrike">
                <a:solidFill>
                  <a:srgbClr val="4A7AB8"/>
                </a:solidFill>
                <a:latin typeface="Calibri"/>
                <a:ea typeface="Calibri"/>
                <a:cs typeface="Calibri"/>
                <a:sym typeface="Calibri"/>
              </a:rPr>
              <a:t>Regulatory Compliance Timeline</a:t>
            </a:r>
            <a:endParaRPr b="0" i="0" sz="950" u="none" cap="none" strike="noStrike">
              <a:solidFill>
                <a:schemeClr val="dk1"/>
              </a:solidFill>
              <a:latin typeface="Calibri"/>
              <a:ea typeface="Calibri"/>
              <a:cs typeface="Calibri"/>
              <a:sym typeface="Calibri"/>
            </a:endParaRPr>
          </a:p>
        </p:txBody>
      </p:sp>
      <p:sp>
        <p:nvSpPr>
          <p:cNvPr id="38" name="Google Shape;38;p1"/>
          <p:cNvSpPr/>
          <p:nvPr/>
        </p:nvSpPr>
        <p:spPr>
          <a:xfrm>
            <a:off x="6263640" y="4114800"/>
            <a:ext cx="27432" cy="502920"/>
          </a:xfrm>
          <a:prstGeom prst="rect">
            <a:avLst/>
          </a:prstGeom>
          <a:solidFill>
            <a:srgbClr val="1A3050"/>
          </a:solidFill>
          <a:ln cap="flat" cmpd="sng" w="12700">
            <a:solidFill>
              <a:srgbClr val="1A305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1"/>
          <p:cNvSpPr/>
          <p:nvPr/>
        </p:nvSpPr>
        <p:spPr>
          <a:xfrm>
            <a:off x="6400800" y="4005072"/>
            <a:ext cx="265176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Actionable</a:t>
            </a:r>
            <a:endParaRPr b="0" i="0" sz="1600" u="none" cap="none" strike="noStrike">
              <a:solidFill>
                <a:schemeClr val="dk1"/>
              </a:solidFill>
              <a:latin typeface="Calibri"/>
              <a:ea typeface="Calibri"/>
              <a:cs typeface="Calibri"/>
              <a:sym typeface="Calibri"/>
            </a:endParaRPr>
          </a:p>
        </p:txBody>
      </p:sp>
      <p:sp>
        <p:nvSpPr>
          <p:cNvPr id="40" name="Google Shape;40;p1"/>
          <p:cNvSpPr/>
          <p:nvPr/>
        </p:nvSpPr>
        <p:spPr>
          <a:xfrm>
            <a:off x="6400800" y="4297680"/>
            <a:ext cx="265176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7AB8"/>
              </a:buClr>
              <a:buSzPts val="950"/>
              <a:buFont typeface="Calibri"/>
              <a:buNone/>
            </a:pPr>
            <a:r>
              <a:rPr b="0" i="0" lang="en-US" sz="950" u="none" cap="none" strike="noStrike">
                <a:solidFill>
                  <a:srgbClr val="4A7AB8"/>
                </a:solidFill>
                <a:latin typeface="Calibri"/>
                <a:ea typeface="Calibri"/>
                <a:cs typeface="Calibri"/>
                <a:sym typeface="Calibri"/>
              </a:rPr>
              <a:t>Executive Strategy Today</a:t>
            </a:r>
            <a:endParaRPr b="0" i="0" sz="950" u="none" cap="none" strike="noStrike">
              <a:solidFill>
                <a:schemeClr val="dk1"/>
              </a:solidFill>
              <a:latin typeface="Calibri"/>
              <a:ea typeface="Calibri"/>
              <a:cs typeface="Calibri"/>
              <a:sym typeface="Calibri"/>
            </a:endParaRPr>
          </a:p>
        </p:txBody>
      </p:sp>
      <p:sp>
        <p:nvSpPr>
          <p:cNvPr id="41" name="Google Shape;41;p1"/>
          <p:cNvSpPr/>
          <p:nvPr/>
        </p:nvSpPr>
        <p:spPr>
          <a:xfrm>
            <a:off x="0" y="4818888"/>
            <a:ext cx="9144000" cy="324612"/>
          </a:xfrm>
          <a:prstGeom prst="rect">
            <a:avLst/>
          </a:prstGeom>
          <a:solidFill>
            <a:srgbClr val="0B1829"/>
          </a:solidFill>
          <a:ln cap="flat" cmpd="sng" w="12700">
            <a:solidFill>
              <a:srgbClr val="0B182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1"/>
          <p:cNvSpPr/>
          <p:nvPr/>
        </p:nvSpPr>
        <p:spPr>
          <a:xfrm>
            <a:off x="0" y="4826203"/>
            <a:ext cx="9144000" cy="30175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AAAC8"/>
              </a:buClr>
              <a:buSzPts val="850"/>
              <a:buFont typeface="Calibri"/>
              <a:buNone/>
            </a:pPr>
            <a:r>
              <a:rPr b="0" i="0" lang="en-US" sz="850" u="none" cap="none" strike="noStrike">
                <a:solidFill>
                  <a:srgbClr val="7AAAC8"/>
                </a:solidFill>
                <a:latin typeface="Calibri"/>
                <a:ea typeface="Calibri"/>
                <a:cs typeface="Calibri"/>
                <a:sym typeface="Calibri"/>
              </a:rPr>
              <a:t>Accredian is a leading Indian institution specializing in AI, Data Science, and Management research and education.  •  Visit us at: </a:t>
            </a:r>
            <a:r>
              <a:rPr b="0" i="0" lang="en-US" sz="850" u="sng" cap="none" strike="noStrike">
                <a:solidFill>
                  <a:srgbClr val="7AAAC8"/>
                </a:solidFill>
                <a:latin typeface="Calibri"/>
                <a:ea typeface="Calibri"/>
                <a:cs typeface="Calibri"/>
                <a:sym typeface="Calibri"/>
                <a:hlinkClick r:id="rId3">
                  <a:extLst>
                    <a:ext uri="{A12FA001-AC4F-418D-AE19-62706E023703}">
                      <ahyp:hlinkClr val="tx"/>
                    </a:ext>
                  </a:extLst>
                </a:hlinkClick>
              </a:rPr>
              <a:t>https://accredian.com</a:t>
            </a:r>
            <a:endParaRPr b="0" i="0" sz="85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C"/>
        </a:solidFill>
      </p:bgPr>
    </p:bg>
    <p:spTree>
      <p:nvGrpSpPr>
        <p:cNvPr id="47" name="Shape 47"/>
        <p:cNvGrpSpPr/>
        <p:nvPr/>
      </p:nvGrpSpPr>
      <p:grpSpPr>
        <a:xfrm>
          <a:off x="0" y="0"/>
          <a:ext cx="0" cy="0"/>
          <a:chOff x="0" y="0"/>
          <a:chExt cx="0" cy="0"/>
        </a:xfrm>
      </p:grpSpPr>
      <p:sp>
        <p:nvSpPr>
          <p:cNvPr id="48" name="Google Shape;48;p2"/>
          <p:cNvSpPr/>
          <p:nvPr/>
        </p:nvSpPr>
        <p:spPr>
          <a:xfrm>
            <a:off x="0" y="0"/>
            <a:ext cx="9144000" cy="73152"/>
          </a:xfrm>
          <a:prstGeom prst="rect">
            <a:avLst/>
          </a:prstGeom>
          <a:solidFill>
            <a:srgbClr val="8A1C2E"/>
          </a:solidFill>
          <a:ln cap="flat" cmpd="sng" w="12700">
            <a:solidFill>
              <a:srgbClr val="8A1C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2"/>
          <p:cNvSpPr/>
          <p:nvPr/>
        </p:nvSpPr>
        <p:spPr>
          <a:xfrm>
            <a:off x="365760" y="155448"/>
            <a:ext cx="1920240" cy="246888"/>
          </a:xfrm>
          <a:prstGeom prst="rect">
            <a:avLst/>
          </a:prstGeom>
          <a:solidFill>
            <a:srgbClr val="8A1C2E"/>
          </a:solidFill>
          <a:ln cap="flat" cmpd="sng" w="12700">
            <a:solidFill>
              <a:srgbClr val="8A1C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2"/>
          <p:cNvSpPr/>
          <p:nvPr/>
        </p:nvSpPr>
        <p:spPr>
          <a:xfrm>
            <a:off x="365760" y="155448"/>
            <a:ext cx="1920240"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alibri"/>
              <a:buNone/>
            </a:pPr>
            <a:r>
              <a:rPr b="1" lang="en-US" sz="850">
                <a:solidFill>
                  <a:srgbClr val="FFFFFF"/>
                </a:solidFill>
                <a:latin typeface="Calibri"/>
                <a:ea typeface="Calibri"/>
                <a:cs typeface="Calibri"/>
                <a:sym typeface="Calibri"/>
              </a:rPr>
              <a:t>SLIDE 01 OF 07</a:t>
            </a:r>
            <a:endParaRPr sz="850">
              <a:solidFill>
                <a:schemeClr val="dk1"/>
              </a:solidFill>
              <a:latin typeface="Calibri"/>
              <a:ea typeface="Calibri"/>
              <a:cs typeface="Calibri"/>
              <a:sym typeface="Calibri"/>
            </a:endParaRPr>
          </a:p>
        </p:txBody>
      </p:sp>
      <p:sp>
        <p:nvSpPr>
          <p:cNvPr id="51" name="Google Shape;51;p2"/>
          <p:cNvSpPr/>
          <p:nvPr/>
        </p:nvSpPr>
        <p:spPr>
          <a:xfrm>
            <a:off x="365760" y="493776"/>
            <a:ext cx="84124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829"/>
              </a:buClr>
              <a:buSzPts val="1900"/>
              <a:buFont typeface="Georgia"/>
              <a:buNone/>
            </a:pPr>
            <a:r>
              <a:rPr b="1" lang="en-US" sz="1900">
                <a:solidFill>
                  <a:srgbClr val="0B1829"/>
                </a:solidFill>
                <a:latin typeface="Georgia"/>
                <a:ea typeface="Georgia"/>
                <a:cs typeface="Georgia"/>
                <a:sym typeface="Georgia"/>
              </a:rPr>
              <a:t>The Crisis: Cloud Fragmentation &amp; Digital Borders</a:t>
            </a:r>
            <a:endParaRPr sz="1900">
              <a:solidFill>
                <a:schemeClr val="dk1"/>
              </a:solidFill>
              <a:latin typeface="Calibri"/>
              <a:ea typeface="Calibri"/>
              <a:cs typeface="Calibri"/>
              <a:sym typeface="Calibri"/>
            </a:endParaRPr>
          </a:p>
        </p:txBody>
      </p:sp>
      <p:sp>
        <p:nvSpPr>
          <p:cNvPr id="52" name="Google Shape;52;p2"/>
          <p:cNvSpPr/>
          <p:nvPr/>
        </p:nvSpPr>
        <p:spPr>
          <a:xfrm>
            <a:off x="365760" y="1024128"/>
            <a:ext cx="8412480"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250"/>
              <a:buFont typeface="Calibri"/>
              <a:buNone/>
            </a:pPr>
            <a:r>
              <a:rPr lang="en-US" sz="1250">
                <a:solidFill>
                  <a:srgbClr val="334155"/>
                </a:solidFill>
                <a:latin typeface="Calibri"/>
                <a:ea typeface="Calibri"/>
                <a:cs typeface="Calibri"/>
                <a:sym typeface="Calibri"/>
              </a:rPr>
              <a:t>The era of the global, undifferentiated cloud is ending. Governments worldwide are enacting laws that require AI systems, training data, and model outputs to remain within national jurisdictions — fragmenting the architecture that most organisations built their AI strategies on.</a:t>
            </a:r>
            <a:endParaRPr sz="1250">
              <a:solidFill>
                <a:schemeClr val="dk1"/>
              </a:solidFill>
              <a:latin typeface="Calibri"/>
              <a:ea typeface="Calibri"/>
              <a:cs typeface="Calibri"/>
              <a:sym typeface="Calibri"/>
            </a:endParaRPr>
          </a:p>
        </p:txBody>
      </p:sp>
      <p:sp>
        <p:nvSpPr>
          <p:cNvPr id="53" name="Google Shape;53;p2"/>
          <p:cNvSpPr/>
          <p:nvPr/>
        </p:nvSpPr>
        <p:spPr>
          <a:xfrm>
            <a:off x="347472" y="1572768"/>
            <a:ext cx="2048256" cy="2743200"/>
          </a:xfrm>
          <a:prstGeom prst="rect">
            <a:avLst/>
          </a:prstGeom>
          <a:solidFill>
            <a:srgbClr val="FFFFFF"/>
          </a:solidFill>
          <a:ln cap="flat" cmpd="sng" w="12700">
            <a:solidFill>
              <a:srgbClr val="C8D5E4"/>
            </a:solidFill>
            <a:prstDash val="solid"/>
            <a:round/>
            <a:headEnd len="sm" w="sm" type="none"/>
            <a:tailEnd len="sm" w="sm" type="none"/>
          </a:ln>
          <a:effectLst>
            <a:outerShdw blurRad="152400" rotWithShape="0" algn="bl" dir="8100000" dist="381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2"/>
          <p:cNvSpPr/>
          <p:nvPr/>
        </p:nvSpPr>
        <p:spPr>
          <a:xfrm>
            <a:off x="347472" y="1572768"/>
            <a:ext cx="2048256" cy="566928"/>
          </a:xfrm>
          <a:prstGeom prst="rect">
            <a:avLst/>
          </a:prstGeom>
          <a:solidFill>
            <a:srgbClr val="8A1C2E"/>
          </a:solidFill>
          <a:ln cap="flat" cmpd="sng" w="12700">
            <a:solidFill>
              <a:srgbClr val="8A1C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2"/>
          <p:cNvSpPr/>
          <p:nvPr/>
        </p:nvSpPr>
        <p:spPr>
          <a:xfrm>
            <a:off x="347472" y="1627632"/>
            <a:ext cx="2048256" cy="51206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800"/>
              <a:buFont typeface="Georgia"/>
              <a:buNone/>
            </a:pPr>
            <a:r>
              <a:rPr b="1" lang="en-US" sz="2800">
                <a:solidFill>
                  <a:srgbClr val="FFFFFF"/>
                </a:solidFill>
                <a:latin typeface="Georgia"/>
                <a:ea typeface="Georgia"/>
                <a:cs typeface="Georgia"/>
                <a:sym typeface="Georgia"/>
              </a:rPr>
              <a:t>68%</a:t>
            </a:r>
            <a:endParaRPr sz="2800">
              <a:solidFill>
                <a:schemeClr val="dk1"/>
              </a:solidFill>
              <a:latin typeface="Calibri"/>
              <a:ea typeface="Calibri"/>
              <a:cs typeface="Calibri"/>
              <a:sym typeface="Calibri"/>
            </a:endParaRPr>
          </a:p>
        </p:txBody>
      </p:sp>
      <p:sp>
        <p:nvSpPr>
          <p:cNvPr id="56" name="Google Shape;56;p2"/>
          <p:cNvSpPr/>
          <p:nvPr/>
        </p:nvSpPr>
        <p:spPr>
          <a:xfrm>
            <a:off x="457200" y="2231136"/>
            <a:ext cx="1828800" cy="186537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050"/>
              <a:buFont typeface="Calibri"/>
              <a:buNone/>
            </a:pPr>
            <a:r>
              <a:rPr lang="en-US" sz="1050">
                <a:solidFill>
                  <a:srgbClr val="334155"/>
                </a:solidFill>
                <a:latin typeface="Calibri"/>
                <a:ea typeface="Calibri"/>
                <a:cs typeface="Calibri"/>
                <a:sym typeface="Calibri"/>
              </a:rPr>
              <a:t>of Fortune 500 firms currently operate AI workloads that violate at least one 2025 data residency requirement in markets they serve</a:t>
            </a:r>
            <a:endParaRPr sz="1050">
              <a:solidFill>
                <a:schemeClr val="dk1"/>
              </a:solidFill>
              <a:latin typeface="Calibri"/>
              <a:ea typeface="Calibri"/>
              <a:cs typeface="Calibri"/>
              <a:sym typeface="Calibri"/>
            </a:endParaRPr>
          </a:p>
        </p:txBody>
      </p:sp>
      <p:sp>
        <p:nvSpPr>
          <p:cNvPr id="57" name="Google Shape;57;p2"/>
          <p:cNvSpPr/>
          <p:nvPr/>
        </p:nvSpPr>
        <p:spPr>
          <a:xfrm>
            <a:off x="347472" y="4133088"/>
            <a:ext cx="2048256" cy="182880"/>
          </a:xfrm>
          <a:prstGeom prst="rect">
            <a:avLst/>
          </a:prstGeom>
          <a:solidFill>
            <a:srgbClr val="EEF3F9"/>
          </a:solidFill>
          <a:ln cap="flat" cmpd="sng" w="12700">
            <a:solidFill>
              <a:srgbClr val="C8D5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2"/>
          <p:cNvSpPr/>
          <p:nvPr/>
        </p:nvSpPr>
        <p:spPr>
          <a:xfrm>
            <a:off x="438912" y="4142232"/>
            <a:ext cx="1865376" cy="1645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07080"/>
              </a:buClr>
              <a:buSzPts val="750"/>
              <a:buFont typeface="Calibri"/>
              <a:buNone/>
            </a:pPr>
            <a:r>
              <a:rPr lang="en-US" sz="750">
                <a:solidFill>
                  <a:srgbClr val="607080"/>
                </a:solidFill>
                <a:latin typeface="Calibri"/>
                <a:ea typeface="Calibri"/>
                <a:cs typeface="Calibri"/>
                <a:sym typeface="Calibri"/>
              </a:rPr>
              <a:t>Source: Gartner Data Sovereignty 2025</a:t>
            </a:r>
            <a:endParaRPr sz="750">
              <a:solidFill>
                <a:schemeClr val="dk1"/>
              </a:solidFill>
              <a:latin typeface="Calibri"/>
              <a:ea typeface="Calibri"/>
              <a:cs typeface="Calibri"/>
              <a:sym typeface="Calibri"/>
            </a:endParaRPr>
          </a:p>
        </p:txBody>
      </p:sp>
      <p:sp>
        <p:nvSpPr>
          <p:cNvPr id="59" name="Google Shape;59;p2"/>
          <p:cNvSpPr/>
          <p:nvPr/>
        </p:nvSpPr>
        <p:spPr>
          <a:xfrm>
            <a:off x="2496312" y="1572768"/>
            <a:ext cx="2048256" cy="2743200"/>
          </a:xfrm>
          <a:prstGeom prst="rect">
            <a:avLst/>
          </a:prstGeom>
          <a:solidFill>
            <a:srgbClr val="FFFFFF"/>
          </a:solidFill>
          <a:ln cap="flat" cmpd="sng" w="12700">
            <a:solidFill>
              <a:srgbClr val="C8D5E4"/>
            </a:solidFill>
            <a:prstDash val="solid"/>
            <a:round/>
            <a:headEnd len="sm" w="sm" type="none"/>
            <a:tailEnd len="sm" w="sm" type="none"/>
          </a:ln>
          <a:effectLst>
            <a:outerShdw blurRad="152400" rotWithShape="0" algn="bl" dir="8100000" dist="381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2"/>
          <p:cNvSpPr/>
          <p:nvPr/>
        </p:nvSpPr>
        <p:spPr>
          <a:xfrm>
            <a:off x="2496312" y="1572768"/>
            <a:ext cx="2048256" cy="566928"/>
          </a:xfrm>
          <a:prstGeom prst="rect">
            <a:avLst/>
          </a:prstGeom>
          <a:solidFill>
            <a:srgbClr val="1A4A8A"/>
          </a:solidFill>
          <a:ln cap="flat" cmpd="sng" w="12700">
            <a:solidFill>
              <a:srgbClr val="1A4A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2"/>
          <p:cNvSpPr/>
          <p:nvPr/>
        </p:nvSpPr>
        <p:spPr>
          <a:xfrm>
            <a:off x="2496312" y="1627632"/>
            <a:ext cx="2048256" cy="51206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800"/>
              <a:buFont typeface="Georgia"/>
              <a:buNone/>
            </a:pPr>
            <a:r>
              <a:rPr b="1" lang="en-US" sz="2800">
                <a:solidFill>
                  <a:srgbClr val="FFFFFF"/>
                </a:solidFill>
                <a:latin typeface="Georgia"/>
                <a:ea typeface="Georgia"/>
                <a:cs typeface="Georgia"/>
                <a:sym typeface="Georgia"/>
              </a:rPr>
              <a:t>42</a:t>
            </a:r>
            <a:endParaRPr sz="2800">
              <a:solidFill>
                <a:schemeClr val="dk1"/>
              </a:solidFill>
              <a:latin typeface="Calibri"/>
              <a:ea typeface="Calibri"/>
              <a:cs typeface="Calibri"/>
              <a:sym typeface="Calibri"/>
            </a:endParaRPr>
          </a:p>
        </p:txBody>
      </p:sp>
      <p:sp>
        <p:nvSpPr>
          <p:cNvPr id="62" name="Google Shape;62;p2"/>
          <p:cNvSpPr/>
          <p:nvPr/>
        </p:nvSpPr>
        <p:spPr>
          <a:xfrm>
            <a:off x="2606040" y="2231136"/>
            <a:ext cx="1828800" cy="186537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050"/>
              <a:buFont typeface="Calibri"/>
              <a:buNone/>
            </a:pPr>
            <a:r>
              <a:rPr lang="en-US" sz="1050">
                <a:solidFill>
                  <a:srgbClr val="334155"/>
                </a:solidFill>
                <a:latin typeface="Calibri"/>
                <a:ea typeface="Calibri"/>
                <a:cs typeface="Calibri"/>
                <a:sym typeface="Calibri"/>
              </a:rPr>
              <a:t>countries have enacted or are actively legislating AI-specific data residency or localisation laws as of Q1 2025</a:t>
            </a:r>
            <a:endParaRPr sz="1050">
              <a:solidFill>
                <a:schemeClr val="dk1"/>
              </a:solidFill>
              <a:latin typeface="Calibri"/>
              <a:ea typeface="Calibri"/>
              <a:cs typeface="Calibri"/>
              <a:sym typeface="Calibri"/>
            </a:endParaRPr>
          </a:p>
        </p:txBody>
      </p:sp>
      <p:sp>
        <p:nvSpPr>
          <p:cNvPr id="63" name="Google Shape;63;p2"/>
          <p:cNvSpPr/>
          <p:nvPr/>
        </p:nvSpPr>
        <p:spPr>
          <a:xfrm>
            <a:off x="2496312" y="4133088"/>
            <a:ext cx="2048256" cy="182880"/>
          </a:xfrm>
          <a:prstGeom prst="rect">
            <a:avLst/>
          </a:prstGeom>
          <a:solidFill>
            <a:srgbClr val="EEF3F9"/>
          </a:solidFill>
          <a:ln cap="flat" cmpd="sng" w="12700">
            <a:solidFill>
              <a:srgbClr val="C8D5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2"/>
          <p:cNvSpPr/>
          <p:nvPr/>
        </p:nvSpPr>
        <p:spPr>
          <a:xfrm>
            <a:off x="2587752" y="4142232"/>
            <a:ext cx="1865376" cy="1645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07080"/>
              </a:buClr>
              <a:buSzPts val="750"/>
              <a:buFont typeface="Calibri"/>
              <a:buNone/>
            </a:pPr>
            <a:r>
              <a:rPr lang="en-US" sz="750">
                <a:solidFill>
                  <a:srgbClr val="607080"/>
                </a:solidFill>
                <a:latin typeface="Calibri"/>
                <a:ea typeface="Calibri"/>
                <a:cs typeface="Calibri"/>
                <a:sym typeface="Calibri"/>
              </a:rPr>
              <a:t>Source: OECD AI Policy Observatory</a:t>
            </a:r>
            <a:endParaRPr sz="750">
              <a:solidFill>
                <a:schemeClr val="dk1"/>
              </a:solidFill>
              <a:latin typeface="Calibri"/>
              <a:ea typeface="Calibri"/>
              <a:cs typeface="Calibri"/>
              <a:sym typeface="Calibri"/>
            </a:endParaRPr>
          </a:p>
        </p:txBody>
      </p:sp>
      <p:sp>
        <p:nvSpPr>
          <p:cNvPr id="65" name="Google Shape;65;p2"/>
          <p:cNvSpPr/>
          <p:nvPr/>
        </p:nvSpPr>
        <p:spPr>
          <a:xfrm>
            <a:off x="4645152" y="1572768"/>
            <a:ext cx="2048256" cy="2743200"/>
          </a:xfrm>
          <a:prstGeom prst="rect">
            <a:avLst/>
          </a:prstGeom>
          <a:solidFill>
            <a:srgbClr val="FFFFFF"/>
          </a:solidFill>
          <a:ln cap="flat" cmpd="sng" w="12700">
            <a:solidFill>
              <a:srgbClr val="C8D5E4"/>
            </a:solidFill>
            <a:prstDash val="solid"/>
            <a:round/>
            <a:headEnd len="sm" w="sm" type="none"/>
            <a:tailEnd len="sm" w="sm" type="none"/>
          </a:ln>
          <a:effectLst>
            <a:outerShdw blurRad="152400" rotWithShape="0" algn="bl" dir="8100000" dist="381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2"/>
          <p:cNvSpPr/>
          <p:nvPr/>
        </p:nvSpPr>
        <p:spPr>
          <a:xfrm>
            <a:off x="4645152" y="1572768"/>
            <a:ext cx="2048256" cy="566928"/>
          </a:xfrm>
          <a:prstGeom prst="rect">
            <a:avLst/>
          </a:prstGeom>
          <a:solidFill>
            <a:srgbClr val="0A7A72"/>
          </a:solidFill>
          <a:ln cap="flat" cmpd="sng" w="12700">
            <a:solidFill>
              <a:srgbClr val="0A7A7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2"/>
          <p:cNvSpPr/>
          <p:nvPr/>
        </p:nvSpPr>
        <p:spPr>
          <a:xfrm>
            <a:off x="4645152" y="1627632"/>
            <a:ext cx="2048256" cy="51206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800"/>
              <a:buFont typeface="Georgia"/>
              <a:buNone/>
            </a:pPr>
            <a:r>
              <a:rPr b="1" lang="en-US" sz="2800">
                <a:solidFill>
                  <a:srgbClr val="FFFFFF"/>
                </a:solidFill>
                <a:latin typeface="Georgia"/>
                <a:ea typeface="Georgia"/>
                <a:cs typeface="Georgia"/>
                <a:sym typeface="Georgia"/>
              </a:rPr>
              <a:t>$5.1B</a:t>
            </a:r>
            <a:endParaRPr sz="2800">
              <a:solidFill>
                <a:schemeClr val="dk1"/>
              </a:solidFill>
              <a:latin typeface="Calibri"/>
              <a:ea typeface="Calibri"/>
              <a:cs typeface="Calibri"/>
              <a:sym typeface="Calibri"/>
            </a:endParaRPr>
          </a:p>
        </p:txBody>
      </p:sp>
      <p:sp>
        <p:nvSpPr>
          <p:cNvPr id="68" name="Google Shape;68;p2"/>
          <p:cNvSpPr/>
          <p:nvPr/>
        </p:nvSpPr>
        <p:spPr>
          <a:xfrm>
            <a:off x="4754880" y="2231136"/>
            <a:ext cx="1828800" cy="186537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050"/>
              <a:buFont typeface="Calibri"/>
              <a:buNone/>
            </a:pPr>
            <a:r>
              <a:rPr lang="en-US" sz="1050">
                <a:solidFill>
                  <a:srgbClr val="334155"/>
                </a:solidFill>
                <a:latin typeface="Calibri"/>
                <a:ea typeface="Calibri"/>
                <a:cs typeface="Calibri"/>
                <a:sym typeface="Calibri"/>
              </a:rPr>
              <a:t>projected compliance cost for global enterprises to retrofit AI infrastructure for data residency requirements by 2027</a:t>
            </a:r>
            <a:endParaRPr sz="1050">
              <a:solidFill>
                <a:schemeClr val="dk1"/>
              </a:solidFill>
              <a:latin typeface="Calibri"/>
              <a:ea typeface="Calibri"/>
              <a:cs typeface="Calibri"/>
              <a:sym typeface="Calibri"/>
            </a:endParaRPr>
          </a:p>
        </p:txBody>
      </p:sp>
      <p:sp>
        <p:nvSpPr>
          <p:cNvPr id="69" name="Google Shape;69;p2"/>
          <p:cNvSpPr/>
          <p:nvPr/>
        </p:nvSpPr>
        <p:spPr>
          <a:xfrm>
            <a:off x="4645152" y="4133088"/>
            <a:ext cx="2048256" cy="182880"/>
          </a:xfrm>
          <a:prstGeom prst="rect">
            <a:avLst/>
          </a:prstGeom>
          <a:solidFill>
            <a:srgbClr val="EEF3F9"/>
          </a:solidFill>
          <a:ln cap="flat" cmpd="sng" w="12700">
            <a:solidFill>
              <a:srgbClr val="C8D5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2"/>
          <p:cNvSpPr/>
          <p:nvPr/>
        </p:nvSpPr>
        <p:spPr>
          <a:xfrm>
            <a:off x="4736592" y="4142232"/>
            <a:ext cx="1865376" cy="1645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07080"/>
              </a:buClr>
              <a:buSzPts val="750"/>
              <a:buFont typeface="Calibri"/>
              <a:buNone/>
            </a:pPr>
            <a:r>
              <a:rPr lang="en-US" sz="750">
                <a:solidFill>
                  <a:srgbClr val="607080"/>
                </a:solidFill>
                <a:latin typeface="Calibri"/>
                <a:ea typeface="Calibri"/>
                <a:cs typeface="Calibri"/>
                <a:sym typeface="Calibri"/>
              </a:rPr>
              <a:t>Source: IDC Sovereign AI Forecast 2025</a:t>
            </a:r>
            <a:endParaRPr sz="750">
              <a:solidFill>
                <a:schemeClr val="dk1"/>
              </a:solidFill>
              <a:latin typeface="Calibri"/>
              <a:ea typeface="Calibri"/>
              <a:cs typeface="Calibri"/>
              <a:sym typeface="Calibri"/>
            </a:endParaRPr>
          </a:p>
        </p:txBody>
      </p:sp>
      <p:sp>
        <p:nvSpPr>
          <p:cNvPr id="71" name="Google Shape;71;p2"/>
          <p:cNvSpPr/>
          <p:nvPr/>
        </p:nvSpPr>
        <p:spPr>
          <a:xfrm>
            <a:off x="6793992" y="1572768"/>
            <a:ext cx="2048256" cy="2743200"/>
          </a:xfrm>
          <a:prstGeom prst="rect">
            <a:avLst/>
          </a:prstGeom>
          <a:solidFill>
            <a:srgbClr val="FFFFFF"/>
          </a:solidFill>
          <a:ln cap="flat" cmpd="sng" w="12700">
            <a:solidFill>
              <a:srgbClr val="C8D5E4"/>
            </a:solidFill>
            <a:prstDash val="solid"/>
            <a:round/>
            <a:headEnd len="sm" w="sm" type="none"/>
            <a:tailEnd len="sm" w="sm" type="none"/>
          </a:ln>
          <a:effectLst>
            <a:outerShdw blurRad="152400" rotWithShape="0" algn="bl" dir="8100000" dist="381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2"/>
          <p:cNvSpPr/>
          <p:nvPr/>
        </p:nvSpPr>
        <p:spPr>
          <a:xfrm>
            <a:off x="6793992" y="1572768"/>
            <a:ext cx="2048256" cy="566928"/>
          </a:xfrm>
          <a:prstGeom prst="rect">
            <a:avLst/>
          </a:prstGeom>
          <a:solidFill>
            <a:srgbClr val="A0511A"/>
          </a:solidFill>
          <a:ln cap="flat" cmpd="sng" w="12700">
            <a:solidFill>
              <a:srgbClr val="A051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2"/>
          <p:cNvSpPr/>
          <p:nvPr/>
        </p:nvSpPr>
        <p:spPr>
          <a:xfrm>
            <a:off x="6793992" y="1627632"/>
            <a:ext cx="2048256" cy="51206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800"/>
              <a:buFont typeface="Georgia"/>
              <a:buNone/>
            </a:pPr>
            <a:r>
              <a:rPr b="1" lang="en-US" sz="2800">
                <a:solidFill>
                  <a:srgbClr val="FFFFFF"/>
                </a:solidFill>
                <a:latin typeface="Georgia"/>
                <a:ea typeface="Georgia"/>
                <a:cs typeface="Georgia"/>
                <a:sym typeface="Georgia"/>
              </a:rPr>
              <a:t>2026</a:t>
            </a:r>
            <a:endParaRPr sz="2800">
              <a:solidFill>
                <a:schemeClr val="dk1"/>
              </a:solidFill>
              <a:latin typeface="Calibri"/>
              <a:ea typeface="Calibri"/>
              <a:cs typeface="Calibri"/>
              <a:sym typeface="Calibri"/>
            </a:endParaRPr>
          </a:p>
        </p:txBody>
      </p:sp>
      <p:sp>
        <p:nvSpPr>
          <p:cNvPr id="74" name="Google Shape;74;p2"/>
          <p:cNvSpPr/>
          <p:nvPr/>
        </p:nvSpPr>
        <p:spPr>
          <a:xfrm>
            <a:off x="6903720" y="2231136"/>
            <a:ext cx="1828800" cy="186537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050"/>
              <a:buFont typeface="Calibri"/>
              <a:buNone/>
            </a:pPr>
            <a:r>
              <a:rPr lang="en-US" sz="1050">
                <a:solidFill>
                  <a:srgbClr val="334155"/>
                </a:solidFill>
                <a:latin typeface="Calibri"/>
                <a:ea typeface="Calibri"/>
                <a:cs typeface="Calibri"/>
                <a:sym typeface="Calibri"/>
              </a:rPr>
              <a:t>the critical deadline by which EU AI Act tiered requirements, India DPDP enforcement, and ASEAN Model Framework provisions fully activate</a:t>
            </a:r>
            <a:endParaRPr sz="1050">
              <a:solidFill>
                <a:schemeClr val="dk1"/>
              </a:solidFill>
              <a:latin typeface="Calibri"/>
              <a:ea typeface="Calibri"/>
              <a:cs typeface="Calibri"/>
              <a:sym typeface="Calibri"/>
            </a:endParaRPr>
          </a:p>
        </p:txBody>
      </p:sp>
      <p:sp>
        <p:nvSpPr>
          <p:cNvPr id="75" name="Google Shape;75;p2"/>
          <p:cNvSpPr/>
          <p:nvPr/>
        </p:nvSpPr>
        <p:spPr>
          <a:xfrm>
            <a:off x="6793992" y="4133088"/>
            <a:ext cx="2048256" cy="182880"/>
          </a:xfrm>
          <a:prstGeom prst="rect">
            <a:avLst/>
          </a:prstGeom>
          <a:solidFill>
            <a:srgbClr val="EEF3F9"/>
          </a:solidFill>
          <a:ln cap="flat" cmpd="sng" w="12700">
            <a:solidFill>
              <a:srgbClr val="C8D5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2"/>
          <p:cNvSpPr/>
          <p:nvPr/>
        </p:nvSpPr>
        <p:spPr>
          <a:xfrm>
            <a:off x="6885432" y="4142232"/>
            <a:ext cx="1865376" cy="1645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07080"/>
              </a:buClr>
              <a:buSzPts val="750"/>
              <a:buFont typeface="Calibri"/>
              <a:buNone/>
            </a:pPr>
            <a:r>
              <a:rPr lang="en-US" sz="750">
                <a:solidFill>
                  <a:srgbClr val="607080"/>
                </a:solidFill>
                <a:latin typeface="Calibri"/>
                <a:ea typeface="Calibri"/>
                <a:cs typeface="Calibri"/>
                <a:sym typeface="Calibri"/>
              </a:rPr>
              <a:t>Source: Multiple Regulatory Sources</a:t>
            </a:r>
            <a:endParaRPr sz="750">
              <a:solidFill>
                <a:schemeClr val="dk1"/>
              </a:solidFill>
              <a:latin typeface="Calibri"/>
              <a:ea typeface="Calibri"/>
              <a:cs typeface="Calibri"/>
              <a:sym typeface="Calibri"/>
            </a:endParaRPr>
          </a:p>
        </p:txBody>
      </p:sp>
      <p:sp>
        <p:nvSpPr>
          <p:cNvPr id="77" name="Google Shape;77;p2"/>
          <p:cNvSpPr/>
          <p:nvPr/>
        </p:nvSpPr>
        <p:spPr>
          <a:xfrm>
            <a:off x="0" y="4818888"/>
            <a:ext cx="9144000" cy="324612"/>
          </a:xfrm>
          <a:prstGeom prst="rect">
            <a:avLst/>
          </a:prstGeom>
          <a:solidFill>
            <a:srgbClr val="0B1829"/>
          </a:solidFill>
          <a:ln cap="flat" cmpd="sng" w="12700">
            <a:solidFill>
              <a:srgbClr val="0B182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2"/>
          <p:cNvSpPr/>
          <p:nvPr/>
        </p:nvSpPr>
        <p:spPr>
          <a:xfrm>
            <a:off x="0" y="4826203"/>
            <a:ext cx="9144000" cy="30175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AAAC8"/>
              </a:buClr>
              <a:buSzPts val="850"/>
              <a:buFont typeface="Calibri"/>
              <a:buNone/>
            </a:pPr>
            <a:r>
              <a:rPr lang="en-US" sz="850">
                <a:solidFill>
                  <a:srgbClr val="7AAAC8"/>
                </a:solidFill>
                <a:latin typeface="Calibri"/>
                <a:ea typeface="Calibri"/>
                <a:cs typeface="Calibri"/>
                <a:sym typeface="Calibri"/>
              </a:rPr>
              <a:t>Accredian is a leading Indian institution specializing in AI, Data Science, and Management research and education.  •  Visit us at: </a:t>
            </a:r>
            <a:r>
              <a:rPr lang="en-US" sz="850" u="sng">
                <a:solidFill>
                  <a:schemeClr val="hlink"/>
                </a:solidFill>
                <a:latin typeface="Calibri"/>
                <a:ea typeface="Calibri"/>
                <a:cs typeface="Calibri"/>
                <a:sym typeface="Calibri"/>
                <a:hlinkClick r:id="rId3"/>
              </a:rPr>
              <a:t>https://accredian.com</a:t>
            </a:r>
            <a:endParaRPr sz="85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3" name="Shape 83"/>
        <p:cNvGrpSpPr/>
        <p:nvPr/>
      </p:nvGrpSpPr>
      <p:grpSpPr>
        <a:xfrm>
          <a:off x="0" y="0"/>
          <a:ext cx="0" cy="0"/>
          <a:chOff x="0" y="0"/>
          <a:chExt cx="0" cy="0"/>
        </a:xfrm>
      </p:grpSpPr>
      <p:sp>
        <p:nvSpPr>
          <p:cNvPr id="84" name="Google Shape;84;p3"/>
          <p:cNvSpPr/>
          <p:nvPr/>
        </p:nvSpPr>
        <p:spPr>
          <a:xfrm>
            <a:off x="0" y="0"/>
            <a:ext cx="2834640" cy="5143500"/>
          </a:xfrm>
          <a:prstGeom prst="rect">
            <a:avLst/>
          </a:prstGeom>
          <a:solidFill>
            <a:srgbClr val="0B1829"/>
          </a:solidFill>
          <a:ln cap="flat" cmpd="sng" w="12700">
            <a:solidFill>
              <a:srgbClr val="0B182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3"/>
          <p:cNvSpPr/>
          <p:nvPr/>
        </p:nvSpPr>
        <p:spPr>
          <a:xfrm>
            <a:off x="2834640" y="0"/>
            <a:ext cx="54864" cy="5143500"/>
          </a:xfrm>
          <a:prstGeom prst="rect">
            <a:avLst/>
          </a:prstGeom>
          <a:solidFill>
            <a:srgbClr val="1A4A8A"/>
          </a:solidFill>
          <a:ln cap="flat" cmpd="sng" w="12700">
            <a:solidFill>
              <a:srgbClr val="1A4A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3"/>
          <p:cNvSpPr/>
          <p:nvPr/>
        </p:nvSpPr>
        <p:spPr>
          <a:xfrm>
            <a:off x="228600" y="237744"/>
            <a:ext cx="2377440" cy="237744"/>
          </a:xfrm>
          <a:prstGeom prst="rect">
            <a:avLst/>
          </a:prstGeom>
          <a:solidFill>
            <a:srgbClr val="1A4A8A"/>
          </a:solidFill>
          <a:ln cap="flat" cmpd="sng" w="12700">
            <a:solidFill>
              <a:srgbClr val="1A4A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3"/>
          <p:cNvSpPr/>
          <p:nvPr/>
        </p:nvSpPr>
        <p:spPr>
          <a:xfrm>
            <a:off x="228600" y="237744"/>
            <a:ext cx="2377440"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alibri"/>
              <a:buNone/>
            </a:pPr>
            <a:r>
              <a:rPr b="1" lang="en-US" sz="850">
                <a:solidFill>
                  <a:srgbClr val="FFFFFF"/>
                </a:solidFill>
                <a:latin typeface="Calibri"/>
                <a:ea typeface="Calibri"/>
                <a:cs typeface="Calibri"/>
                <a:sym typeface="Calibri"/>
              </a:rPr>
              <a:t>02 / 07</a:t>
            </a:r>
            <a:endParaRPr sz="850">
              <a:solidFill>
                <a:schemeClr val="dk1"/>
              </a:solidFill>
              <a:latin typeface="Calibri"/>
              <a:ea typeface="Calibri"/>
              <a:cs typeface="Calibri"/>
              <a:sym typeface="Calibri"/>
            </a:endParaRPr>
          </a:p>
        </p:txBody>
      </p:sp>
      <p:sp>
        <p:nvSpPr>
          <p:cNvPr id="88" name="Google Shape;88;p3"/>
          <p:cNvSpPr/>
          <p:nvPr/>
        </p:nvSpPr>
        <p:spPr>
          <a:xfrm>
            <a:off x="256032" y="621792"/>
            <a:ext cx="2359152" cy="2560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2000"/>
              <a:buFont typeface="Georgia"/>
              <a:buNone/>
            </a:pPr>
            <a:r>
              <a:rPr b="1" lang="en-US" sz="2000">
                <a:solidFill>
                  <a:srgbClr val="FFFFFF"/>
                </a:solidFill>
                <a:latin typeface="Georgia"/>
                <a:ea typeface="Georgia"/>
                <a:cs typeface="Georgia"/>
                <a:sym typeface="Georgia"/>
              </a:rPr>
              <a:t>What Is</a:t>
            </a:r>
            <a:endParaRPr sz="2000">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2000"/>
              <a:buFont typeface="Georgia"/>
              <a:buNone/>
            </a:pPr>
            <a:r>
              <a:rPr b="1" lang="en-US" sz="2000">
                <a:solidFill>
                  <a:srgbClr val="FFFFFF"/>
                </a:solidFill>
                <a:latin typeface="Georgia"/>
                <a:ea typeface="Georgia"/>
                <a:cs typeface="Georgia"/>
                <a:sym typeface="Georgia"/>
              </a:rPr>
              <a:t>Sovereign AI</a:t>
            </a:r>
            <a:endParaRPr sz="2000">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2000"/>
              <a:buFont typeface="Georgia"/>
              <a:buNone/>
            </a:pPr>
            <a:r>
              <a:rPr b="1" lang="en-US" sz="2000">
                <a:solidFill>
                  <a:srgbClr val="FFFFFF"/>
                </a:solidFill>
                <a:latin typeface="Georgia"/>
                <a:ea typeface="Georgia"/>
                <a:cs typeface="Georgia"/>
                <a:sym typeface="Georgia"/>
              </a:rPr>
              <a:t>— and Why</a:t>
            </a:r>
            <a:endParaRPr sz="2000">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2000"/>
              <a:buFont typeface="Georgia"/>
              <a:buNone/>
            </a:pPr>
            <a:r>
              <a:rPr b="1" lang="en-US" sz="2000">
                <a:solidFill>
                  <a:srgbClr val="FFFFFF"/>
                </a:solidFill>
                <a:latin typeface="Georgia"/>
                <a:ea typeface="Georgia"/>
                <a:cs typeface="Georgia"/>
                <a:sym typeface="Georgia"/>
              </a:rPr>
              <a:t>It Is No</a:t>
            </a:r>
            <a:endParaRPr sz="2000">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2000"/>
              <a:buFont typeface="Georgia"/>
              <a:buNone/>
            </a:pPr>
            <a:r>
              <a:rPr b="1" lang="en-US" sz="2000">
                <a:solidFill>
                  <a:srgbClr val="FFFFFF"/>
                </a:solidFill>
                <a:latin typeface="Georgia"/>
                <a:ea typeface="Georgia"/>
                <a:cs typeface="Georgia"/>
                <a:sym typeface="Georgia"/>
              </a:rPr>
              <a:t>Longer Optional</a:t>
            </a:r>
            <a:endParaRPr sz="2000">
              <a:solidFill>
                <a:schemeClr val="dk1"/>
              </a:solidFill>
              <a:latin typeface="Calibri"/>
              <a:ea typeface="Calibri"/>
              <a:cs typeface="Calibri"/>
              <a:sym typeface="Calibri"/>
            </a:endParaRPr>
          </a:p>
        </p:txBody>
      </p:sp>
      <p:sp>
        <p:nvSpPr>
          <p:cNvPr id="89" name="Google Shape;89;p3"/>
          <p:cNvSpPr/>
          <p:nvPr/>
        </p:nvSpPr>
        <p:spPr>
          <a:xfrm>
            <a:off x="228600" y="3218688"/>
            <a:ext cx="2395728" cy="1316736"/>
          </a:xfrm>
          <a:prstGeom prst="rect">
            <a:avLst/>
          </a:prstGeom>
          <a:solidFill>
            <a:srgbClr val="090F1A"/>
          </a:solidFill>
          <a:ln cap="flat" cmpd="sng" w="12700">
            <a:solidFill>
              <a:srgbClr val="1A4A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3"/>
          <p:cNvSpPr/>
          <p:nvPr/>
        </p:nvSpPr>
        <p:spPr>
          <a:xfrm>
            <a:off x="310896" y="3291840"/>
            <a:ext cx="2231136" cy="11338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ABDE0"/>
              </a:buClr>
              <a:buSzPts val="950"/>
              <a:buFont typeface="Calibri"/>
              <a:buNone/>
            </a:pPr>
            <a:r>
              <a:rPr i="1" lang="en-US" sz="950">
                <a:solidFill>
                  <a:srgbClr val="9ABDE0"/>
                </a:solidFill>
                <a:latin typeface="Calibri"/>
                <a:ea typeface="Calibri"/>
                <a:cs typeface="Calibri"/>
                <a:sym typeface="Calibri"/>
              </a:rPr>
              <a:t>“Sovereign AI is not a preference. By 2026, it will be a legal requirement in markets representing more than 60% of global GDP. Companies that treat it as optional are accumulating regulatory debt at compound interest.”</a:t>
            </a:r>
            <a:endParaRPr sz="950">
              <a:solidFill>
                <a:schemeClr val="dk1"/>
              </a:solidFill>
              <a:latin typeface="Calibri"/>
              <a:ea typeface="Calibri"/>
              <a:cs typeface="Calibri"/>
              <a:sym typeface="Calibri"/>
            </a:endParaRPr>
          </a:p>
        </p:txBody>
      </p:sp>
      <p:sp>
        <p:nvSpPr>
          <p:cNvPr id="91" name="Google Shape;91;p3"/>
          <p:cNvSpPr/>
          <p:nvPr/>
        </p:nvSpPr>
        <p:spPr>
          <a:xfrm>
            <a:off x="3063240" y="256032"/>
            <a:ext cx="580644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829"/>
              </a:buClr>
              <a:buSzPts val="1900"/>
              <a:buFont typeface="Georgia"/>
              <a:buNone/>
            </a:pPr>
            <a:r>
              <a:rPr b="1" lang="en-US" sz="1900">
                <a:solidFill>
                  <a:srgbClr val="0B1829"/>
                </a:solidFill>
                <a:latin typeface="Georgia"/>
                <a:ea typeface="Georgia"/>
                <a:cs typeface="Georgia"/>
                <a:sym typeface="Georgia"/>
              </a:rPr>
              <a:t>A Precise Definition</a:t>
            </a:r>
            <a:endParaRPr sz="1900">
              <a:solidFill>
                <a:schemeClr val="dk1"/>
              </a:solidFill>
              <a:latin typeface="Calibri"/>
              <a:ea typeface="Calibri"/>
              <a:cs typeface="Calibri"/>
              <a:sym typeface="Calibri"/>
            </a:endParaRPr>
          </a:p>
        </p:txBody>
      </p:sp>
      <p:sp>
        <p:nvSpPr>
          <p:cNvPr id="92" name="Google Shape;92;p3"/>
          <p:cNvSpPr/>
          <p:nvPr/>
        </p:nvSpPr>
        <p:spPr>
          <a:xfrm>
            <a:off x="3063240" y="676656"/>
            <a:ext cx="5806440"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200"/>
              <a:buFont typeface="Calibri"/>
              <a:buNone/>
            </a:pPr>
            <a:r>
              <a:rPr lang="en-US" sz="1200">
                <a:solidFill>
                  <a:srgbClr val="334155"/>
                </a:solidFill>
                <a:latin typeface="Calibri"/>
                <a:ea typeface="Calibri"/>
                <a:cs typeface="Calibri"/>
                <a:sym typeface="Calibri"/>
              </a:rPr>
              <a:t>Sovereign AI refers to the set of practices, infrastructure choices, and governance frameworks that ensure AI systems — including their training data, model weights, inference compute, and outputs — operate within the legal and geographic jurisdiction specified by applicable law and organisational policy.</a:t>
            </a:r>
            <a:endParaRPr sz="1200">
              <a:solidFill>
                <a:schemeClr val="dk1"/>
              </a:solidFill>
              <a:latin typeface="Calibri"/>
              <a:ea typeface="Calibri"/>
              <a:cs typeface="Calibri"/>
              <a:sym typeface="Calibri"/>
            </a:endParaRPr>
          </a:p>
        </p:txBody>
      </p:sp>
      <p:sp>
        <p:nvSpPr>
          <p:cNvPr id="93" name="Google Shape;93;p3"/>
          <p:cNvSpPr/>
          <p:nvPr/>
        </p:nvSpPr>
        <p:spPr>
          <a:xfrm>
            <a:off x="3063240" y="1280160"/>
            <a:ext cx="58064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829"/>
              </a:buClr>
              <a:buSzPts val="1350"/>
              <a:buFont typeface="Calibri"/>
              <a:buNone/>
            </a:pPr>
            <a:r>
              <a:rPr b="1" lang="en-US" sz="1350">
                <a:solidFill>
                  <a:srgbClr val="0B1829"/>
                </a:solidFill>
                <a:latin typeface="Calibri"/>
                <a:ea typeface="Calibri"/>
                <a:cs typeface="Calibri"/>
                <a:sym typeface="Calibri"/>
              </a:rPr>
              <a:t>Three Dimensions of Sovereignty</a:t>
            </a:r>
            <a:endParaRPr sz="1350">
              <a:solidFill>
                <a:schemeClr val="dk1"/>
              </a:solidFill>
              <a:latin typeface="Calibri"/>
              <a:ea typeface="Calibri"/>
              <a:cs typeface="Calibri"/>
              <a:sym typeface="Calibri"/>
            </a:endParaRPr>
          </a:p>
        </p:txBody>
      </p:sp>
      <p:sp>
        <p:nvSpPr>
          <p:cNvPr id="94" name="Google Shape;94;p3"/>
          <p:cNvSpPr/>
          <p:nvPr/>
        </p:nvSpPr>
        <p:spPr>
          <a:xfrm>
            <a:off x="3063240" y="1627632"/>
            <a:ext cx="5806440" cy="877824"/>
          </a:xfrm>
          <a:prstGeom prst="rect">
            <a:avLst/>
          </a:prstGeom>
          <a:solidFill>
            <a:srgbClr val="EEF3F9"/>
          </a:solidFill>
          <a:ln cap="flat" cmpd="sng" w="12700">
            <a:solidFill>
              <a:srgbClr val="C8D5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3"/>
          <p:cNvSpPr/>
          <p:nvPr/>
        </p:nvSpPr>
        <p:spPr>
          <a:xfrm>
            <a:off x="3063240" y="1627632"/>
            <a:ext cx="329184" cy="877824"/>
          </a:xfrm>
          <a:prstGeom prst="rect">
            <a:avLst/>
          </a:prstGeom>
          <a:solidFill>
            <a:srgbClr val="1A4A8A"/>
          </a:solidFill>
          <a:ln cap="flat" cmpd="sng" w="12700">
            <a:solidFill>
              <a:srgbClr val="1A4A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3"/>
          <p:cNvSpPr/>
          <p:nvPr/>
        </p:nvSpPr>
        <p:spPr>
          <a:xfrm>
            <a:off x="3063240" y="1627632"/>
            <a:ext cx="329184" cy="8778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Georgia"/>
              <a:buNone/>
            </a:pPr>
            <a:r>
              <a:rPr b="1" lang="en-US" sz="1100">
                <a:solidFill>
                  <a:srgbClr val="FFFFFF"/>
                </a:solidFill>
                <a:latin typeface="Georgia"/>
                <a:ea typeface="Georgia"/>
                <a:cs typeface="Georgia"/>
                <a:sym typeface="Georgia"/>
              </a:rPr>
              <a:t>01</a:t>
            </a:r>
            <a:endParaRPr sz="1100">
              <a:solidFill>
                <a:schemeClr val="dk1"/>
              </a:solidFill>
              <a:latin typeface="Calibri"/>
              <a:ea typeface="Calibri"/>
              <a:cs typeface="Calibri"/>
              <a:sym typeface="Calibri"/>
            </a:endParaRPr>
          </a:p>
        </p:txBody>
      </p:sp>
      <p:sp>
        <p:nvSpPr>
          <p:cNvPr id="97" name="Google Shape;97;p3"/>
          <p:cNvSpPr/>
          <p:nvPr/>
        </p:nvSpPr>
        <p:spPr>
          <a:xfrm>
            <a:off x="3493008" y="1719072"/>
            <a:ext cx="521208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829"/>
              </a:buClr>
              <a:buSzPts val="1150"/>
              <a:buFont typeface="Calibri"/>
              <a:buNone/>
            </a:pPr>
            <a:r>
              <a:rPr b="1" lang="en-US" sz="1150">
                <a:solidFill>
                  <a:srgbClr val="0B1829"/>
                </a:solidFill>
                <a:latin typeface="Calibri"/>
                <a:ea typeface="Calibri"/>
                <a:cs typeface="Calibri"/>
                <a:sym typeface="Calibri"/>
              </a:rPr>
              <a:t>Data Sovereignty</a:t>
            </a:r>
            <a:endParaRPr sz="1150">
              <a:solidFill>
                <a:schemeClr val="dk1"/>
              </a:solidFill>
              <a:latin typeface="Calibri"/>
              <a:ea typeface="Calibri"/>
              <a:cs typeface="Calibri"/>
              <a:sym typeface="Calibri"/>
            </a:endParaRPr>
          </a:p>
        </p:txBody>
      </p:sp>
      <p:sp>
        <p:nvSpPr>
          <p:cNvPr id="98" name="Google Shape;98;p3"/>
          <p:cNvSpPr/>
          <p:nvPr/>
        </p:nvSpPr>
        <p:spPr>
          <a:xfrm>
            <a:off x="3493008" y="1975104"/>
            <a:ext cx="521208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000"/>
              <a:buFont typeface="Calibri"/>
              <a:buNone/>
            </a:pPr>
            <a:r>
              <a:rPr lang="en-US" sz="1000">
                <a:solidFill>
                  <a:srgbClr val="334155"/>
                </a:solidFill>
                <a:latin typeface="Calibri"/>
                <a:ea typeface="Calibri"/>
                <a:cs typeface="Calibri"/>
                <a:sym typeface="Calibri"/>
              </a:rPr>
              <a:t>Training data, inference inputs, and model outputs must remain within defined geographic boundaries. Cross-border data flows require explicit legal basis and, in many jurisdictions, prior government approval.</a:t>
            </a:r>
            <a:endParaRPr sz="1000">
              <a:solidFill>
                <a:schemeClr val="dk1"/>
              </a:solidFill>
              <a:latin typeface="Calibri"/>
              <a:ea typeface="Calibri"/>
              <a:cs typeface="Calibri"/>
              <a:sym typeface="Calibri"/>
            </a:endParaRPr>
          </a:p>
        </p:txBody>
      </p:sp>
      <p:sp>
        <p:nvSpPr>
          <p:cNvPr id="99" name="Google Shape;99;p3"/>
          <p:cNvSpPr/>
          <p:nvPr/>
        </p:nvSpPr>
        <p:spPr>
          <a:xfrm>
            <a:off x="3063240" y="2578608"/>
            <a:ext cx="5806440" cy="877824"/>
          </a:xfrm>
          <a:prstGeom prst="rect">
            <a:avLst/>
          </a:prstGeom>
          <a:solidFill>
            <a:srgbClr val="EEF3F9"/>
          </a:solidFill>
          <a:ln cap="flat" cmpd="sng" w="12700">
            <a:solidFill>
              <a:srgbClr val="C8D5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3"/>
          <p:cNvSpPr/>
          <p:nvPr/>
        </p:nvSpPr>
        <p:spPr>
          <a:xfrm>
            <a:off x="3063240" y="2578608"/>
            <a:ext cx="329184" cy="877824"/>
          </a:xfrm>
          <a:prstGeom prst="rect">
            <a:avLst/>
          </a:prstGeom>
          <a:solidFill>
            <a:srgbClr val="0A7A72"/>
          </a:solidFill>
          <a:ln cap="flat" cmpd="sng" w="12700">
            <a:solidFill>
              <a:srgbClr val="0A7A7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3"/>
          <p:cNvSpPr/>
          <p:nvPr/>
        </p:nvSpPr>
        <p:spPr>
          <a:xfrm>
            <a:off x="3063240" y="2578608"/>
            <a:ext cx="329184" cy="8778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Georgia"/>
              <a:buNone/>
            </a:pPr>
            <a:r>
              <a:rPr b="1" lang="en-US" sz="1100">
                <a:solidFill>
                  <a:srgbClr val="FFFFFF"/>
                </a:solidFill>
                <a:latin typeface="Georgia"/>
                <a:ea typeface="Georgia"/>
                <a:cs typeface="Georgia"/>
                <a:sym typeface="Georgia"/>
              </a:rPr>
              <a:t>02</a:t>
            </a:r>
            <a:endParaRPr sz="1100">
              <a:solidFill>
                <a:schemeClr val="dk1"/>
              </a:solidFill>
              <a:latin typeface="Calibri"/>
              <a:ea typeface="Calibri"/>
              <a:cs typeface="Calibri"/>
              <a:sym typeface="Calibri"/>
            </a:endParaRPr>
          </a:p>
        </p:txBody>
      </p:sp>
      <p:sp>
        <p:nvSpPr>
          <p:cNvPr id="102" name="Google Shape;102;p3"/>
          <p:cNvSpPr/>
          <p:nvPr/>
        </p:nvSpPr>
        <p:spPr>
          <a:xfrm>
            <a:off x="3493008" y="2670048"/>
            <a:ext cx="521208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829"/>
              </a:buClr>
              <a:buSzPts val="1150"/>
              <a:buFont typeface="Calibri"/>
              <a:buNone/>
            </a:pPr>
            <a:r>
              <a:rPr b="1" lang="en-US" sz="1150">
                <a:solidFill>
                  <a:srgbClr val="0B1829"/>
                </a:solidFill>
                <a:latin typeface="Calibri"/>
                <a:ea typeface="Calibri"/>
                <a:cs typeface="Calibri"/>
                <a:sym typeface="Calibri"/>
              </a:rPr>
              <a:t>Model Sovereignty</a:t>
            </a:r>
            <a:endParaRPr sz="1150">
              <a:solidFill>
                <a:schemeClr val="dk1"/>
              </a:solidFill>
              <a:latin typeface="Calibri"/>
              <a:ea typeface="Calibri"/>
              <a:cs typeface="Calibri"/>
              <a:sym typeface="Calibri"/>
            </a:endParaRPr>
          </a:p>
        </p:txBody>
      </p:sp>
      <p:sp>
        <p:nvSpPr>
          <p:cNvPr id="103" name="Google Shape;103;p3"/>
          <p:cNvSpPr/>
          <p:nvPr/>
        </p:nvSpPr>
        <p:spPr>
          <a:xfrm>
            <a:off x="3493008" y="2926080"/>
            <a:ext cx="521208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000"/>
              <a:buFont typeface="Calibri"/>
              <a:buNone/>
            </a:pPr>
            <a:r>
              <a:rPr lang="en-US" sz="1000">
                <a:solidFill>
                  <a:srgbClr val="334155"/>
                </a:solidFill>
                <a:latin typeface="Calibri"/>
                <a:ea typeface="Calibri"/>
                <a:cs typeface="Calibri"/>
                <a:sym typeface="Calibri"/>
              </a:rPr>
              <a:t>The model weights themselves — including fine-tuned variants — may not leave national jurisdiction. Several laws now extend this to the compute used for inference: the hardware must be physically located within the country.</a:t>
            </a:r>
            <a:endParaRPr sz="1000">
              <a:solidFill>
                <a:schemeClr val="dk1"/>
              </a:solidFill>
              <a:latin typeface="Calibri"/>
              <a:ea typeface="Calibri"/>
              <a:cs typeface="Calibri"/>
              <a:sym typeface="Calibri"/>
            </a:endParaRPr>
          </a:p>
        </p:txBody>
      </p:sp>
      <p:sp>
        <p:nvSpPr>
          <p:cNvPr id="104" name="Google Shape;104;p3"/>
          <p:cNvSpPr/>
          <p:nvPr/>
        </p:nvSpPr>
        <p:spPr>
          <a:xfrm>
            <a:off x="3063240" y="3529584"/>
            <a:ext cx="5806440" cy="877824"/>
          </a:xfrm>
          <a:prstGeom prst="rect">
            <a:avLst/>
          </a:prstGeom>
          <a:solidFill>
            <a:srgbClr val="EEF3F9"/>
          </a:solidFill>
          <a:ln cap="flat" cmpd="sng" w="12700">
            <a:solidFill>
              <a:srgbClr val="C8D5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3"/>
          <p:cNvSpPr/>
          <p:nvPr/>
        </p:nvSpPr>
        <p:spPr>
          <a:xfrm>
            <a:off x="3063240" y="3529584"/>
            <a:ext cx="329184" cy="877824"/>
          </a:xfrm>
          <a:prstGeom prst="rect">
            <a:avLst/>
          </a:prstGeom>
          <a:solidFill>
            <a:srgbClr val="A0511A"/>
          </a:solidFill>
          <a:ln cap="flat" cmpd="sng" w="12700">
            <a:solidFill>
              <a:srgbClr val="A051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3"/>
          <p:cNvSpPr/>
          <p:nvPr/>
        </p:nvSpPr>
        <p:spPr>
          <a:xfrm>
            <a:off x="3063240" y="3529584"/>
            <a:ext cx="329184" cy="8778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Georgia"/>
              <a:buNone/>
            </a:pPr>
            <a:r>
              <a:rPr b="1" lang="en-US" sz="1100">
                <a:solidFill>
                  <a:srgbClr val="FFFFFF"/>
                </a:solidFill>
                <a:latin typeface="Georgia"/>
                <a:ea typeface="Georgia"/>
                <a:cs typeface="Georgia"/>
                <a:sym typeface="Georgia"/>
              </a:rPr>
              <a:t>03</a:t>
            </a:r>
            <a:endParaRPr sz="1100">
              <a:solidFill>
                <a:schemeClr val="dk1"/>
              </a:solidFill>
              <a:latin typeface="Calibri"/>
              <a:ea typeface="Calibri"/>
              <a:cs typeface="Calibri"/>
              <a:sym typeface="Calibri"/>
            </a:endParaRPr>
          </a:p>
        </p:txBody>
      </p:sp>
      <p:sp>
        <p:nvSpPr>
          <p:cNvPr id="107" name="Google Shape;107;p3"/>
          <p:cNvSpPr/>
          <p:nvPr/>
        </p:nvSpPr>
        <p:spPr>
          <a:xfrm>
            <a:off x="3493008" y="3621024"/>
            <a:ext cx="521208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829"/>
              </a:buClr>
              <a:buSzPts val="1150"/>
              <a:buFont typeface="Calibri"/>
              <a:buNone/>
            </a:pPr>
            <a:r>
              <a:rPr b="1" lang="en-US" sz="1150">
                <a:solidFill>
                  <a:srgbClr val="0B1829"/>
                </a:solidFill>
                <a:latin typeface="Calibri"/>
                <a:ea typeface="Calibri"/>
                <a:cs typeface="Calibri"/>
                <a:sym typeface="Calibri"/>
              </a:rPr>
              <a:t>Operational Sovereignty</a:t>
            </a:r>
            <a:endParaRPr sz="1150">
              <a:solidFill>
                <a:schemeClr val="dk1"/>
              </a:solidFill>
              <a:latin typeface="Calibri"/>
              <a:ea typeface="Calibri"/>
              <a:cs typeface="Calibri"/>
              <a:sym typeface="Calibri"/>
            </a:endParaRPr>
          </a:p>
        </p:txBody>
      </p:sp>
      <p:sp>
        <p:nvSpPr>
          <p:cNvPr id="108" name="Google Shape;108;p3"/>
          <p:cNvSpPr/>
          <p:nvPr/>
        </p:nvSpPr>
        <p:spPr>
          <a:xfrm>
            <a:off x="3493008" y="3877056"/>
            <a:ext cx="521208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000"/>
              <a:buFont typeface="Calibri"/>
              <a:buNone/>
            </a:pPr>
            <a:r>
              <a:rPr lang="en-US" sz="1000">
                <a:solidFill>
                  <a:srgbClr val="334155"/>
                </a:solidFill>
                <a:latin typeface="Calibri"/>
                <a:ea typeface="Calibri"/>
                <a:cs typeface="Calibri"/>
                <a:sym typeface="Calibri"/>
              </a:rPr>
              <a:t>Audit logs, model governance records, and incident reports must be stored locally and accessible to national regulators on demand. Operational control cannot be delegated to entities outside the jurisdiction.</a:t>
            </a:r>
            <a:endParaRPr sz="1000">
              <a:solidFill>
                <a:schemeClr val="dk1"/>
              </a:solidFill>
              <a:latin typeface="Calibri"/>
              <a:ea typeface="Calibri"/>
              <a:cs typeface="Calibri"/>
              <a:sym typeface="Calibri"/>
            </a:endParaRPr>
          </a:p>
        </p:txBody>
      </p:sp>
      <p:sp>
        <p:nvSpPr>
          <p:cNvPr id="109" name="Google Shape;109;p3"/>
          <p:cNvSpPr/>
          <p:nvPr/>
        </p:nvSpPr>
        <p:spPr>
          <a:xfrm>
            <a:off x="0" y="4818888"/>
            <a:ext cx="9144000" cy="324612"/>
          </a:xfrm>
          <a:prstGeom prst="rect">
            <a:avLst/>
          </a:prstGeom>
          <a:solidFill>
            <a:srgbClr val="0B1829"/>
          </a:solidFill>
          <a:ln cap="flat" cmpd="sng" w="12700">
            <a:solidFill>
              <a:srgbClr val="0B182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3"/>
          <p:cNvSpPr/>
          <p:nvPr/>
        </p:nvSpPr>
        <p:spPr>
          <a:xfrm>
            <a:off x="0" y="4826203"/>
            <a:ext cx="9144000" cy="30175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AAAC8"/>
              </a:buClr>
              <a:buSzPts val="850"/>
              <a:buFont typeface="Calibri"/>
              <a:buNone/>
            </a:pPr>
            <a:r>
              <a:rPr lang="en-US" sz="850">
                <a:solidFill>
                  <a:srgbClr val="7AAAC8"/>
                </a:solidFill>
                <a:latin typeface="Calibri"/>
                <a:ea typeface="Calibri"/>
                <a:cs typeface="Calibri"/>
                <a:sym typeface="Calibri"/>
              </a:rPr>
              <a:t>Accredian is a leading Indian institution specializing in AI, Data Science, and Management research and education.  •  Visit us at: </a:t>
            </a:r>
            <a:r>
              <a:rPr lang="en-US" sz="850" u="sng">
                <a:solidFill>
                  <a:srgbClr val="7AAAC8"/>
                </a:solidFill>
                <a:latin typeface="Calibri"/>
                <a:ea typeface="Calibri"/>
                <a:cs typeface="Calibri"/>
                <a:sym typeface="Calibri"/>
                <a:hlinkClick r:id="rId3">
                  <a:extLst>
                    <a:ext uri="{A12FA001-AC4F-418D-AE19-62706E023703}">
                      <ahyp:hlinkClr val="tx"/>
                    </a:ext>
                  </a:extLst>
                </a:hlinkClick>
              </a:rPr>
              <a:t>https://accredian.com</a:t>
            </a:r>
            <a:endParaRPr sz="85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829"/>
        </a:solidFill>
      </p:bgPr>
    </p:bg>
    <p:spTree>
      <p:nvGrpSpPr>
        <p:cNvPr id="115" name="Shape 115"/>
        <p:cNvGrpSpPr/>
        <p:nvPr/>
      </p:nvGrpSpPr>
      <p:grpSpPr>
        <a:xfrm>
          <a:off x="0" y="0"/>
          <a:ext cx="0" cy="0"/>
          <a:chOff x="0" y="0"/>
          <a:chExt cx="0" cy="0"/>
        </a:xfrm>
      </p:grpSpPr>
      <p:sp>
        <p:nvSpPr>
          <p:cNvPr id="116" name="Google Shape;116;p4"/>
          <p:cNvSpPr/>
          <p:nvPr/>
        </p:nvSpPr>
        <p:spPr>
          <a:xfrm>
            <a:off x="5943600" y="2743200"/>
            <a:ext cx="5029200" cy="5029200"/>
          </a:xfrm>
          <a:prstGeom prst="ellipse">
            <a:avLst/>
          </a:prstGeom>
          <a:solidFill>
            <a:srgbClr val="122035"/>
          </a:solidFill>
          <a:ln cap="flat" cmpd="sng" w="12700">
            <a:solidFill>
              <a:srgbClr val="12203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4"/>
          <p:cNvSpPr/>
          <p:nvPr/>
        </p:nvSpPr>
        <p:spPr>
          <a:xfrm>
            <a:off x="365760" y="201168"/>
            <a:ext cx="1920240" cy="246888"/>
          </a:xfrm>
          <a:prstGeom prst="rect">
            <a:avLst/>
          </a:prstGeom>
          <a:solidFill>
            <a:srgbClr val="1A4A8A"/>
          </a:solidFill>
          <a:ln cap="flat" cmpd="sng" w="12700">
            <a:solidFill>
              <a:srgbClr val="1A4A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4"/>
          <p:cNvSpPr/>
          <p:nvPr/>
        </p:nvSpPr>
        <p:spPr>
          <a:xfrm>
            <a:off x="365760" y="201168"/>
            <a:ext cx="1920240"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alibri"/>
              <a:buNone/>
            </a:pPr>
            <a:r>
              <a:rPr b="1" lang="en-US" sz="850">
                <a:solidFill>
                  <a:srgbClr val="FFFFFF"/>
                </a:solidFill>
                <a:latin typeface="Calibri"/>
                <a:ea typeface="Calibri"/>
                <a:cs typeface="Calibri"/>
                <a:sym typeface="Calibri"/>
              </a:rPr>
              <a:t>SLIDE 03 OF 07</a:t>
            </a:r>
            <a:endParaRPr sz="850">
              <a:solidFill>
                <a:schemeClr val="dk1"/>
              </a:solidFill>
              <a:latin typeface="Calibri"/>
              <a:ea typeface="Calibri"/>
              <a:cs typeface="Calibri"/>
              <a:sym typeface="Calibri"/>
            </a:endParaRPr>
          </a:p>
        </p:txBody>
      </p:sp>
      <p:sp>
        <p:nvSpPr>
          <p:cNvPr id="119" name="Google Shape;119;p4"/>
          <p:cNvSpPr/>
          <p:nvPr/>
        </p:nvSpPr>
        <p:spPr>
          <a:xfrm>
            <a:off x="365760" y="566928"/>
            <a:ext cx="84124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400"/>
              <a:buFont typeface="Georgia"/>
              <a:buNone/>
            </a:pPr>
            <a:r>
              <a:rPr b="1" lang="en-US" sz="2400">
                <a:solidFill>
                  <a:srgbClr val="FFFFFF"/>
                </a:solidFill>
                <a:latin typeface="Georgia"/>
                <a:ea typeface="Georgia"/>
                <a:cs typeface="Georgia"/>
                <a:sym typeface="Georgia"/>
              </a:rPr>
              <a:t>The 2026 Regulatory Landscape: Region by Region</a:t>
            </a:r>
            <a:endParaRPr sz="2400">
              <a:solidFill>
                <a:schemeClr val="dk1"/>
              </a:solidFill>
              <a:latin typeface="Calibri"/>
              <a:ea typeface="Calibri"/>
              <a:cs typeface="Calibri"/>
              <a:sym typeface="Calibri"/>
            </a:endParaRPr>
          </a:p>
        </p:txBody>
      </p:sp>
      <p:sp>
        <p:nvSpPr>
          <p:cNvPr id="120" name="Google Shape;120;p4"/>
          <p:cNvSpPr/>
          <p:nvPr/>
        </p:nvSpPr>
        <p:spPr>
          <a:xfrm>
            <a:off x="365760" y="1097280"/>
            <a:ext cx="71323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AAC8"/>
              </a:buClr>
              <a:buSzPts val="1250"/>
              <a:buFont typeface="Calibri"/>
              <a:buNone/>
            </a:pPr>
            <a:r>
              <a:rPr lang="en-US" sz="1250">
                <a:solidFill>
                  <a:srgbClr val="7AAAC8"/>
                </a:solidFill>
                <a:latin typeface="Calibri"/>
                <a:ea typeface="Calibri"/>
                <a:cs typeface="Calibri"/>
                <a:sym typeface="Calibri"/>
              </a:rPr>
              <a:t>Each major jurisdiction has enacted or is finalising distinct requirements. Compliance is not universal — each market demands a tailored response.</a:t>
            </a:r>
            <a:endParaRPr sz="1250">
              <a:solidFill>
                <a:schemeClr val="dk1"/>
              </a:solidFill>
              <a:latin typeface="Calibri"/>
              <a:ea typeface="Calibri"/>
              <a:cs typeface="Calibri"/>
              <a:sym typeface="Calibri"/>
            </a:endParaRPr>
          </a:p>
        </p:txBody>
      </p:sp>
      <p:sp>
        <p:nvSpPr>
          <p:cNvPr id="121" name="Google Shape;121;p4"/>
          <p:cNvSpPr/>
          <p:nvPr/>
        </p:nvSpPr>
        <p:spPr>
          <a:xfrm>
            <a:off x="365760" y="1517904"/>
            <a:ext cx="4160520" cy="1517904"/>
          </a:xfrm>
          <a:prstGeom prst="rect">
            <a:avLst/>
          </a:prstGeom>
          <a:solidFill>
            <a:srgbClr val="0A1525"/>
          </a:solidFill>
          <a:ln cap="flat" cmpd="sng" w="12700">
            <a:solidFill>
              <a:srgbClr val="1A305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4"/>
          <p:cNvSpPr/>
          <p:nvPr/>
        </p:nvSpPr>
        <p:spPr>
          <a:xfrm>
            <a:off x="365760" y="1517904"/>
            <a:ext cx="4160520" cy="347472"/>
          </a:xfrm>
          <a:prstGeom prst="rect">
            <a:avLst/>
          </a:prstGeom>
          <a:solidFill>
            <a:srgbClr val="1A4A8A"/>
          </a:solidFill>
          <a:ln cap="flat" cmpd="sng" w="12700">
            <a:solidFill>
              <a:srgbClr val="1A4A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4"/>
          <p:cNvSpPr/>
          <p:nvPr/>
        </p:nvSpPr>
        <p:spPr>
          <a:xfrm>
            <a:off x="493776" y="1572768"/>
            <a:ext cx="27432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50"/>
              <a:buFont typeface="Calibri"/>
              <a:buNone/>
            </a:pPr>
            <a:r>
              <a:rPr b="1" lang="en-US" sz="1250">
                <a:solidFill>
                  <a:srgbClr val="FFFFFF"/>
                </a:solidFill>
                <a:latin typeface="Calibri"/>
                <a:ea typeface="Calibri"/>
                <a:cs typeface="Calibri"/>
                <a:sym typeface="Calibri"/>
              </a:rPr>
              <a:t>European Union</a:t>
            </a:r>
            <a:endParaRPr sz="1250">
              <a:solidFill>
                <a:schemeClr val="dk1"/>
              </a:solidFill>
              <a:latin typeface="Calibri"/>
              <a:ea typeface="Calibri"/>
              <a:cs typeface="Calibri"/>
              <a:sym typeface="Calibri"/>
            </a:endParaRPr>
          </a:p>
        </p:txBody>
      </p:sp>
      <p:sp>
        <p:nvSpPr>
          <p:cNvPr id="124" name="Google Shape;124;p4"/>
          <p:cNvSpPr/>
          <p:nvPr/>
        </p:nvSpPr>
        <p:spPr>
          <a:xfrm>
            <a:off x="493776" y="1755648"/>
            <a:ext cx="3200400" cy="1463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DEEFF"/>
              </a:buClr>
              <a:buSzPts val="850"/>
              <a:buFont typeface="Calibri"/>
              <a:buNone/>
            </a:pPr>
            <a:r>
              <a:rPr lang="en-US" sz="850">
                <a:solidFill>
                  <a:srgbClr val="DDEEFF"/>
                </a:solidFill>
                <a:latin typeface="Calibri"/>
                <a:ea typeface="Calibri"/>
                <a:cs typeface="Calibri"/>
                <a:sym typeface="Calibri"/>
              </a:rPr>
              <a:t>EU AI Act + GDPR Article 46</a:t>
            </a:r>
            <a:endParaRPr sz="850">
              <a:solidFill>
                <a:schemeClr val="dk1"/>
              </a:solidFill>
              <a:latin typeface="Calibri"/>
              <a:ea typeface="Calibri"/>
              <a:cs typeface="Calibri"/>
              <a:sym typeface="Calibri"/>
            </a:endParaRPr>
          </a:p>
        </p:txBody>
      </p:sp>
      <p:sp>
        <p:nvSpPr>
          <p:cNvPr id="125" name="Google Shape;125;p4"/>
          <p:cNvSpPr/>
          <p:nvPr/>
        </p:nvSpPr>
        <p:spPr>
          <a:xfrm>
            <a:off x="3383280" y="1572768"/>
            <a:ext cx="1024128" cy="237744"/>
          </a:xfrm>
          <a:prstGeom prst="rect">
            <a:avLst/>
          </a:prstGeom>
          <a:solidFill>
            <a:srgbClr val="0A1525"/>
          </a:solidFill>
          <a:ln cap="flat" cmpd="sng" w="12700">
            <a:solidFill>
              <a:srgbClr val="1A4A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4"/>
          <p:cNvSpPr/>
          <p:nvPr/>
        </p:nvSpPr>
        <p:spPr>
          <a:xfrm>
            <a:off x="3383280" y="1572768"/>
            <a:ext cx="1024128"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4A8A"/>
              </a:buClr>
              <a:buSzPts val="750"/>
              <a:buFont typeface="Calibri"/>
              <a:buNone/>
            </a:pPr>
            <a:r>
              <a:rPr b="1" lang="en-US" sz="750">
                <a:solidFill>
                  <a:srgbClr val="1A4A8A"/>
                </a:solidFill>
                <a:latin typeface="Calibri"/>
                <a:ea typeface="Calibri"/>
                <a:cs typeface="Calibri"/>
                <a:sym typeface="Calibri"/>
              </a:rPr>
              <a:t>Aug 2026</a:t>
            </a:r>
            <a:endParaRPr sz="750">
              <a:solidFill>
                <a:schemeClr val="dk1"/>
              </a:solidFill>
              <a:latin typeface="Calibri"/>
              <a:ea typeface="Calibri"/>
              <a:cs typeface="Calibri"/>
              <a:sym typeface="Calibri"/>
            </a:endParaRPr>
          </a:p>
        </p:txBody>
      </p:sp>
      <p:sp>
        <p:nvSpPr>
          <p:cNvPr id="127" name="Google Shape;127;p4"/>
          <p:cNvSpPr/>
          <p:nvPr/>
        </p:nvSpPr>
        <p:spPr>
          <a:xfrm>
            <a:off x="493776" y="1938528"/>
            <a:ext cx="3904488" cy="8046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ABDE0"/>
              </a:buClr>
              <a:buSzPts val="900"/>
              <a:buFont typeface="Calibri"/>
              <a:buNone/>
            </a:pPr>
            <a:r>
              <a:rPr lang="en-US" sz="900">
                <a:solidFill>
                  <a:srgbClr val="9ABDE0"/>
                </a:solidFill>
                <a:latin typeface="Calibri"/>
                <a:ea typeface="Calibri"/>
                <a:cs typeface="Calibri"/>
                <a:sym typeface="Calibri"/>
              </a:rPr>
              <a:t>High-risk AI systems must be trained and operated on data that meets GDPR transfer restrictions. AI Act Article 9 mandates governance documentation accessible to EU regulators. GPAI model providers must maintain training data records within EU jurisdiction.</a:t>
            </a:r>
            <a:endParaRPr sz="900">
              <a:solidFill>
                <a:schemeClr val="dk1"/>
              </a:solidFill>
              <a:latin typeface="Calibri"/>
              <a:ea typeface="Calibri"/>
              <a:cs typeface="Calibri"/>
              <a:sym typeface="Calibri"/>
            </a:endParaRPr>
          </a:p>
        </p:txBody>
      </p:sp>
      <p:sp>
        <p:nvSpPr>
          <p:cNvPr id="128" name="Google Shape;128;p4"/>
          <p:cNvSpPr/>
          <p:nvPr/>
        </p:nvSpPr>
        <p:spPr>
          <a:xfrm>
            <a:off x="365760" y="2852928"/>
            <a:ext cx="4160520" cy="182880"/>
          </a:xfrm>
          <a:prstGeom prst="rect">
            <a:avLst/>
          </a:prstGeom>
          <a:solidFill>
            <a:srgbClr val="060D18"/>
          </a:solidFill>
          <a:ln cap="flat" cmpd="sng" w="12700">
            <a:solidFill>
              <a:srgbClr val="1A305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4"/>
          <p:cNvSpPr/>
          <p:nvPr/>
        </p:nvSpPr>
        <p:spPr>
          <a:xfrm>
            <a:off x="493776" y="2852928"/>
            <a:ext cx="3904488"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A070"/>
              </a:buClr>
              <a:buSzPts val="850"/>
              <a:buFont typeface="Calibri"/>
              <a:buNone/>
            </a:pPr>
            <a:r>
              <a:rPr b="1" lang="en-US" sz="850">
                <a:solidFill>
                  <a:srgbClr val="E8A070"/>
                </a:solidFill>
                <a:latin typeface="Calibri"/>
                <a:ea typeface="Calibri"/>
                <a:cs typeface="Calibri"/>
                <a:sym typeface="Calibri"/>
              </a:rPr>
              <a:t>⚠  Fines up to 3% global turnover</a:t>
            </a:r>
            <a:endParaRPr sz="850">
              <a:solidFill>
                <a:schemeClr val="dk1"/>
              </a:solidFill>
              <a:latin typeface="Calibri"/>
              <a:ea typeface="Calibri"/>
              <a:cs typeface="Calibri"/>
              <a:sym typeface="Calibri"/>
            </a:endParaRPr>
          </a:p>
        </p:txBody>
      </p:sp>
      <p:sp>
        <p:nvSpPr>
          <p:cNvPr id="130" name="Google Shape;130;p4"/>
          <p:cNvSpPr/>
          <p:nvPr/>
        </p:nvSpPr>
        <p:spPr>
          <a:xfrm>
            <a:off x="4800600" y="1517904"/>
            <a:ext cx="4160520" cy="1517904"/>
          </a:xfrm>
          <a:prstGeom prst="rect">
            <a:avLst/>
          </a:prstGeom>
          <a:solidFill>
            <a:srgbClr val="0A1525"/>
          </a:solidFill>
          <a:ln cap="flat" cmpd="sng" w="12700">
            <a:solidFill>
              <a:srgbClr val="1A305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4"/>
          <p:cNvSpPr/>
          <p:nvPr/>
        </p:nvSpPr>
        <p:spPr>
          <a:xfrm>
            <a:off x="4800600" y="1517904"/>
            <a:ext cx="4160520" cy="347472"/>
          </a:xfrm>
          <a:prstGeom prst="rect">
            <a:avLst/>
          </a:prstGeom>
          <a:solidFill>
            <a:srgbClr val="0A7A72"/>
          </a:solidFill>
          <a:ln cap="flat" cmpd="sng" w="12700">
            <a:solidFill>
              <a:srgbClr val="0A7A7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4"/>
          <p:cNvSpPr/>
          <p:nvPr/>
        </p:nvSpPr>
        <p:spPr>
          <a:xfrm>
            <a:off x="4928616" y="1572768"/>
            <a:ext cx="27432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50"/>
              <a:buFont typeface="Calibri"/>
              <a:buNone/>
            </a:pPr>
            <a:r>
              <a:rPr b="1" lang="en-US" sz="1250">
                <a:solidFill>
                  <a:srgbClr val="FFFFFF"/>
                </a:solidFill>
                <a:latin typeface="Calibri"/>
                <a:ea typeface="Calibri"/>
                <a:cs typeface="Calibri"/>
                <a:sym typeface="Calibri"/>
              </a:rPr>
              <a:t>India</a:t>
            </a:r>
            <a:endParaRPr sz="1250">
              <a:solidFill>
                <a:schemeClr val="dk1"/>
              </a:solidFill>
              <a:latin typeface="Calibri"/>
              <a:ea typeface="Calibri"/>
              <a:cs typeface="Calibri"/>
              <a:sym typeface="Calibri"/>
            </a:endParaRPr>
          </a:p>
        </p:txBody>
      </p:sp>
      <p:sp>
        <p:nvSpPr>
          <p:cNvPr id="133" name="Google Shape;133;p4"/>
          <p:cNvSpPr/>
          <p:nvPr/>
        </p:nvSpPr>
        <p:spPr>
          <a:xfrm>
            <a:off x="4928616" y="1755648"/>
            <a:ext cx="3200400" cy="1463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DEEFF"/>
              </a:buClr>
              <a:buSzPts val="850"/>
              <a:buFont typeface="Calibri"/>
              <a:buNone/>
            </a:pPr>
            <a:r>
              <a:rPr lang="en-US" sz="850">
                <a:solidFill>
                  <a:srgbClr val="DDEEFF"/>
                </a:solidFill>
                <a:latin typeface="Calibri"/>
                <a:ea typeface="Calibri"/>
                <a:cs typeface="Calibri"/>
                <a:sym typeface="Calibri"/>
              </a:rPr>
              <a:t>DPDP Act 2023 + SEBI AI Circular</a:t>
            </a:r>
            <a:endParaRPr sz="850">
              <a:solidFill>
                <a:schemeClr val="dk1"/>
              </a:solidFill>
              <a:latin typeface="Calibri"/>
              <a:ea typeface="Calibri"/>
              <a:cs typeface="Calibri"/>
              <a:sym typeface="Calibri"/>
            </a:endParaRPr>
          </a:p>
        </p:txBody>
      </p:sp>
      <p:sp>
        <p:nvSpPr>
          <p:cNvPr id="134" name="Google Shape;134;p4"/>
          <p:cNvSpPr/>
          <p:nvPr/>
        </p:nvSpPr>
        <p:spPr>
          <a:xfrm>
            <a:off x="7818120" y="1572768"/>
            <a:ext cx="1024128" cy="237744"/>
          </a:xfrm>
          <a:prstGeom prst="rect">
            <a:avLst/>
          </a:prstGeom>
          <a:solidFill>
            <a:srgbClr val="0A1525"/>
          </a:solidFill>
          <a:ln cap="flat" cmpd="sng" w="12700">
            <a:solidFill>
              <a:srgbClr val="0A7A7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4"/>
          <p:cNvSpPr/>
          <p:nvPr/>
        </p:nvSpPr>
        <p:spPr>
          <a:xfrm>
            <a:off x="7818120" y="1572768"/>
            <a:ext cx="1024128"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7A72"/>
              </a:buClr>
              <a:buSzPts val="750"/>
              <a:buFont typeface="Calibri"/>
              <a:buNone/>
            </a:pPr>
            <a:r>
              <a:rPr b="1" lang="en-US" sz="750">
                <a:solidFill>
                  <a:srgbClr val="0A7A72"/>
                </a:solidFill>
                <a:latin typeface="Calibri"/>
                <a:ea typeface="Calibri"/>
                <a:cs typeface="Calibri"/>
                <a:sym typeface="Calibri"/>
              </a:rPr>
              <a:t>Jan 2026</a:t>
            </a:r>
            <a:endParaRPr sz="750">
              <a:solidFill>
                <a:schemeClr val="dk1"/>
              </a:solidFill>
              <a:latin typeface="Calibri"/>
              <a:ea typeface="Calibri"/>
              <a:cs typeface="Calibri"/>
              <a:sym typeface="Calibri"/>
            </a:endParaRPr>
          </a:p>
        </p:txBody>
      </p:sp>
      <p:sp>
        <p:nvSpPr>
          <p:cNvPr id="136" name="Google Shape;136;p4"/>
          <p:cNvSpPr/>
          <p:nvPr/>
        </p:nvSpPr>
        <p:spPr>
          <a:xfrm>
            <a:off x="4928616" y="1938528"/>
            <a:ext cx="3904488" cy="8046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ABDE0"/>
              </a:buClr>
              <a:buSzPts val="900"/>
              <a:buFont typeface="Calibri"/>
              <a:buNone/>
            </a:pPr>
            <a:r>
              <a:rPr lang="en-US" sz="900">
                <a:solidFill>
                  <a:srgbClr val="9ABDE0"/>
                </a:solidFill>
                <a:latin typeface="Calibri"/>
                <a:ea typeface="Calibri"/>
                <a:cs typeface="Calibri"/>
                <a:sym typeface="Calibri"/>
              </a:rPr>
              <a:t>Personal data of Indian citizens cannot be processed on foreign infrastructure without explicit consent and government approval. Financial sector AI (SEBI Circular Jan 2025) requires model inference to occur on India-domiciled servers. Draft Data Protection Rules require 72-hour breach notification to DPBI.</a:t>
            </a:r>
            <a:endParaRPr sz="900">
              <a:solidFill>
                <a:schemeClr val="dk1"/>
              </a:solidFill>
              <a:latin typeface="Calibri"/>
              <a:ea typeface="Calibri"/>
              <a:cs typeface="Calibri"/>
              <a:sym typeface="Calibri"/>
            </a:endParaRPr>
          </a:p>
        </p:txBody>
      </p:sp>
      <p:sp>
        <p:nvSpPr>
          <p:cNvPr id="137" name="Google Shape;137;p4"/>
          <p:cNvSpPr/>
          <p:nvPr/>
        </p:nvSpPr>
        <p:spPr>
          <a:xfrm>
            <a:off x="4800600" y="2852928"/>
            <a:ext cx="4160520" cy="182880"/>
          </a:xfrm>
          <a:prstGeom prst="rect">
            <a:avLst/>
          </a:prstGeom>
          <a:solidFill>
            <a:srgbClr val="060D18"/>
          </a:solidFill>
          <a:ln cap="flat" cmpd="sng" w="12700">
            <a:solidFill>
              <a:srgbClr val="1A305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4"/>
          <p:cNvSpPr/>
          <p:nvPr/>
        </p:nvSpPr>
        <p:spPr>
          <a:xfrm>
            <a:off x="4928616" y="2852928"/>
            <a:ext cx="3904488"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A070"/>
              </a:buClr>
              <a:buSzPts val="850"/>
              <a:buFont typeface="Calibri"/>
              <a:buNone/>
            </a:pPr>
            <a:r>
              <a:rPr b="1" lang="en-US" sz="850">
                <a:solidFill>
                  <a:srgbClr val="E8A070"/>
                </a:solidFill>
                <a:latin typeface="Calibri"/>
                <a:ea typeface="Calibri"/>
                <a:cs typeface="Calibri"/>
                <a:sym typeface="Calibri"/>
              </a:rPr>
              <a:t>⚠  Fines up to ₹250 crore per violation</a:t>
            </a:r>
            <a:endParaRPr sz="850">
              <a:solidFill>
                <a:schemeClr val="dk1"/>
              </a:solidFill>
              <a:latin typeface="Calibri"/>
              <a:ea typeface="Calibri"/>
              <a:cs typeface="Calibri"/>
              <a:sym typeface="Calibri"/>
            </a:endParaRPr>
          </a:p>
        </p:txBody>
      </p:sp>
      <p:sp>
        <p:nvSpPr>
          <p:cNvPr id="139" name="Google Shape;139;p4"/>
          <p:cNvSpPr/>
          <p:nvPr/>
        </p:nvSpPr>
        <p:spPr>
          <a:xfrm>
            <a:off x="365760" y="3145536"/>
            <a:ext cx="4160520" cy="1517904"/>
          </a:xfrm>
          <a:prstGeom prst="rect">
            <a:avLst/>
          </a:prstGeom>
          <a:solidFill>
            <a:srgbClr val="0A1525"/>
          </a:solidFill>
          <a:ln cap="flat" cmpd="sng" w="12700">
            <a:solidFill>
              <a:srgbClr val="1A305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4"/>
          <p:cNvSpPr/>
          <p:nvPr/>
        </p:nvSpPr>
        <p:spPr>
          <a:xfrm>
            <a:off x="365760" y="3145536"/>
            <a:ext cx="4160520" cy="347472"/>
          </a:xfrm>
          <a:prstGeom prst="rect">
            <a:avLst/>
          </a:prstGeom>
          <a:solidFill>
            <a:srgbClr val="8A1C2E"/>
          </a:solidFill>
          <a:ln cap="flat" cmpd="sng" w="12700">
            <a:solidFill>
              <a:srgbClr val="8A1C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4"/>
          <p:cNvSpPr/>
          <p:nvPr/>
        </p:nvSpPr>
        <p:spPr>
          <a:xfrm>
            <a:off x="493776" y="3200400"/>
            <a:ext cx="27432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50"/>
              <a:buFont typeface="Calibri"/>
              <a:buNone/>
            </a:pPr>
            <a:r>
              <a:rPr b="1" lang="en-US" sz="1250">
                <a:solidFill>
                  <a:srgbClr val="FFFFFF"/>
                </a:solidFill>
                <a:latin typeface="Calibri"/>
                <a:ea typeface="Calibri"/>
                <a:cs typeface="Calibri"/>
                <a:sym typeface="Calibri"/>
              </a:rPr>
              <a:t>China</a:t>
            </a:r>
            <a:endParaRPr sz="1250">
              <a:solidFill>
                <a:schemeClr val="dk1"/>
              </a:solidFill>
              <a:latin typeface="Calibri"/>
              <a:ea typeface="Calibri"/>
              <a:cs typeface="Calibri"/>
              <a:sym typeface="Calibri"/>
            </a:endParaRPr>
          </a:p>
        </p:txBody>
      </p:sp>
      <p:sp>
        <p:nvSpPr>
          <p:cNvPr id="142" name="Google Shape;142;p4"/>
          <p:cNvSpPr/>
          <p:nvPr/>
        </p:nvSpPr>
        <p:spPr>
          <a:xfrm>
            <a:off x="493776" y="3383280"/>
            <a:ext cx="3200400" cy="1463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DEEFF"/>
              </a:buClr>
              <a:buSzPts val="850"/>
              <a:buFont typeface="Calibri"/>
              <a:buNone/>
            </a:pPr>
            <a:r>
              <a:rPr lang="en-US" sz="850">
                <a:solidFill>
                  <a:srgbClr val="DDEEFF"/>
                </a:solidFill>
                <a:latin typeface="Calibri"/>
                <a:ea typeface="Calibri"/>
                <a:cs typeface="Calibri"/>
                <a:sym typeface="Calibri"/>
              </a:rPr>
              <a:t>CAC Generative AI Measures + DSL</a:t>
            </a:r>
            <a:endParaRPr sz="850">
              <a:solidFill>
                <a:schemeClr val="dk1"/>
              </a:solidFill>
              <a:latin typeface="Calibri"/>
              <a:ea typeface="Calibri"/>
              <a:cs typeface="Calibri"/>
              <a:sym typeface="Calibri"/>
            </a:endParaRPr>
          </a:p>
        </p:txBody>
      </p:sp>
      <p:sp>
        <p:nvSpPr>
          <p:cNvPr id="143" name="Google Shape;143;p4"/>
          <p:cNvSpPr/>
          <p:nvPr/>
        </p:nvSpPr>
        <p:spPr>
          <a:xfrm>
            <a:off x="3383280" y="3200400"/>
            <a:ext cx="1024128" cy="237744"/>
          </a:xfrm>
          <a:prstGeom prst="rect">
            <a:avLst/>
          </a:prstGeom>
          <a:solidFill>
            <a:srgbClr val="0A1525"/>
          </a:solidFill>
          <a:ln cap="flat" cmpd="sng" w="12700">
            <a:solidFill>
              <a:srgbClr val="8A1C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4"/>
          <p:cNvSpPr/>
          <p:nvPr/>
        </p:nvSpPr>
        <p:spPr>
          <a:xfrm>
            <a:off x="3383280" y="3200400"/>
            <a:ext cx="1024128"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A1C2E"/>
              </a:buClr>
              <a:buSzPts val="750"/>
              <a:buFont typeface="Calibri"/>
              <a:buNone/>
            </a:pPr>
            <a:r>
              <a:rPr b="1" lang="en-US" sz="750">
                <a:solidFill>
                  <a:srgbClr val="8A1C2E"/>
                </a:solidFill>
                <a:latin typeface="Calibri"/>
                <a:ea typeface="Calibri"/>
                <a:cs typeface="Calibri"/>
                <a:sym typeface="Calibri"/>
              </a:rPr>
              <a:t>In effect</a:t>
            </a:r>
            <a:endParaRPr sz="750">
              <a:solidFill>
                <a:schemeClr val="dk1"/>
              </a:solidFill>
              <a:latin typeface="Calibri"/>
              <a:ea typeface="Calibri"/>
              <a:cs typeface="Calibri"/>
              <a:sym typeface="Calibri"/>
            </a:endParaRPr>
          </a:p>
        </p:txBody>
      </p:sp>
      <p:sp>
        <p:nvSpPr>
          <p:cNvPr id="145" name="Google Shape;145;p4"/>
          <p:cNvSpPr/>
          <p:nvPr/>
        </p:nvSpPr>
        <p:spPr>
          <a:xfrm>
            <a:off x="493776" y="3566160"/>
            <a:ext cx="3904488" cy="8046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ABDE0"/>
              </a:buClr>
              <a:buSzPts val="900"/>
              <a:buFont typeface="Calibri"/>
              <a:buNone/>
            </a:pPr>
            <a:r>
              <a:rPr lang="en-US" sz="900">
                <a:solidFill>
                  <a:srgbClr val="9ABDE0"/>
                </a:solidFill>
                <a:latin typeface="Calibri"/>
                <a:ea typeface="Calibri"/>
                <a:cs typeface="Calibri"/>
                <a:sym typeface="Calibri"/>
              </a:rPr>
              <a:t>All generative AI services offered to Chinese users must be trained on data that has passed MLPS 2.0 security assessment. Model weights for public services must be stored on servers physically located in China. Cross-border data transfer requires CAC security assessment approval.</a:t>
            </a:r>
            <a:endParaRPr sz="900">
              <a:solidFill>
                <a:schemeClr val="dk1"/>
              </a:solidFill>
              <a:latin typeface="Calibri"/>
              <a:ea typeface="Calibri"/>
              <a:cs typeface="Calibri"/>
              <a:sym typeface="Calibri"/>
            </a:endParaRPr>
          </a:p>
        </p:txBody>
      </p:sp>
      <p:sp>
        <p:nvSpPr>
          <p:cNvPr id="146" name="Google Shape;146;p4"/>
          <p:cNvSpPr/>
          <p:nvPr/>
        </p:nvSpPr>
        <p:spPr>
          <a:xfrm>
            <a:off x="365760" y="4480560"/>
            <a:ext cx="4160520" cy="182880"/>
          </a:xfrm>
          <a:prstGeom prst="rect">
            <a:avLst/>
          </a:prstGeom>
          <a:solidFill>
            <a:srgbClr val="060D18"/>
          </a:solidFill>
          <a:ln cap="flat" cmpd="sng" w="12700">
            <a:solidFill>
              <a:srgbClr val="1A305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4"/>
          <p:cNvSpPr/>
          <p:nvPr/>
        </p:nvSpPr>
        <p:spPr>
          <a:xfrm>
            <a:off x="493776" y="4480560"/>
            <a:ext cx="3904488"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A070"/>
              </a:buClr>
              <a:buSzPts val="850"/>
              <a:buFont typeface="Calibri"/>
              <a:buNone/>
            </a:pPr>
            <a:r>
              <a:rPr b="1" lang="en-US" sz="850">
                <a:solidFill>
                  <a:srgbClr val="E8A070"/>
                </a:solidFill>
                <a:latin typeface="Calibri"/>
                <a:ea typeface="Calibri"/>
                <a:cs typeface="Calibri"/>
                <a:sym typeface="Calibri"/>
              </a:rPr>
              <a:t>⚠  Service suspension; criminal liability</a:t>
            </a:r>
            <a:endParaRPr sz="850">
              <a:solidFill>
                <a:schemeClr val="dk1"/>
              </a:solidFill>
              <a:latin typeface="Calibri"/>
              <a:ea typeface="Calibri"/>
              <a:cs typeface="Calibri"/>
              <a:sym typeface="Calibri"/>
            </a:endParaRPr>
          </a:p>
        </p:txBody>
      </p:sp>
      <p:sp>
        <p:nvSpPr>
          <p:cNvPr id="148" name="Google Shape;148;p4"/>
          <p:cNvSpPr/>
          <p:nvPr/>
        </p:nvSpPr>
        <p:spPr>
          <a:xfrm>
            <a:off x="4800600" y="3145536"/>
            <a:ext cx="4160520" cy="1517904"/>
          </a:xfrm>
          <a:prstGeom prst="rect">
            <a:avLst/>
          </a:prstGeom>
          <a:solidFill>
            <a:srgbClr val="0A1525"/>
          </a:solidFill>
          <a:ln cap="flat" cmpd="sng" w="12700">
            <a:solidFill>
              <a:srgbClr val="1A305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4"/>
          <p:cNvSpPr/>
          <p:nvPr/>
        </p:nvSpPr>
        <p:spPr>
          <a:xfrm>
            <a:off x="4800600" y="3145536"/>
            <a:ext cx="4160520" cy="347472"/>
          </a:xfrm>
          <a:prstGeom prst="rect">
            <a:avLst/>
          </a:prstGeom>
          <a:solidFill>
            <a:srgbClr val="A0511A"/>
          </a:solidFill>
          <a:ln cap="flat" cmpd="sng" w="12700">
            <a:solidFill>
              <a:srgbClr val="A051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4"/>
          <p:cNvSpPr/>
          <p:nvPr/>
        </p:nvSpPr>
        <p:spPr>
          <a:xfrm>
            <a:off x="4928616" y="3200400"/>
            <a:ext cx="27432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50"/>
              <a:buFont typeface="Calibri"/>
              <a:buNone/>
            </a:pPr>
            <a:r>
              <a:rPr b="1" lang="en-US" sz="1250">
                <a:solidFill>
                  <a:srgbClr val="FFFFFF"/>
                </a:solidFill>
                <a:latin typeface="Calibri"/>
                <a:ea typeface="Calibri"/>
                <a:cs typeface="Calibri"/>
                <a:sym typeface="Calibri"/>
              </a:rPr>
              <a:t>United States</a:t>
            </a:r>
            <a:endParaRPr sz="1250">
              <a:solidFill>
                <a:schemeClr val="dk1"/>
              </a:solidFill>
              <a:latin typeface="Calibri"/>
              <a:ea typeface="Calibri"/>
              <a:cs typeface="Calibri"/>
              <a:sym typeface="Calibri"/>
            </a:endParaRPr>
          </a:p>
        </p:txBody>
      </p:sp>
      <p:sp>
        <p:nvSpPr>
          <p:cNvPr id="151" name="Google Shape;151;p4"/>
          <p:cNvSpPr/>
          <p:nvPr/>
        </p:nvSpPr>
        <p:spPr>
          <a:xfrm>
            <a:off x="4928616" y="3383280"/>
            <a:ext cx="3200400" cy="1463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DEEFF"/>
              </a:buClr>
              <a:buSzPts val="850"/>
              <a:buFont typeface="Calibri"/>
              <a:buNone/>
            </a:pPr>
            <a:r>
              <a:rPr lang="en-US" sz="850">
                <a:solidFill>
                  <a:srgbClr val="DDEEFF"/>
                </a:solidFill>
                <a:latin typeface="Calibri"/>
                <a:ea typeface="Calibri"/>
                <a:cs typeface="Calibri"/>
                <a:sym typeface="Calibri"/>
              </a:rPr>
              <a:t>EO 14110 + State-Level</a:t>
            </a:r>
            <a:endParaRPr sz="850">
              <a:solidFill>
                <a:schemeClr val="dk1"/>
              </a:solidFill>
              <a:latin typeface="Calibri"/>
              <a:ea typeface="Calibri"/>
              <a:cs typeface="Calibri"/>
              <a:sym typeface="Calibri"/>
            </a:endParaRPr>
          </a:p>
        </p:txBody>
      </p:sp>
      <p:sp>
        <p:nvSpPr>
          <p:cNvPr id="152" name="Google Shape;152;p4"/>
          <p:cNvSpPr/>
          <p:nvPr/>
        </p:nvSpPr>
        <p:spPr>
          <a:xfrm>
            <a:off x="7818120" y="3200400"/>
            <a:ext cx="1024128" cy="237744"/>
          </a:xfrm>
          <a:prstGeom prst="rect">
            <a:avLst/>
          </a:prstGeom>
          <a:solidFill>
            <a:srgbClr val="0A1525"/>
          </a:solidFill>
          <a:ln cap="flat" cmpd="sng" w="12700">
            <a:solidFill>
              <a:srgbClr val="A051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4"/>
          <p:cNvSpPr/>
          <p:nvPr/>
        </p:nvSpPr>
        <p:spPr>
          <a:xfrm>
            <a:off x="7818120" y="3200400"/>
            <a:ext cx="1024128"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A0511A"/>
              </a:buClr>
              <a:buSzPts val="750"/>
              <a:buFont typeface="Calibri"/>
              <a:buNone/>
            </a:pPr>
            <a:r>
              <a:rPr b="1" lang="en-US" sz="750">
                <a:solidFill>
                  <a:srgbClr val="A0511A"/>
                </a:solidFill>
                <a:latin typeface="Calibri"/>
                <a:ea typeface="Calibri"/>
                <a:cs typeface="Calibri"/>
                <a:sym typeface="Calibri"/>
              </a:rPr>
              <a:t>2025–2026</a:t>
            </a:r>
            <a:endParaRPr sz="750">
              <a:solidFill>
                <a:schemeClr val="dk1"/>
              </a:solidFill>
              <a:latin typeface="Calibri"/>
              <a:ea typeface="Calibri"/>
              <a:cs typeface="Calibri"/>
              <a:sym typeface="Calibri"/>
            </a:endParaRPr>
          </a:p>
        </p:txBody>
      </p:sp>
      <p:sp>
        <p:nvSpPr>
          <p:cNvPr id="154" name="Google Shape;154;p4"/>
          <p:cNvSpPr/>
          <p:nvPr/>
        </p:nvSpPr>
        <p:spPr>
          <a:xfrm>
            <a:off x="4928616" y="3566160"/>
            <a:ext cx="3904488" cy="8046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ABDE0"/>
              </a:buClr>
              <a:buSzPts val="900"/>
              <a:buFont typeface="Calibri"/>
              <a:buNone/>
            </a:pPr>
            <a:r>
              <a:rPr lang="en-US" sz="900">
                <a:solidFill>
                  <a:srgbClr val="9ABDE0"/>
                </a:solidFill>
                <a:latin typeface="Calibri"/>
                <a:ea typeface="Calibri"/>
                <a:cs typeface="Calibri"/>
                <a:sym typeface="Calibri"/>
              </a:rPr>
              <a:t>Federal AI systems must document training data provenance and maintain audit trails on US government-controlled infrastructure. California SB 1047 (2025) extends this to large private AI systems. Texas, New York, and Illinois have enacted AI accountability laws with localisation components.</a:t>
            </a:r>
            <a:endParaRPr sz="900">
              <a:solidFill>
                <a:schemeClr val="dk1"/>
              </a:solidFill>
              <a:latin typeface="Calibri"/>
              <a:ea typeface="Calibri"/>
              <a:cs typeface="Calibri"/>
              <a:sym typeface="Calibri"/>
            </a:endParaRPr>
          </a:p>
        </p:txBody>
      </p:sp>
      <p:sp>
        <p:nvSpPr>
          <p:cNvPr id="155" name="Google Shape;155;p4"/>
          <p:cNvSpPr/>
          <p:nvPr/>
        </p:nvSpPr>
        <p:spPr>
          <a:xfrm>
            <a:off x="4800600" y="4480560"/>
            <a:ext cx="4160520" cy="182880"/>
          </a:xfrm>
          <a:prstGeom prst="rect">
            <a:avLst/>
          </a:prstGeom>
          <a:solidFill>
            <a:srgbClr val="060D18"/>
          </a:solidFill>
          <a:ln cap="flat" cmpd="sng" w="12700">
            <a:solidFill>
              <a:srgbClr val="1A305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4"/>
          <p:cNvSpPr/>
          <p:nvPr/>
        </p:nvSpPr>
        <p:spPr>
          <a:xfrm>
            <a:off x="4928616" y="4480560"/>
            <a:ext cx="3904488"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A070"/>
              </a:buClr>
              <a:buSzPts val="850"/>
              <a:buFont typeface="Calibri"/>
              <a:buNone/>
            </a:pPr>
            <a:r>
              <a:rPr b="1" lang="en-US" sz="850">
                <a:solidFill>
                  <a:srgbClr val="E8A070"/>
                </a:solidFill>
                <a:latin typeface="Calibri"/>
                <a:ea typeface="Calibri"/>
                <a:cs typeface="Calibri"/>
                <a:sym typeface="Calibri"/>
              </a:rPr>
              <a:t>⚠  Procurement exclusion; civil liability</a:t>
            </a:r>
            <a:endParaRPr sz="850">
              <a:solidFill>
                <a:schemeClr val="dk1"/>
              </a:solidFill>
              <a:latin typeface="Calibri"/>
              <a:ea typeface="Calibri"/>
              <a:cs typeface="Calibri"/>
              <a:sym typeface="Calibri"/>
            </a:endParaRPr>
          </a:p>
        </p:txBody>
      </p:sp>
      <p:sp>
        <p:nvSpPr>
          <p:cNvPr id="157" name="Google Shape;157;p4"/>
          <p:cNvSpPr/>
          <p:nvPr/>
        </p:nvSpPr>
        <p:spPr>
          <a:xfrm>
            <a:off x="0" y="4818888"/>
            <a:ext cx="9144000" cy="324612"/>
          </a:xfrm>
          <a:prstGeom prst="rect">
            <a:avLst/>
          </a:prstGeom>
          <a:solidFill>
            <a:srgbClr val="0B1829"/>
          </a:solidFill>
          <a:ln cap="flat" cmpd="sng" w="12700">
            <a:solidFill>
              <a:srgbClr val="0B182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4"/>
          <p:cNvSpPr/>
          <p:nvPr/>
        </p:nvSpPr>
        <p:spPr>
          <a:xfrm>
            <a:off x="0" y="4826203"/>
            <a:ext cx="9144000" cy="30175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AAAC8"/>
              </a:buClr>
              <a:buSzPts val="850"/>
              <a:buFont typeface="Calibri"/>
              <a:buNone/>
            </a:pPr>
            <a:r>
              <a:rPr lang="en-US" sz="850">
                <a:solidFill>
                  <a:srgbClr val="7AAAC8"/>
                </a:solidFill>
                <a:latin typeface="Calibri"/>
                <a:ea typeface="Calibri"/>
                <a:cs typeface="Calibri"/>
                <a:sym typeface="Calibri"/>
              </a:rPr>
              <a:t>Accredian is a leading Indian institution specializing in AI, Data Science, and Management research and education.  •  Visit us at: </a:t>
            </a:r>
            <a:r>
              <a:rPr lang="en-US" sz="850" u="sng">
                <a:solidFill>
                  <a:srgbClr val="7AAAC8"/>
                </a:solidFill>
                <a:latin typeface="Calibri"/>
                <a:ea typeface="Calibri"/>
                <a:cs typeface="Calibri"/>
                <a:sym typeface="Calibri"/>
                <a:hlinkClick r:id="rId3">
                  <a:extLst>
                    <a:ext uri="{A12FA001-AC4F-418D-AE19-62706E023703}">
                      <ahyp:hlinkClr val="tx"/>
                    </a:ext>
                  </a:extLst>
                </a:hlinkClick>
              </a:rPr>
              <a:t>https://accredian.com</a:t>
            </a:r>
            <a:endParaRPr sz="85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C"/>
        </a:solidFill>
      </p:bgPr>
    </p:bg>
    <p:spTree>
      <p:nvGrpSpPr>
        <p:cNvPr id="163" name="Shape 163"/>
        <p:cNvGrpSpPr/>
        <p:nvPr/>
      </p:nvGrpSpPr>
      <p:grpSpPr>
        <a:xfrm>
          <a:off x="0" y="0"/>
          <a:ext cx="0" cy="0"/>
          <a:chOff x="0" y="0"/>
          <a:chExt cx="0" cy="0"/>
        </a:xfrm>
      </p:grpSpPr>
      <p:sp>
        <p:nvSpPr>
          <p:cNvPr id="164" name="Google Shape;164;p5"/>
          <p:cNvSpPr/>
          <p:nvPr/>
        </p:nvSpPr>
        <p:spPr>
          <a:xfrm>
            <a:off x="0" y="0"/>
            <a:ext cx="2834640" cy="5143500"/>
          </a:xfrm>
          <a:prstGeom prst="rect">
            <a:avLst/>
          </a:prstGeom>
          <a:solidFill>
            <a:srgbClr val="0B1829"/>
          </a:solidFill>
          <a:ln cap="flat" cmpd="sng" w="12700">
            <a:solidFill>
              <a:srgbClr val="0B182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5"/>
          <p:cNvSpPr/>
          <p:nvPr/>
        </p:nvSpPr>
        <p:spPr>
          <a:xfrm>
            <a:off x="2834640" y="0"/>
            <a:ext cx="54864" cy="5143500"/>
          </a:xfrm>
          <a:prstGeom prst="rect">
            <a:avLst/>
          </a:prstGeom>
          <a:solidFill>
            <a:srgbClr val="0A7A72"/>
          </a:solidFill>
          <a:ln cap="flat" cmpd="sng" w="12700">
            <a:solidFill>
              <a:srgbClr val="0A7A7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5"/>
          <p:cNvSpPr/>
          <p:nvPr/>
        </p:nvSpPr>
        <p:spPr>
          <a:xfrm>
            <a:off x="228600" y="237744"/>
            <a:ext cx="2377440" cy="237744"/>
          </a:xfrm>
          <a:prstGeom prst="rect">
            <a:avLst/>
          </a:prstGeom>
          <a:solidFill>
            <a:srgbClr val="0A7A72"/>
          </a:solidFill>
          <a:ln cap="flat" cmpd="sng" w="12700">
            <a:solidFill>
              <a:srgbClr val="0A7A7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5"/>
          <p:cNvSpPr/>
          <p:nvPr/>
        </p:nvSpPr>
        <p:spPr>
          <a:xfrm>
            <a:off x="228600" y="237744"/>
            <a:ext cx="2377440"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alibri"/>
              <a:buNone/>
            </a:pPr>
            <a:r>
              <a:rPr b="1" lang="en-US" sz="850">
                <a:solidFill>
                  <a:srgbClr val="FFFFFF"/>
                </a:solidFill>
                <a:latin typeface="Calibri"/>
                <a:ea typeface="Calibri"/>
                <a:cs typeface="Calibri"/>
                <a:sym typeface="Calibri"/>
              </a:rPr>
              <a:t>04 / 07</a:t>
            </a:r>
            <a:endParaRPr sz="850">
              <a:solidFill>
                <a:schemeClr val="dk1"/>
              </a:solidFill>
              <a:latin typeface="Calibri"/>
              <a:ea typeface="Calibri"/>
              <a:cs typeface="Calibri"/>
              <a:sym typeface="Calibri"/>
            </a:endParaRPr>
          </a:p>
        </p:txBody>
      </p:sp>
      <p:sp>
        <p:nvSpPr>
          <p:cNvPr id="168" name="Google Shape;168;p5"/>
          <p:cNvSpPr/>
          <p:nvPr/>
        </p:nvSpPr>
        <p:spPr>
          <a:xfrm>
            <a:off x="256032" y="621792"/>
            <a:ext cx="2359152" cy="2560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2000"/>
              <a:buFont typeface="Georgia"/>
              <a:buNone/>
            </a:pPr>
            <a:r>
              <a:rPr b="1" lang="en-US" sz="2000">
                <a:solidFill>
                  <a:srgbClr val="FFFFFF"/>
                </a:solidFill>
                <a:latin typeface="Georgia"/>
                <a:ea typeface="Georgia"/>
                <a:cs typeface="Georgia"/>
                <a:sym typeface="Georgia"/>
              </a:rPr>
              <a:t>NeoCloud vs.</a:t>
            </a:r>
            <a:endParaRPr sz="2000">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2000"/>
              <a:buFont typeface="Georgia"/>
              <a:buNone/>
            </a:pPr>
            <a:r>
              <a:rPr b="1" lang="en-US" sz="2000">
                <a:solidFill>
                  <a:srgbClr val="FFFFFF"/>
                </a:solidFill>
                <a:latin typeface="Georgia"/>
                <a:ea typeface="Georgia"/>
                <a:cs typeface="Georgia"/>
                <a:sym typeface="Georgia"/>
              </a:rPr>
              <a:t>Hyperscaler:</a:t>
            </a:r>
            <a:endParaRPr sz="2000">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2000"/>
              <a:buFont typeface="Georgia"/>
              <a:buNone/>
            </a:pPr>
            <a:r>
              <a:rPr b="1" lang="en-US" sz="2000">
                <a:solidFill>
                  <a:srgbClr val="FFFFFF"/>
                </a:solidFill>
                <a:latin typeface="Georgia"/>
                <a:ea typeface="Georgia"/>
                <a:cs typeface="Georgia"/>
                <a:sym typeface="Georgia"/>
              </a:rPr>
              <a:t>Choosing</a:t>
            </a:r>
            <a:endParaRPr sz="2000">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2000"/>
              <a:buFont typeface="Georgia"/>
              <a:buNone/>
            </a:pPr>
            <a:r>
              <a:rPr b="1" lang="en-US" sz="2000">
                <a:solidFill>
                  <a:srgbClr val="FFFFFF"/>
                </a:solidFill>
                <a:latin typeface="Georgia"/>
                <a:ea typeface="Georgia"/>
                <a:cs typeface="Georgia"/>
                <a:sym typeface="Georgia"/>
              </a:rPr>
              <a:t>Your Stack</a:t>
            </a:r>
            <a:endParaRPr sz="2000">
              <a:solidFill>
                <a:schemeClr val="dk1"/>
              </a:solidFill>
              <a:latin typeface="Calibri"/>
              <a:ea typeface="Calibri"/>
              <a:cs typeface="Calibri"/>
              <a:sym typeface="Calibri"/>
            </a:endParaRPr>
          </a:p>
        </p:txBody>
      </p:sp>
      <p:sp>
        <p:nvSpPr>
          <p:cNvPr id="169" name="Google Shape;169;p5"/>
          <p:cNvSpPr/>
          <p:nvPr/>
        </p:nvSpPr>
        <p:spPr>
          <a:xfrm>
            <a:off x="228600" y="3218688"/>
            <a:ext cx="2395728" cy="1316736"/>
          </a:xfrm>
          <a:prstGeom prst="rect">
            <a:avLst/>
          </a:prstGeom>
          <a:solidFill>
            <a:srgbClr val="090F1A"/>
          </a:solidFill>
          <a:ln cap="flat" cmpd="sng" w="12700">
            <a:solidFill>
              <a:srgbClr val="0A7A7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5"/>
          <p:cNvSpPr/>
          <p:nvPr/>
        </p:nvSpPr>
        <p:spPr>
          <a:xfrm>
            <a:off x="310896" y="3291840"/>
            <a:ext cx="2231136" cy="11338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ABDE0"/>
              </a:buClr>
              <a:buSzPts val="950"/>
              <a:buFont typeface="Calibri"/>
              <a:buNone/>
            </a:pPr>
            <a:r>
              <a:rPr i="1" lang="en-US" sz="950">
                <a:solidFill>
                  <a:srgbClr val="9ABDE0"/>
                </a:solidFill>
                <a:latin typeface="Calibri"/>
                <a:ea typeface="Calibri"/>
                <a:cs typeface="Calibri"/>
                <a:sym typeface="Calibri"/>
              </a:rPr>
              <a:t>“NScale, CoreWeave, and national cloud providers now offer sovereign-by-design infrastructure. The question is not whether to use them — it is which workloads require them.”</a:t>
            </a:r>
            <a:endParaRPr sz="950">
              <a:solidFill>
                <a:schemeClr val="dk1"/>
              </a:solidFill>
              <a:latin typeface="Calibri"/>
              <a:ea typeface="Calibri"/>
              <a:cs typeface="Calibri"/>
              <a:sym typeface="Calibri"/>
            </a:endParaRPr>
          </a:p>
        </p:txBody>
      </p:sp>
      <p:sp>
        <p:nvSpPr>
          <p:cNvPr id="171" name="Google Shape;171;p5"/>
          <p:cNvSpPr/>
          <p:nvPr/>
        </p:nvSpPr>
        <p:spPr>
          <a:xfrm>
            <a:off x="3063240" y="256032"/>
            <a:ext cx="580644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829"/>
              </a:buClr>
              <a:buSzPts val="1800"/>
              <a:buFont typeface="Georgia"/>
              <a:buNone/>
            </a:pPr>
            <a:r>
              <a:rPr b="1" lang="en-US" sz="1800">
                <a:solidFill>
                  <a:srgbClr val="0B1829"/>
                </a:solidFill>
                <a:latin typeface="Georgia"/>
                <a:ea typeface="Georgia"/>
                <a:cs typeface="Georgia"/>
                <a:sym typeface="Georgia"/>
              </a:rPr>
              <a:t>The Architecture Decision Framework</a:t>
            </a:r>
            <a:endParaRPr sz="1800">
              <a:solidFill>
                <a:schemeClr val="dk1"/>
              </a:solidFill>
              <a:latin typeface="Calibri"/>
              <a:ea typeface="Calibri"/>
              <a:cs typeface="Calibri"/>
              <a:sym typeface="Calibri"/>
            </a:endParaRPr>
          </a:p>
        </p:txBody>
      </p:sp>
      <p:sp>
        <p:nvSpPr>
          <p:cNvPr id="172" name="Google Shape;172;p5"/>
          <p:cNvSpPr/>
          <p:nvPr/>
        </p:nvSpPr>
        <p:spPr>
          <a:xfrm>
            <a:off x="3063240" y="676656"/>
            <a:ext cx="5806440"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200"/>
              <a:buFont typeface="Calibri"/>
              <a:buNone/>
            </a:pPr>
            <a:r>
              <a:rPr lang="en-US" sz="1200">
                <a:solidFill>
                  <a:srgbClr val="334155"/>
                </a:solidFill>
                <a:latin typeface="Calibri"/>
                <a:ea typeface="Calibri"/>
                <a:cs typeface="Calibri"/>
                <a:sym typeface="Calibri"/>
              </a:rPr>
              <a:t>Different AI workloads have different sovereignty requirements. The architecture decision depends on data classification, regulatory jurisdiction, model sensitivity, and operational risk tolerance.</a:t>
            </a:r>
            <a:endParaRPr sz="1200">
              <a:solidFill>
                <a:schemeClr val="dk1"/>
              </a:solidFill>
              <a:latin typeface="Calibri"/>
              <a:ea typeface="Calibri"/>
              <a:cs typeface="Calibri"/>
              <a:sym typeface="Calibri"/>
            </a:endParaRPr>
          </a:p>
        </p:txBody>
      </p:sp>
      <p:graphicFrame>
        <p:nvGraphicFramePr>
          <p:cNvPr id="173" name="Google Shape;173;p5"/>
          <p:cNvGraphicFramePr/>
          <p:nvPr/>
        </p:nvGraphicFramePr>
        <p:xfrm>
          <a:off x="3063240" y="1170432"/>
          <a:ext cx="3000000" cy="3000000"/>
        </p:xfrm>
        <a:graphic>
          <a:graphicData uri="http://schemas.openxmlformats.org/drawingml/2006/table">
            <a:tbl>
              <a:tblPr>
                <a:noFill/>
                <a:tableStyleId>{319675EF-4782-491A-A18C-60592B1FF900}</a:tableStyleId>
              </a:tblPr>
              <a:tblGrid>
                <a:gridCol w="1463050"/>
                <a:gridCol w="1444750"/>
                <a:gridCol w="1444750"/>
                <a:gridCol w="1453900"/>
              </a:tblGrid>
              <a:tr h="480725">
                <a:tc>
                  <a:txBody>
                    <a:bodyPr/>
                    <a:lstStyle/>
                    <a:p>
                      <a:pPr indent="0" lvl="0" marL="0" marR="0" rtl="0" algn="ctr">
                        <a:spcBef>
                          <a:spcPts val="0"/>
                        </a:spcBef>
                        <a:spcAft>
                          <a:spcPts val="0"/>
                        </a:spcAft>
                        <a:buClr>
                          <a:srgbClr val="FFFFFF"/>
                        </a:buClr>
                        <a:buSzPts val="1000"/>
                        <a:buFont typeface="Calibri"/>
                        <a:buNone/>
                      </a:pPr>
                      <a:r>
                        <a:rPr b="1" lang="en-US" sz="1000" u="none" cap="none" strike="noStrike">
                          <a:solidFill>
                            <a:srgbClr val="FFFFFF"/>
                          </a:solidFill>
                          <a:latin typeface="Calibri"/>
                          <a:ea typeface="Calibri"/>
                          <a:cs typeface="Calibri"/>
                          <a:sym typeface="Calibri"/>
                        </a:rPr>
                        <a:t>Dimension</a:t>
                      </a:r>
                      <a:endParaRPr sz="1000" u="none" cap="none" strike="noStrike">
                        <a:latin typeface="Calibri"/>
                        <a:ea typeface="Calibri"/>
                        <a:cs typeface="Calibri"/>
                        <a:sym typeface="Calibri"/>
                      </a:endParaRPr>
                    </a:p>
                  </a:txBody>
                  <a:tcPr marT="76200" marB="76200" marR="101600" marL="101600" anchor="ctr">
                    <a:lnL cap="flat" cmpd="sng" w="12700">
                      <a:solidFill>
                        <a:srgbClr val="C8D5E4"/>
                      </a:solidFill>
                      <a:prstDash val="solid"/>
                      <a:round/>
                      <a:headEnd len="sm" w="sm" type="none"/>
                      <a:tailEnd len="sm" w="sm" type="none"/>
                    </a:lnL>
                    <a:lnR cap="flat" cmpd="sng" w="12700">
                      <a:solidFill>
                        <a:srgbClr val="C8D5E4"/>
                      </a:solidFill>
                      <a:prstDash val="solid"/>
                      <a:round/>
                      <a:headEnd len="sm" w="sm" type="none"/>
                      <a:tailEnd len="sm" w="sm" type="none"/>
                    </a:lnR>
                    <a:lnT cap="flat" cmpd="sng" w="12700">
                      <a:solidFill>
                        <a:srgbClr val="C8D5E4"/>
                      </a:solidFill>
                      <a:prstDash val="solid"/>
                      <a:round/>
                      <a:headEnd len="sm" w="sm" type="none"/>
                      <a:tailEnd len="sm" w="sm" type="none"/>
                    </a:lnT>
                    <a:lnB cap="flat" cmpd="sng" w="12700">
                      <a:solidFill>
                        <a:srgbClr val="C8D5E4"/>
                      </a:solidFill>
                      <a:prstDash val="solid"/>
                      <a:round/>
                      <a:headEnd len="sm" w="sm" type="none"/>
                      <a:tailEnd len="sm" w="sm" type="none"/>
                    </a:lnB>
                    <a:solidFill>
                      <a:srgbClr val="0B1829"/>
                    </a:solidFill>
                  </a:tcPr>
                </a:tc>
                <a:tc>
                  <a:txBody>
                    <a:bodyPr/>
                    <a:lstStyle/>
                    <a:p>
                      <a:pPr indent="0" lvl="0" marL="0" marR="0" rtl="0" algn="ctr">
                        <a:spcBef>
                          <a:spcPts val="0"/>
                        </a:spcBef>
                        <a:spcAft>
                          <a:spcPts val="0"/>
                        </a:spcAft>
                        <a:buClr>
                          <a:srgbClr val="FFFFFF"/>
                        </a:buClr>
                        <a:buSzPts val="1000"/>
                        <a:buFont typeface="Calibri"/>
                        <a:buNone/>
                      </a:pPr>
                      <a:r>
                        <a:rPr b="1" lang="en-US" sz="1000" u="none" cap="none" strike="noStrike">
                          <a:solidFill>
                            <a:srgbClr val="FFFFFF"/>
                          </a:solidFill>
                          <a:latin typeface="Calibri"/>
                          <a:ea typeface="Calibri"/>
                          <a:cs typeface="Calibri"/>
                          <a:sym typeface="Calibri"/>
                        </a:rPr>
                        <a:t>Hyperscaler</a:t>
                      </a:r>
                      <a:endParaRPr sz="1000" u="none" cap="none" strike="noStrike">
                        <a:latin typeface="Calibri"/>
                        <a:ea typeface="Calibri"/>
                        <a:cs typeface="Calibri"/>
                        <a:sym typeface="Calibri"/>
                      </a:endParaRPr>
                    </a:p>
                    <a:p>
                      <a:pPr indent="0" lvl="0" marL="0" marR="0" rtl="0" algn="ctr">
                        <a:spcBef>
                          <a:spcPts val="0"/>
                        </a:spcBef>
                        <a:spcAft>
                          <a:spcPts val="0"/>
                        </a:spcAft>
                        <a:buClr>
                          <a:srgbClr val="FFFFFF"/>
                        </a:buClr>
                        <a:buSzPts val="1000"/>
                        <a:buFont typeface="Calibri"/>
                        <a:buNone/>
                      </a:pPr>
                      <a:r>
                        <a:rPr b="1" lang="en-US" sz="1000" u="none" cap="none" strike="noStrike">
                          <a:solidFill>
                            <a:srgbClr val="FFFFFF"/>
                          </a:solidFill>
                          <a:latin typeface="Calibri"/>
                          <a:ea typeface="Calibri"/>
                          <a:cs typeface="Calibri"/>
                          <a:sym typeface="Calibri"/>
                        </a:rPr>
                        <a:t>(AWS, Azure, GCP)</a:t>
                      </a:r>
                      <a:endParaRPr sz="1000" u="none" cap="none" strike="noStrike">
                        <a:latin typeface="Calibri"/>
                        <a:ea typeface="Calibri"/>
                        <a:cs typeface="Calibri"/>
                        <a:sym typeface="Calibri"/>
                      </a:endParaRPr>
                    </a:p>
                  </a:txBody>
                  <a:tcPr marT="76200" marB="76200" marR="101600" marL="101600" anchor="ctr">
                    <a:lnL cap="flat" cmpd="sng" w="12700">
                      <a:solidFill>
                        <a:srgbClr val="C8D5E4"/>
                      </a:solidFill>
                      <a:prstDash val="solid"/>
                      <a:round/>
                      <a:headEnd len="sm" w="sm" type="none"/>
                      <a:tailEnd len="sm" w="sm" type="none"/>
                    </a:lnL>
                    <a:lnR cap="flat" cmpd="sng" w="12700">
                      <a:solidFill>
                        <a:srgbClr val="C8D5E4"/>
                      </a:solidFill>
                      <a:prstDash val="solid"/>
                      <a:round/>
                      <a:headEnd len="sm" w="sm" type="none"/>
                      <a:tailEnd len="sm" w="sm" type="none"/>
                    </a:lnR>
                    <a:lnT cap="flat" cmpd="sng" w="12700">
                      <a:solidFill>
                        <a:srgbClr val="C8D5E4"/>
                      </a:solidFill>
                      <a:prstDash val="solid"/>
                      <a:round/>
                      <a:headEnd len="sm" w="sm" type="none"/>
                      <a:tailEnd len="sm" w="sm" type="none"/>
                    </a:lnT>
                    <a:lnB cap="flat" cmpd="sng" w="12700">
                      <a:solidFill>
                        <a:srgbClr val="C8D5E4"/>
                      </a:solidFill>
                      <a:prstDash val="solid"/>
                      <a:round/>
                      <a:headEnd len="sm" w="sm" type="none"/>
                      <a:tailEnd len="sm" w="sm" type="none"/>
                    </a:lnB>
                    <a:solidFill>
                      <a:srgbClr val="1A4A8A"/>
                    </a:solidFill>
                  </a:tcPr>
                </a:tc>
                <a:tc>
                  <a:txBody>
                    <a:bodyPr/>
                    <a:lstStyle/>
                    <a:p>
                      <a:pPr indent="0" lvl="0" marL="0" marR="0" rtl="0" algn="ctr">
                        <a:spcBef>
                          <a:spcPts val="0"/>
                        </a:spcBef>
                        <a:spcAft>
                          <a:spcPts val="0"/>
                        </a:spcAft>
                        <a:buClr>
                          <a:srgbClr val="FFFFFF"/>
                        </a:buClr>
                        <a:buSzPts val="1000"/>
                        <a:buFont typeface="Calibri"/>
                        <a:buNone/>
                      </a:pPr>
                      <a:r>
                        <a:rPr b="1" lang="en-US" sz="1000" u="none" cap="none" strike="noStrike">
                          <a:solidFill>
                            <a:srgbClr val="FFFFFF"/>
                          </a:solidFill>
                          <a:latin typeface="Calibri"/>
                          <a:ea typeface="Calibri"/>
                          <a:cs typeface="Calibri"/>
                          <a:sym typeface="Calibri"/>
                        </a:rPr>
                        <a:t>NeoCloud</a:t>
                      </a:r>
                      <a:endParaRPr sz="1000" u="none" cap="none" strike="noStrike">
                        <a:latin typeface="Calibri"/>
                        <a:ea typeface="Calibri"/>
                        <a:cs typeface="Calibri"/>
                        <a:sym typeface="Calibri"/>
                      </a:endParaRPr>
                    </a:p>
                    <a:p>
                      <a:pPr indent="0" lvl="0" marL="0" marR="0" rtl="0" algn="ctr">
                        <a:spcBef>
                          <a:spcPts val="0"/>
                        </a:spcBef>
                        <a:spcAft>
                          <a:spcPts val="0"/>
                        </a:spcAft>
                        <a:buClr>
                          <a:srgbClr val="FFFFFF"/>
                        </a:buClr>
                        <a:buSzPts val="1000"/>
                        <a:buFont typeface="Calibri"/>
                        <a:buNone/>
                      </a:pPr>
                      <a:r>
                        <a:rPr b="1" lang="en-US" sz="1000" u="none" cap="none" strike="noStrike">
                          <a:solidFill>
                            <a:srgbClr val="FFFFFF"/>
                          </a:solidFill>
                          <a:latin typeface="Calibri"/>
                          <a:ea typeface="Calibri"/>
                          <a:cs typeface="Calibri"/>
                          <a:sym typeface="Calibri"/>
                        </a:rPr>
                        <a:t>(NScale, CoreWeave)</a:t>
                      </a:r>
                      <a:endParaRPr sz="1000" u="none" cap="none" strike="noStrike">
                        <a:latin typeface="Calibri"/>
                        <a:ea typeface="Calibri"/>
                        <a:cs typeface="Calibri"/>
                        <a:sym typeface="Calibri"/>
                      </a:endParaRPr>
                    </a:p>
                  </a:txBody>
                  <a:tcPr marT="76200" marB="76200" marR="101600" marL="101600" anchor="ctr">
                    <a:lnL cap="flat" cmpd="sng" w="12700">
                      <a:solidFill>
                        <a:srgbClr val="C8D5E4"/>
                      </a:solidFill>
                      <a:prstDash val="solid"/>
                      <a:round/>
                      <a:headEnd len="sm" w="sm" type="none"/>
                      <a:tailEnd len="sm" w="sm" type="none"/>
                    </a:lnL>
                    <a:lnR cap="flat" cmpd="sng" w="12700">
                      <a:solidFill>
                        <a:srgbClr val="C8D5E4"/>
                      </a:solidFill>
                      <a:prstDash val="solid"/>
                      <a:round/>
                      <a:headEnd len="sm" w="sm" type="none"/>
                      <a:tailEnd len="sm" w="sm" type="none"/>
                    </a:lnR>
                    <a:lnT cap="flat" cmpd="sng" w="12700">
                      <a:solidFill>
                        <a:srgbClr val="C8D5E4"/>
                      </a:solidFill>
                      <a:prstDash val="solid"/>
                      <a:round/>
                      <a:headEnd len="sm" w="sm" type="none"/>
                      <a:tailEnd len="sm" w="sm" type="none"/>
                    </a:lnT>
                    <a:lnB cap="flat" cmpd="sng" w="12700">
                      <a:solidFill>
                        <a:srgbClr val="C8D5E4"/>
                      </a:solidFill>
                      <a:prstDash val="solid"/>
                      <a:round/>
                      <a:headEnd len="sm" w="sm" type="none"/>
                      <a:tailEnd len="sm" w="sm" type="none"/>
                    </a:lnB>
                    <a:solidFill>
                      <a:srgbClr val="0A7A72"/>
                    </a:solidFill>
                  </a:tcPr>
                </a:tc>
                <a:tc>
                  <a:txBody>
                    <a:bodyPr/>
                    <a:lstStyle/>
                    <a:p>
                      <a:pPr indent="0" lvl="0" marL="0" marR="0" rtl="0" algn="ctr">
                        <a:spcBef>
                          <a:spcPts val="0"/>
                        </a:spcBef>
                        <a:spcAft>
                          <a:spcPts val="0"/>
                        </a:spcAft>
                        <a:buClr>
                          <a:srgbClr val="FFFFFF"/>
                        </a:buClr>
                        <a:buSzPts val="1000"/>
                        <a:buFont typeface="Calibri"/>
                        <a:buNone/>
                      </a:pPr>
                      <a:r>
                        <a:rPr b="1" lang="en-US" sz="1000" u="none" cap="none" strike="noStrike">
                          <a:solidFill>
                            <a:srgbClr val="FFFFFF"/>
                          </a:solidFill>
                          <a:latin typeface="Calibri"/>
                          <a:ea typeface="Calibri"/>
                          <a:cs typeface="Calibri"/>
                          <a:sym typeface="Calibri"/>
                        </a:rPr>
                        <a:t>On-Premises / National Cloud</a:t>
                      </a:r>
                      <a:endParaRPr sz="1000" u="none" cap="none" strike="noStrike">
                        <a:latin typeface="Calibri"/>
                        <a:ea typeface="Calibri"/>
                        <a:cs typeface="Calibri"/>
                        <a:sym typeface="Calibri"/>
                      </a:endParaRPr>
                    </a:p>
                  </a:txBody>
                  <a:tcPr marT="76200" marB="76200" marR="101600" marL="101600" anchor="ctr">
                    <a:lnL cap="flat" cmpd="sng" w="12700">
                      <a:solidFill>
                        <a:srgbClr val="C8D5E4"/>
                      </a:solidFill>
                      <a:prstDash val="solid"/>
                      <a:round/>
                      <a:headEnd len="sm" w="sm" type="none"/>
                      <a:tailEnd len="sm" w="sm" type="none"/>
                    </a:lnL>
                    <a:lnR cap="flat" cmpd="sng" w="12700">
                      <a:solidFill>
                        <a:srgbClr val="C8D5E4"/>
                      </a:solidFill>
                      <a:prstDash val="solid"/>
                      <a:round/>
                      <a:headEnd len="sm" w="sm" type="none"/>
                      <a:tailEnd len="sm" w="sm" type="none"/>
                    </a:lnR>
                    <a:lnT cap="flat" cmpd="sng" w="12700">
                      <a:solidFill>
                        <a:srgbClr val="C8D5E4"/>
                      </a:solidFill>
                      <a:prstDash val="solid"/>
                      <a:round/>
                      <a:headEnd len="sm" w="sm" type="none"/>
                      <a:tailEnd len="sm" w="sm" type="none"/>
                    </a:lnT>
                    <a:lnB cap="flat" cmpd="sng" w="12700">
                      <a:solidFill>
                        <a:srgbClr val="C8D5E4"/>
                      </a:solidFill>
                      <a:prstDash val="solid"/>
                      <a:round/>
                      <a:headEnd len="sm" w="sm" type="none"/>
                      <a:tailEnd len="sm" w="sm" type="none"/>
                    </a:lnB>
                    <a:solidFill>
                      <a:srgbClr val="A0511A"/>
                    </a:solidFill>
                  </a:tcPr>
                </a:tc>
              </a:tr>
              <a:tr h="480725">
                <a:tc>
                  <a:txBody>
                    <a:bodyPr/>
                    <a:lstStyle/>
                    <a:p>
                      <a:pPr indent="0" lvl="0" marL="0" marR="0" rtl="0" algn="l">
                        <a:spcBef>
                          <a:spcPts val="0"/>
                        </a:spcBef>
                        <a:spcAft>
                          <a:spcPts val="0"/>
                        </a:spcAft>
                        <a:buClr>
                          <a:srgbClr val="0B1829"/>
                        </a:buClr>
                        <a:buSzPts val="950"/>
                        <a:buFont typeface="Calibri"/>
                        <a:buNone/>
                      </a:pPr>
                      <a:r>
                        <a:rPr b="1" lang="en-US" sz="950" u="none" cap="none" strike="noStrike">
                          <a:solidFill>
                            <a:srgbClr val="0B1829"/>
                          </a:solidFill>
                          <a:latin typeface="Calibri"/>
                          <a:ea typeface="Calibri"/>
                          <a:cs typeface="Calibri"/>
                          <a:sym typeface="Calibri"/>
                        </a:rPr>
                        <a:t>Data Residency</a:t>
                      </a:r>
                      <a:endParaRPr sz="950" u="none" cap="none" strike="noStrike">
                        <a:latin typeface="Calibri"/>
                        <a:ea typeface="Calibri"/>
                        <a:cs typeface="Calibri"/>
                        <a:sym typeface="Calibri"/>
                      </a:endParaRPr>
                    </a:p>
                  </a:txBody>
                  <a:tcPr marT="63500" marB="63500" marR="101600" marL="101600" anchor="ctr">
                    <a:lnL cap="flat" cmpd="sng" w="12700">
                      <a:solidFill>
                        <a:srgbClr val="C8D5E4"/>
                      </a:solidFill>
                      <a:prstDash val="solid"/>
                      <a:round/>
                      <a:headEnd len="sm" w="sm" type="none"/>
                      <a:tailEnd len="sm" w="sm" type="none"/>
                    </a:lnL>
                    <a:lnR cap="flat" cmpd="sng" w="12700">
                      <a:solidFill>
                        <a:srgbClr val="C8D5E4"/>
                      </a:solidFill>
                      <a:prstDash val="solid"/>
                      <a:round/>
                      <a:headEnd len="sm" w="sm" type="none"/>
                      <a:tailEnd len="sm" w="sm" type="none"/>
                    </a:lnR>
                    <a:lnT cap="flat" cmpd="sng" w="12700">
                      <a:solidFill>
                        <a:srgbClr val="C8D5E4"/>
                      </a:solidFill>
                      <a:prstDash val="solid"/>
                      <a:round/>
                      <a:headEnd len="sm" w="sm" type="none"/>
                      <a:tailEnd len="sm" w="sm" type="none"/>
                    </a:lnT>
                    <a:lnB cap="flat" cmpd="sng" w="12700">
                      <a:solidFill>
                        <a:srgbClr val="C8D5E4"/>
                      </a:solidFill>
                      <a:prstDash val="solid"/>
                      <a:round/>
                      <a:headEnd len="sm" w="sm" type="none"/>
                      <a:tailEnd len="sm" w="sm" type="none"/>
                    </a:lnB>
                    <a:solidFill>
                      <a:srgbClr val="EEF3F9"/>
                    </a:solidFill>
                  </a:tcPr>
                </a:tc>
                <a:tc>
                  <a:txBody>
                    <a:bodyPr/>
                    <a:lstStyle/>
                    <a:p>
                      <a:pPr indent="0" lvl="0" marL="0" marR="0" rtl="0" algn="l">
                        <a:spcBef>
                          <a:spcPts val="0"/>
                        </a:spcBef>
                        <a:spcAft>
                          <a:spcPts val="0"/>
                        </a:spcAft>
                        <a:buClr>
                          <a:srgbClr val="334155"/>
                        </a:buClr>
                        <a:buSzPts val="950"/>
                        <a:buFont typeface="Calibri"/>
                        <a:buNone/>
                      </a:pPr>
                      <a:r>
                        <a:rPr lang="en-US" sz="950" u="none" cap="none" strike="noStrike">
                          <a:solidFill>
                            <a:srgbClr val="334155"/>
                          </a:solidFill>
                          <a:latin typeface="Calibri"/>
                          <a:ea typeface="Calibri"/>
                          <a:cs typeface="Calibri"/>
                          <a:sym typeface="Calibri"/>
                        </a:rPr>
                        <a:t>Region-level (configurable)</a:t>
                      </a:r>
                      <a:endParaRPr sz="950" u="none" cap="none" strike="noStrike">
                        <a:latin typeface="Calibri"/>
                        <a:ea typeface="Calibri"/>
                        <a:cs typeface="Calibri"/>
                        <a:sym typeface="Calibri"/>
                      </a:endParaRPr>
                    </a:p>
                  </a:txBody>
                  <a:tcPr marT="63500" marB="63500" marR="101600" marL="101600" anchor="ctr">
                    <a:lnL cap="flat" cmpd="sng" w="12700">
                      <a:solidFill>
                        <a:srgbClr val="C8D5E4"/>
                      </a:solidFill>
                      <a:prstDash val="solid"/>
                      <a:round/>
                      <a:headEnd len="sm" w="sm" type="none"/>
                      <a:tailEnd len="sm" w="sm" type="none"/>
                    </a:lnL>
                    <a:lnR cap="flat" cmpd="sng" w="12700">
                      <a:solidFill>
                        <a:srgbClr val="C8D5E4"/>
                      </a:solidFill>
                      <a:prstDash val="solid"/>
                      <a:round/>
                      <a:headEnd len="sm" w="sm" type="none"/>
                      <a:tailEnd len="sm" w="sm" type="none"/>
                    </a:lnR>
                    <a:lnT cap="flat" cmpd="sng" w="12700">
                      <a:solidFill>
                        <a:srgbClr val="C8D5E4"/>
                      </a:solidFill>
                      <a:prstDash val="solid"/>
                      <a:round/>
                      <a:headEnd len="sm" w="sm" type="none"/>
                      <a:tailEnd len="sm" w="sm" type="none"/>
                    </a:lnT>
                    <a:lnB cap="flat" cmpd="sng" w="12700">
                      <a:solidFill>
                        <a:srgbClr val="C8D5E4"/>
                      </a:solidFill>
                      <a:prstDash val="solid"/>
                      <a:round/>
                      <a:headEnd len="sm" w="sm" type="none"/>
                      <a:tailEnd len="sm" w="sm" type="none"/>
                    </a:lnB>
                    <a:solidFill>
                      <a:srgbClr val="EEF3F9"/>
                    </a:solidFill>
                  </a:tcPr>
                </a:tc>
                <a:tc>
                  <a:txBody>
                    <a:bodyPr/>
                    <a:lstStyle/>
                    <a:p>
                      <a:pPr indent="0" lvl="0" marL="0" marR="0" rtl="0" algn="l">
                        <a:spcBef>
                          <a:spcPts val="0"/>
                        </a:spcBef>
                        <a:spcAft>
                          <a:spcPts val="0"/>
                        </a:spcAft>
                        <a:buClr>
                          <a:srgbClr val="334155"/>
                        </a:buClr>
                        <a:buSzPts val="950"/>
                        <a:buFont typeface="Calibri"/>
                        <a:buNone/>
                      </a:pPr>
                      <a:r>
                        <a:rPr lang="en-US" sz="950" u="none" cap="none" strike="noStrike">
                          <a:solidFill>
                            <a:srgbClr val="334155"/>
                          </a:solidFill>
                          <a:latin typeface="Calibri"/>
                          <a:ea typeface="Calibri"/>
                          <a:cs typeface="Calibri"/>
                          <a:sym typeface="Calibri"/>
                        </a:rPr>
                        <a:t>Country-level (sovereign)</a:t>
                      </a:r>
                      <a:endParaRPr sz="950" u="none" cap="none" strike="noStrike">
                        <a:latin typeface="Calibri"/>
                        <a:ea typeface="Calibri"/>
                        <a:cs typeface="Calibri"/>
                        <a:sym typeface="Calibri"/>
                      </a:endParaRPr>
                    </a:p>
                  </a:txBody>
                  <a:tcPr marT="63500" marB="63500" marR="101600" marL="101600" anchor="ctr">
                    <a:lnL cap="flat" cmpd="sng" w="12700">
                      <a:solidFill>
                        <a:srgbClr val="C8D5E4"/>
                      </a:solidFill>
                      <a:prstDash val="solid"/>
                      <a:round/>
                      <a:headEnd len="sm" w="sm" type="none"/>
                      <a:tailEnd len="sm" w="sm" type="none"/>
                    </a:lnL>
                    <a:lnR cap="flat" cmpd="sng" w="12700">
                      <a:solidFill>
                        <a:srgbClr val="C8D5E4"/>
                      </a:solidFill>
                      <a:prstDash val="solid"/>
                      <a:round/>
                      <a:headEnd len="sm" w="sm" type="none"/>
                      <a:tailEnd len="sm" w="sm" type="none"/>
                    </a:lnR>
                    <a:lnT cap="flat" cmpd="sng" w="12700">
                      <a:solidFill>
                        <a:srgbClr val="C8D5E4"/>
                      </a:solidFill>
                      <a:prstDash val="solid"/>
                      <a:round/>
                      <a:headEnd len="sm" w="sm" type="none"/>
                      <a:tailEnd len="sm" w="sm" type="none"/>
                    </a:lnT>
                    <a:lnB cap="flat" cmpd="sng" w="12700">
                      <a:solidFill>
                        <a:srgbClr val="C8D5E4"/>
                      </a:solidFill>
                      <a:prstDash val="solid"/>
                      <a:round/>
                      <a:headEnd len="sm" w="sm" type="none"/>
                      <a:tailEnd len="sm" w="sm" type="none"/>
                    </a:lnB>
                    <a:solidFill>
                      <a:srgbClr val="EEF3F9"/>
                    </a:solidFill>
                  </a:tcPr>
                </a:tc>
                <a:tc>
                  <a:txBody>
                    <a:bodyPr/>
                    <a:lstStyle/>
                    <a:p>
                      <a:pPr indent="0" lvl="0" marL="0" marR="0" rtl="0" algn="l">
                        <a:spcBef>
                          <a:spcPts val="0"/>
                        </a:spcBef>
                        <a:spcAft>
                          <a:spcPts val="0"/>
                        </a:spcAft>
                        <a:buClr>
                          <a:srgbClr val="334155"/>
                        </a:buClr>
                        <a:buSzPts val="950"/>
                        <a:buFont typeface="Calibri"/>
                        <a:buNone/>
                      </a:pPr>
                      <a:r>
                        <a:rPr lang="en-US" sz="950" u="none" cap="none" strike="noStrike">
                          <a:solidFill>
                            <a:srgbClr val="334155"/>
                          </a:solidFill>
                          <a:latin typeface="Calibri"/>
                          <a:ea typeface="Calibri"/>
                          <a:cs typeface="Calibri"/>
                          <a:sym typeface="Calibri"/>
                        </a:rPr>
                        <a:t>Air-gapped; absolute</a:t>
                      </a:r>
                      <a:endParaRPr sz="950" u="none" cap="none" strike="noStrike">
                        <a:latin typeface="Calibri"/>
                        <a:ea typeface="Calibri"/>
                        <a:cs typeface="Calibri"/>
                        <a:sym typeface="Calibri"/>
                      </a:endParaRPr>
                    </a:p>
                  </a:txBody>
                  <a:tcPr marT="63500" marB="63500" marR="101600" marL="101600" anchor="ctr">
                    <a:lnL cap="flat" cmpd="sng" w="12700">
                      <a:solidFill>
                        <a:srgbClr val="C8D5E4"/>
                      </a:solidFill>
                      <a:prstDash val="solid"/>
                      <a:round/>
                      <a:headEnd len="sm" w="sm" type="none"/>
                      <a:tailEnd len="sm" w="sm" type="none"/>
                    </a:lnL>
                    <a:lnR cap="flat" cmpd="sng" w="12700">
                      <a:solidFill>
                        <a:srgbClr val="C8D5E4"/>
                      </a:solidFill>
                      <a:prstDash val="solid"/>
                      <a:round/>
                      <a:headEnd len="sm" w="sm" type="none"/>
                      <a:tailEnd len="sm" w="sm" type="none"/>
                    </a:lnR>
                    <a:lnT cap="flat" cmpd="sng" w="12700">
                      <a:solidFill>
                        <a:srgbClr val="C8D5E4"/>
                      </a:solidFill>
                      <a:prstDash val="solid"/>
                      <a:round/>
                      <a:headEnd len="sm" w="sm" type="none"/>
                      <a:tailEnd len="sm" w="sm" type="none"/>
                    </a:lnT>
                    <a:lnB cap="flat" cmpd="sng" w="12700">
                      <a:solidFill>
                        <a:srgbClr val="C8D5E4"/>
                      </a:solidFill>
                      <a:prstDash val="solid"/>
                      <a:round/>
                      <a:headEnd len="sm" w="sm" type="none"/>
                      <a:tailEnd len="sm" w="sm" type="none"/>
                    </a:lnB>
                    <a:solidFill>
                      <a:srgbClr val="EEF3F9"/>
                    </a:solidFill>
                  </a:tcPr>
                </a:tc>
              </a:tr>
              <a:tr h="480725">
                <a:tc>
                  <a:txBody>
                    <a:bodyPr/>
                    <a:lstStyle/>
                    <a:p>
                      <a:pPr indent="0" lvl="0" marL="0" marR="0" rtl="0" algn="l">
                        <a:spcBef>
                          <a:spcPts val="0"/>
                        </a:spcBef>
                        <a:spcAft>
                          <a:spcPts val="0"/>
                        </a:spcAft>
                        <a:buClr>
                          <a:srgbClr val="0B1829"/>
                        </a:buClr>
                        <a:buSzPts val="950"/>
                        <a:buFont typeface="Calibri"/>
                        <a:buNone/>
                      </a:pPr>
                      <a:r>
                        <a:rPr b="1" lang="en-US" sz="950" u="none" cap="none" strike="noStrike">
                          <a:solidFill>
                            <a:srgbClr val="0B1829"/>
                          </a:solidFill>
                          <a:latin typeface="Calibri"/>
                          <a:ea typeface="Calibri"/>
                          <a:cs typeface="Calibri"/>
                          <a:sym typeface="Calibri"/>
                        </a:rPr>
                        <a:t>Compliance Certs</a:t>
                      </a:r>
                      <a:endParaRPr sz="950" u="none" cap="none" strike="noStrike">
                        <a:latin typeface="Calibri"/>
                        <a:ea typeface="Calibri"/>
                        <a:cs typeface="Calibri"/>
                        <a:sym typeface="Calibri"/>
                      </a:endParaRPr>
                    </a:p>
                  </a:txBody>
                  <a:tcPr marT="63500" marB="63500" marR="101600" marL="101600" anchor="ctr">
                    <a:lnL cap="flat" cmpd="sng" w="12700">
                      <a:solidFill>
                        <a:srgbClr val="C8D5E4"/>
                      </a:solidFill>
                      <a:prstDash val="solid"/>
                      <a:round/>
                      <a:headEnd len="sm" w="sm" type="none"/>
                      <a:tailEnd len="sm" w="sm" type="none"/>
                    </a:lnL>
                    <a:lnR cap="flat" cmpd="sng" w="12700">
                      <a:solidFill>
                        <a:srgbClr val="C8D5E4"/>
                      </a:solidFill>
                      <a:prstDash val="solid"/>
                      <a:round/>
                      <a:headEnd len="sm" w="sm" type="none"/>
                      <a:tailEnd len="sm" w="sm" type="none"/>
                    </a:lnR>
                    <a:lnT cap="flat" cmpd="sng" w="12700">
                      <a:solidFill>
                        <a:srgbClr val="C8D5E4"/>
                      </a:solidFill>
                      <a:prstDash val="solid"/>
                      <a:round/>
                      <a:headEnd len="sm" w="sm" type="none"/>
                      <a:tailEnd len="sm" w="sm" type="none"/>
                    </a:lnT>
                    <a:lnB cap="flat" cmpd="sng" w="12700">
                      <a:solidFill>
                        <a:srgbClr val="C8D5E4"/>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334155"/>
                        </a:buClr>
                        <a:buSzPts val="950"/>
                        <a:buFont typeface="Calibri"/>
                        <a:buNone/>
                      </a:pPr>
                      <a:r>
                        <a:rPr lang="en-US" sz="950" u="none" cap="none" strike="noStrike">
                          <a:solidFill>
                            <a:srgbClr val="334155"/>
                          </a:solidFill>
                          <a:latin typeface="Calibri"/>
                          <a:ea typeface="Calibri"/>
                          <a:cs typeface="Calibri"/>
                          <a:sym typeface="Calibri"/>
                        </a:rPr>
                        <a:t>SOC2, ISO27001, local</a:t>
                      </a:r>
                      <a:endParaRPr sz="950" u="none" cap="none" strike="noStrike">
                        <a:latin typeface="Calibri"/>
                        <a:ea typeface="Calibri"/>
                        <a:cs typeface="Calibri"/>
                        <a:sym typeface="Calibri"/>
                      </a:endParaRPr>
                    </a:p>
                  </a:txBody>
                  <a:tcPr marT="63500" marB="63500" marR="101600" marL="101600" anchor="ctr">
                    <a:lnL cap="flat" cmpd="sng" w="12700">
                      <a:solidFill>
                        <a:srgbClr val="C8D5E4"/>
                      </a:solidFill>
                      <a:prstDash val="solid"/>
                      <a:round/>
                      <a:headEnd len="sm" w="sm" type="none"/>
                      <a:tailEnd len="sm" w="sm" type="none"/>
                    </a:lnL>
                    <a:lnR cap="flat" cmpd="sng" w="12700">
                      <a:solidFill>
                        <a:srgbClr val="C8D5E4"/>
                      </a:solidFill>
                      <a:prstDash val="solid"/>
                      <a:round/>
                      <a:headEnd len="sm" w="sm" type="none"/>
                      <a:tailEnd len="sm" w="sm" type="none"/>
                    </a:lnR>
                    <a:lnT cap="flat" cmpd="sng" w="12700">
                      <a:solidFill>
                        <a:srgbClr val="C8D5E4"/>
                      </a:solidFill>
                      <a:prstDash val="solid"/>
                      <a:round/>
                      <a:headEnd len="sm" w="sm" type="none"/>
                      <a:tailEnd len="sm" w="sm" type="none"/>
                    </a:lnT>
                    <a:lnB cap="flat" cmpd="sng" w="12700">
                      <a:solidFill>
                        <a:srgbClr val="C8D5E4"/>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334155"/>
                        </a:buClr>
                        <a:buSzPts val="950"/>
                        <a:buFont typeface="Calibri"/>
                        <a:buNone/>
                      </a:pPr>
                      <a:r>
                        <a:rPr lang="en-US" sz="950" u="none" cap="none" strike="noStrike">
                          <a:solidFill>
                            <a:srgbClr val="334155"/>
                          </a:solidFill>
                          <a:latin typeface="Calibri"/>
                          <a:ea typeface="Calibri"/>
                          <a:cs typeface="Calibri"/>
                          <a:sym typeface="Calibri"/>
                        </a:rPr>
                        <a:t>Sovereign by design</a:t>
                      </a:r>
                      <a:endParaRPr sz="950" u="none" cap="none" strike="noStrike">
                        <a:latin typeface="Calibri"/>
                        <a:ea typeface="Calibri"/>
                        <a:cs typeface="Calibri"/>
                        <a:sym typeface="Calibri"/>
                      </a:endParaRPr>
                    </a:p>
                  </a:txBody>
                  <a:tcPr marT="63500" marB="63500" marR="101600" marL="101600" anchor="ctr">
                    <a:lnL cap="flat" cmpd="sng" w="12700">
                      <a:solidFill>
                        <a:srgbClr val="C8D5E4"/>
                      </a:solidFill>
                      <a:prstDash val="solid"/>
                      <a:round/>
                      <a:headEnd len="sm" w="sm" type="none"/>
                      <a:tailEnd len="sm" w="sm" type="none"/>
                    </a:lnL>
                    <a:lnR cap="flat" cmpd="sng" w="12700">
                      <a:solidFill>
                        <a:srgbClr val="C8D5E4"/>
                      </a:solidFill>
                      <a:prstDash val="solid"/>
                      <a:round/>
                      <a:headEnd len="sm" w="sm" type="none"/>
                      <a:tailEnd len="sm" w="sm" type="none"/>
                    </a:lnR>
                    <a:lnT cap="flat" cmpd="sng" w="12700">
                      <a:solidFill>
                        <a:srgbClr val="C8D5E4"/>
                      </a:solidFill>
                      <a:prstDash val="solid"/>
                      <a:round/>
                      <a:headEnd len="sm" w="sm" type="none"/>
                      <a:tailEnd len="sm" w="sm" type="none"/>
                    </a:lnT>
                    <a:lnB cap="flat" cmpd="sng" w="12700">
                      <a:solidFill>
                        <a:srgbClr val="C8D5E4"/>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334155"/>
                        </a:buClr>
                        <a:buSzPts val="950"/>
                        <a:buFont typeface="Calibri"/>
                        <a:buNone/>
                      </a:pPr>
                      <a:r>
                        <a:rPr lang="en-US" sz="950" u="none" cap="none" strike="noStrike">
                          <a:solidFill>
                            <a:srgbClr val="334155"/>
                          </a:solidFill>
                          <a:latin typeface="Calibri"/>
                          <a:ea typeface="Calibri"/>
                          <a:cs typeface="Calibri"/>
                          <a:sym typeface="Calibri"/>
                        </a:rPr>
                        <a:t>Full control; manual</a:t>
                      </a:r>
                      <a:endParaRPr sz="950" u="none" cap="none" strike="noStrike">
                        <a:latin typeface="Calibri"/>
                        <a:ea typeface="Calibri"/>
                        <a:cs typeface="Calibri"/>
                        <a:sym typeface="Calibri"/>
                      </a:endParaRPr>
                    </a:p>
                  </a:txBody>
                  <a:tcPr marT="63500" marB="63500" marR="101600" marL="101600" anchor="ctr">
                    <a:lnL cap="flat" cmpd="sng" w="12700">
                      <a:solidFill>
                        <a:srgbClr val="C8D5E4"/>
                      </a:solidFill>
                      <a:prstDash val="solid"/>
                      <a:round/>
                      <a:headEnd len="sm" w="sm" type="none"/>
                      <a:tailEnd len="sm" w="sm" type="none"/>
                    </a:lnL>
                    <a:lnR cap="flat" cmpd="sng" w="12700">
                      <a:solidFill>
                        <a:srgbClr val="C8D5E4"/>
                      </a:solidFill>
                      <a:prstDash val="solid"/>
                      <a:round/>
                      <a:headEnd len="sm" w="sm" type="none"/>
                      <a:tailEnd len="sm" w="sm" type="none"/>
                    </a:lnR>
                    <a:lnT cap="flat" cmpd="sng" w="12700">
                      <a:solidFill>
                        <a:srgbClr val="C8D5E4"/>
                      </a:solidFill>
                      <a:prstDash val="solid"/>
                      <a:round/>
                      <a:headEnd len="sm" w="sm" type="none"/>
                      <a:tailEnd len="sm" w="sm" type="none"/>
                    </a:lnT>
                    <a:lnB cap="flat" cmpd="sng" w="12700">
                      <a:solidFill>
                        <a:srgbClr val="C8D5E4"/>
                      </a:solidFill>
                      <a:prstDash val="solid"/>
                      <a:round/>
                      <a:headEnd len="sm" w="sm" type="none"/>
                      <a:tailEnd len="sm" w="sm" type="none"/>
                    </a:lnB>
                    <a:solidFill>
                      <a:srgbClr val="FFFFFF"/>
                    </a:solidFill>
                  </a:tcPr>
                </a:tc>
              </a:tr>
              <a:tr h="480725">
                <a:tc>
                  <a:txBody>
                    <a:bodyPr/>
                    <a:lstStyle/>
                    <a:p>
                      <a:pPr indent="0" lvl="0" marL="0" marR="0" rtl="0" algn="l">
                        <a:spcBef>
                          <a:spcPts val="0"/>
                        </a:spcBef>
                        <a:spcAft>
                          <a:spcPts val="0"/>
                        </a:spcAft>
                        <a:buClr>
                          <a:srgbClr val="0B1829"/>
                        </a:buClr>
                        <a:buSzPts val="950"/>
                        <a:buFont typeface="Calibri"/>
                        <a:buNone/>
                      </a:pPr>
                      <a:r>
                        <a:rPr b="1" lang="en-US" sz="950" u="none" cap="none" strike="noStrike">
                          <a:solidFill>
                            <a:srgbClr val="0B1829"/>
                          </a:solidFill>
                          <a:latin typeface="Calibri"/>
                          <a:ea typeface="Calibri"/>
                          <a:cs typeface="Calibri"/>
                          <a:sym typeface="Calibri"/>
                        </a:rPr>
                        <a:t>Model Portability</a:t>
                      </a:r>
                      <a:endParaRPr sz="950" u="none" cap="none" strike="noStrike">
                        <a:latin typeface="Calibri"/>
                        <a:ea typeface="Calibri"/>
                        <a:cs typeface="Calibri"/>
                        <a:sym typeface="Calibri"/>
                      </a:endParaRPr>
                    </a:p>
                  </a:txBody>
                  <a:tcPr marT="63500" marB="63500" marR="101600" marL="101600" anchor="ctr">
                    <a:lnL cap="flat" cmpd="sng" w="12700">
                      <a:solidFill>
                        <a:srgbClr val="C8D5E4"/>
                      </a:solidFill>
                      <a:prstDash val="solid"/>
                      <a:round/>
                      <a:headEnd len="sm" w="sm" type="none"/>
                      <a:tailEnd len="sm" w="sm" type="none"/>
                    </a:lnL>
                    <a:lnR cap="flat" cmpd="sng" w="12700">
                      <a:solidFill>
                        <a:srgbClr val="C8D5E4"/>
                      </a:solidFill>
                      <a:prstDash val="solid"/>
                      <a:round/>
                      <a:headEnd len="sm" w="sm" type="none"/>
                      <a:tailEnd len="sm" w="sm" type="none"/>
                    </a:lnR>
                    <a:lnT cap="flat" cmpd="sng" w="12700">
                      <a:solidFill>
                        <a:srgbClr val="C8D5E4"/>
                      </a:solidFill>
                      <a:prstDash val="solid"/>
                      <a:round/>
                      <a:headEnd len="sm" w="sm" type="none"/>
                      <a:tailEnd len="sm" w="sm" type="none"/>
                    </a:lnT>
                    <a:lnB cap="flat" cmpd="sng" w="12700">
                      <a:solidFill>
                        <a:srgbClr val="C8D5E4"/>
                      </a:solidFill>
                      <a:prstDash val="solid"/>
                      <a:round/>
                      <a:headEnd len="sm" w="sm" type="none"/>
                      <a:tailEnd len="sm" w="sm" type="none"/>
                    </a:lnB>
                    <a:solidFill>
                      <a:srgbClr val="EEF3F9"/>
                    </a:solidFill>
                  </a:tcPr>
                </a:tc>
                <a:tc>
                  <a:txBody>
                    <a:bodyPr/>
                    <a:lstStyle/>
                    <a:p>
                      <a:pPr indent="0" lvl="0" marL="0" marR="0" rtl="0" algn="l">
                        <a:spcBef>
                          <a:spcPts val="0"/>
                        </a:spcBef>
                        <a:spcAft>
                          <a:spcPts val="0"/>
                        </a:spcAft>
                        <a:buClr>
                          <a:srgbClr val="334155"/>
                        </a:buClr>
                        <a:buSzPts val="950"/>
                        <a:buFont typeface="Calibri"/>
                        <a:buNone/>
                      </a:pPr>
                      <a:r>
                        <a:rPr lang="en-US" sz="950" u="none" cap="none" strike="noStrike">
                          <a:solidFill>
                            <a:srgbClr val="334155"/>
                          </a:solidFill>
                          <a:latin typeface="Calibri"/>
                          <a:ea typeface="Calibri"/>
                          <a:cs typeface="Calibri"/>
                          <a:sym typeface="Calibri"/>
                        </a:rPr>
                        <a:t>High vendor lock-in risk</a:t>
                      </a:r>
                      <a:endParaRPr sz="950" u="none" cap="none" strike="noStrike">
                        <a:latin typeface="Calibri"/>
                        <a:ea typeface="Calibri"/>
                        <a:cs typeface="Calibri"/>
                        <a:sym typeface="Calibri"/>
                      </a:endParaRPr>
                    </a:p>
                  </a:txBody>
                  <a:tcPr marT="63500" marB="63500" marR="101600" marL="101600" anchor="ctr">
                    <a:lnL cap="flat" cmpd="sng" w="12700">
                      <a:solidFill>
                        <a:srgbClr val="C8D5E4"/>
                      </a:solidFill>
                      <a:prstDash val="solid"/>
                      <a:round/>
                      <a:headEnd len="sm" w="sm" type="none"/>
                      <a:tailEnd len="sm" w="sm" type="none"/>
                    </a:lnL>
                    <a:lnR cap="flat" cmpd="sng" w="12700">
                      <a:solidFill>
                        <a:srgbClr val="C8D5E4"/>
                      </a:solidFill>
                      <a:prstDash val="solid"/>
                      <a:round/>
                      <a:headEnd len="sm" w="sm" type="none"/>
                      <a:tailEnd len="sm" w="sm" type="none"/>
                    </a:lnR>
                    <a:lnT cap="flat" cmpd="sng" w="12700">
                      <a:solidFill>
                        <a:srgbClr val="C8D5E4"/>
                      </a:solidFill>
                      <a:prstDash val="solid"/>
                      <a:round/>
                      <a:headEnd len="sm" w="sm" type="none"/>
                      <a:tailEnd len="sm" w="sm" type="none"/>
                    </a:lnT>
                    <a:lnB cap="flat" cmpd="sng" w="12700">
                      <a:solidFill>
                        <a:srgbClr val="C8D5E4"/>
                      </a:solidFill>
                      <a:prstDash val="solid"/>
                      <a:round/>
                      <a:headEnd len="sm" w="sm" type="none"/>
                      <a:tailEnd len="sm" w="sm" type="none"/>
                    </a:lnB>
                    <a:solidFill>
                      <a:srgbClr val="EEF3F9"/>
                    </a:solidFill>
                  </a:tcPr>
                </a:tc>
                <a:tc>
                  <a:txBody>
                    <a:bodyPr/>
                    <a:lstStyle/>
                    <a:p>
                      <a:pPr indent="0" lvl="0" marL="0" marR="0" rtl="0" algn="l">
                        <a:spcBef>
                          <a:spcPts val="0"/>
                        </a:spcBef>
                        <a:spcAft>
                          <a:spcPts val="0"/>
                        </a:spcAft>
                        <a:buClr>
                          <a:srgbClr val="334155"/>
                        </a:buClr>
                        <a:buSzPts val="950"/>
                        <a:buFont typeface="Calibri"/>
                        <a:buNone/>
                      </a:pPr>
                      <a:r>
                        <a:rPr lang="en-US" sz="950" u="none" cap="none" strike="noStrike">
                          <a:solidFill>
                            <a:srgbClr val="334155"/>
                          </a:solidFill>
                          <a:latin typeface="Calibri"/>
                          <a:ea typeface="Calibri"/>
                          <a:cs typeface="Calibri"/>
                          <a:sym typeface="Calibri"/>
                        </a:rPr>
                        <a:t>Open model support (Llama etc.)</a:t>
                      </a:r>
                      <a:endParaRPr sz="950" u="none" cap="none" strike="noStrike">
                        <a:latin typeface="Calibri"/>
                        <a:ea typeface="Calibri"/>
                        <a:cs typeface="Calibri"/>
                        <a:sym typeface="Calibri"/>
                      </a:endParaRPr>
                    </a:p>
                  </a:txBody>
                  <a:tcPr marT="63500" marB="63500" marR="101600" marL="101600" anchor="ctr">
                    <a:lnL cap="flat" cmpd="sng" w="12700">
                      <a:solidFill>
                        <a:srgbClr val="C8D5E4"/>
                      </a:solidFill>
                      <a:prstDash val="solid"/>
                      <a:round/>
                      <a:headEnd len="sm" w="sm" type="none"/>
                      <a:tailEnd len="sm" w="sm" type="none"/>
                    </a:lnL>
                    <a:lnR cap="flat" cmpd="sng" w="12700">
                      <a:solidFill>
                        <a:srgbClr val="C8D5E4"/>
                      </a:solidFill>
                      <a:prstDash val="solid"/>
                      <a:round/>
                      <a:headEnd len="sm" w="sm" type="none"/>
                      <a:tailEnd len="sm" w="sm" type="none"/>
                    </a:lnR>
                    <a:lnT cap="flat" cmpd="sng" w="12700">
                      <a:solidFill>
                        <a:srgbClr val="C8D5E4"/>
                      </a:solidFill>
                      <a:prstDash val="solid"/>
                      <a:round/>
                      <a:headEnd len="sm" w="sm" type="none"/>
                      <a:tailEnd len="sm" w="sm" type="none"/>
                    </a:lnT>
                    <a:lnB cap="flat" cmpd="sng" w="12700">
                      <a:solidFill>
                        <a:srgbClr val="C8D5E4"/>
                      </a:solidFill>
                      <a:prstDash val="solid"/>
                      <a:round/>
                      <a:headEnd len="sm" w="sm" type="none"/>
                      <a:tailEnd len="sm" w="sm" type="none"/>
                    </a:lnB>
                    <a:solidFill>
                      <a:srgbClr val="EEF3F9"/>
                    </a:solidFill>
                  </a:tcPr>
                </a:tc>
                <a:tc>
                  <a:txBody>
                    <a:bodyPr/>
                    <a:lstStyle/>
                    <a:p>
                      <a:pPr indent="0" lvl="0" marL="0" marR="0" rtl="0" algn="l">
                        <a:spcBef>
                          <a:spcPts val="0"/>
                        </a:spcBef>
                        <a:spcAft>
                          <a:spcPts val="0"/>
                        </a:spcAft>
                        <a:buClr>
                          <a:srgbClr val="334155"/>
                        </a:buClr>
                        <a:buSzPts val="950"/>
                        <a:buFont typeface="Calibri"/>
                        <a:buNone/>
                      </a:pPr>
                      <a:r>
                        <a:rPr lang="en-US" sz="950" u="none" cap="none" strike="noStrike">
                          <a:solidFill>
                            <a:srgbClr val="334155"/>
                          </a:solidFill>
                          <a:latin typeface="Calibri"/>
                          <a:ea typeface="Calibri"/>
                          <a:cs typeface="Calibri"/>
                          <a:sym typeface="Calibri"/>
                        </a:rPr>
                        <a:t>Complete portability</a:t>
                      </a:r>
                      <a:endParaRPr sz="950" u="none" cap="none" strike="noStrike">
                        <a:latin typeface="Calibri"/>
                        <a:ea typeface="Calibri"/>
                        <a:cs typeface="Calibri"/>
                        <a:sym typeface="Calibri"/>
                      </a:endParaRPr>
                    </a:p>
                  </a:txBody>
                  <a:tcPr marT="63500" marB="63500" marR="101600" marL="101600" anchor="ctr">
                    <a:lnL cap="flat" cmpd="sng" w="12700">
                      <a:solidFill>
                        <a:srgbClr val="C8D5E4"/>
                      </a:solidFill>
                      <a:prstDash val="solid"/>
                      <a:round/>
                      <a:headEnd len="sm" w="sm" type="none"/>
                      <a:tailEnd len="sm" w="sm" type="none"/>
                    </a:lnL>
                    <a:lnR cap="flat" cmpd="sng" w="12700">
                      <a:solidFill>
                        <a:srgbClr val="C8D5E4"/>
                      </a:solidFill>
                      <a:prstDash val="solid"/>
                      <a:round/>
                      <a:headEnd len="sm" w="sm" type="none"/>
                      <a:tailEnd len="sm" w="sm" type="none"/>
                    </a:lnR>
                    <a:lnT cap="flat" cmpd="sng" w="12700">
                      <a:solidFill>
                        <a:srgbClr val="C8D5E4"/>
                      </a:solidFill>
                      <a:prstDash val="solid"/>
                      <a:round/>
                      <a:headEnd len="sm" w="sm" type="none"/>
                      <a:tailEnd len="sm" w="sm" type="none"/>
                    </a:lnT>
                    <a:lnB cap="flat" cmpd="sng" w="12700">
                      <a:solidFill>
                        <a:srgbClr val="C8D5E4"/>
                      </a:solidFill>
                      <a:prstDash val="solid"/>
                      <a:round/>
                      <a:headEnd len="sm" w="sm" type="none"/>
                      <a:tailEnd len="sm" w="sm" type="none"/>
                    </a:lnB>
                    <a:solidFill>
                      <a:srgbClr val="EEF3F9"/>
                    </a:solidFill>
                  </a:tcPr>
                </a:tc>
              </a:tr>
              <a:tr h="480725">
                <a:tc>
                  <a:txBody>
                    <a:bodyPr/>
                    <a:lstStyle/>
                    <a:p>
                      <a:pPr indent="0" lvl="0" marL="0" marR="0" rtl="0" algn="l">
                        <a:spcBef>
                          <a:spcPts val="0"/>
                        </a:spcBef>
                        <a:spcAft>
                          <a:spcPts val="0"/>
                        </a:spcAft>
                        <a:buClr>
                          <a:srgbClr val="0B1829"/>
                        </a:buClr>
                        <a:buSzPts val="950"/>
                        <a:buFont typeface="Calibri"/>
                        <a:buNone/>
                      </a:pPr>
                      <a:r>
                        <a:rPr b="1" lang="en-US" sz="950" u="none" cap="none" strike="noStrike">
                          <a:solidFill>
                            <a:srgbClr val="0B1829"/>
                          </a:solidFill>
                          <a:latin typeface="Calibri"/>
                          <a:ea typeface="Calibri"/>
                          <a:cs typeface="Calibri"/>
                          <a:sym typeface="Calibri"/>
                        </a:rPr>
                        <a:t>Cost Structure</a:t>
                      </a:r>
                      <a:endParaRPr sz="950" u="none" cap="none" strike="noStrike">
                        <a:latin typeface="Calibri"/>
                        <a:ea typeface="Calibri"/>
                        <a:cs typeface="Calibri"/>
                        <a:sym typeface="Calibri"/>
                      </a:endParaRPr>
                    </a:p>
                  </a:txBody>
                  <a:tcPr marT="63500" marB="63500" marR="101600" marL="101600" anchor="ctr">
                    <a:lnL cap="flat" cmpd="sng" w="12700">
                      <a:solidFill>
                        <a:srgbClr val="C8D5E4"/>
                      </a:solidFill>
                      <a:prstDash val="solid"/>
                      <a:round/>
                      <a:headEnd len="sm" w="sm" type="none"/>
                      <a:tailEnd len="sm" w="sm" type="none"/>
                    </a:lnL>
                    <a:lnR cap="flat" cmpd="sng" w="12700">
                      <a:solidFill>
                        <a:srgbClr val="C8D5E4"/>
                      </a:solidFill>
                      <a:prstDash val="solid"/>
                      <a:round/>
                      <a:headEnd len="sm" w="sm" type="none"/>
                      <a:tailEnd len="sm" w="sm" type="none"/>
                    </a:lnR>
                    <a:lnT cap="flat" cmpd="sng" w="12700">
                      <a:solidFill>
                        <a:srgbClr val="C8D5E4"/>
                      </a:solidFill>
                      <a:prstDash val="solid"/>
                      <a:round/>
                      <a:headEnd len="sm" w="sm" type="none"/>
                      <a:tailEnd len="sm" w="sm" type="none"/>
                    </a:lnT>
                    <a:lnB cap="flat" cmpd="sng" w="12700">
                      <a:solidFill>
                        <a:srgbClr val="C8D5E4"/>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334155"/>
                        </a:buClr>
                        <a:buSzPts val="950"/>
                        <a:buFont typeface="Calibri"/>
                        <a:buNone/>
                      </a:pPr>
                      <a:r>
                        <a:rPr lang="en-US" sz="950" u="none" cap="none" strike="noStrike">
                          <a:solidFill>
                            <a:srgbClr val="334155"/>
                          </a:solidFill>
                          <a:latin typeface="Calibri"/>
                          <a:ea typeface="Calibri"/>
                          <a:cs typeface="Calibri"/>
                          <a:sym typeface="Calibri"/>
                        </a:rPr>
                        <a:t>Pay-as-you-go; unpredictable</a:t>
                      </a:r>
                      <a:endParaRPr sz="950" u="none" cap="none" strike="noStrike">
                        <a:latin typeface="Calibri"/>
                        <a:ea typeface="Calibri"/>
                        <a:cs typeface="Calibri"/>
                        <a:sym typeface="Calibri"/>
                      </a:endParaRPr>
                    </a:p>
                  </a:txBody>
                  <a:tcPr marT="63500" marB="63500" marR="101600" marL="101600" anchor="ctr">
                    <a:lnL cap="flat" cmpd="sng" w="12700">
                      <a:solidFill>
                        <a:srgbClr val="C8D5E4"/>
                      </a:solidFill>
                      <a:prstDash val="solid"/>
                      <a:round/>
                      <a:headEnd len="sm" w="sm" type="none"/>
                      <a:tailEnd len="sm" w="sm" type="none"/>
                    </a:lnL>
                    <a:lnR cap="flat" cmpd="sng" w="12700">
                      <a:solidFill>
                        <a:srgbClr val="C8D5E4"/>
                      </a:solidFill>
                      <a:prstDash val="solid"/>
                      <a:round/>
                      <a:headEnd len="sm" w="sm" type="none"/>
                      <a:tailEnd len="sm" w="sm" type="none"/>
                    </a:lnR>
                    <a:lnT cap="flat" cmpd="sng" w="12700">
                      <a:solidFill>
                        <a:srgbClr val="C8D5E4"/>
                      </a:solidFill>
                      <a:prstDash val="solid"/>
                      <a:round/>
                      <a:headEnd len="sm" w="sm" type="none"/>
                      <a:tailEnd len="sm" w="sm" type="none"/>
                    </a:lnT>
                    <a:lnB cap="flat" cmpd="sng" w="12700">
                      <a:solidFill>
                        <a:srgbClr val="C8D5E4"/>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334155"/>
                        </a:buClr>
                        <a:buSzPts val="950"/>
                        <a:buFont typeface="Calibri"/>
                        <a:buNone/>
                      </a:pPr>
                      <a:r>
                        <a:rPr lang="en-US" sz="950" u="none" cap="none" strike="noStrike">
                          <a:solidFill>
                            <a:srgbClr val="334155"/>
                          </a:solidFill>
                          <a:latin typeface="Calibri"/>
                          <a:ea typeface="Calibri"/>
                          <a:cs typeface="Calibri"/>
                          <a:sym typeface="Calibri"/>
                        </a:rPr>
                        <a:t>Predictable; spot available</a:t>
                      </a:r>
                      <a:endParaRPr sz="950" u="none" cap="none" strike="noStrike">
                        <a:latin typeface="Calibri"/>
                        <a:ea typeface="Calibri"/>
                        <a:cs typeface="Calibri"/>
                        <a:sym typeface="Calibri"/>
                      </a:endParaRPr>
                    </a:p>
                  </a:txBody>
                  <a:tcPr marT="63500" marB="63500" marR="101600" marL="101600" anchor="ctr">
                    <a:lnL cap="flat" cmpd="sng" w="12700">
                      <a:solidFill>
                        <a:srgbClr val="C8D5E4"/>
                      </a:solidFill>
                      <a:prstDash val="solid"/>
                      <a:round/>
                      <a:headEnd len="sm" w="sm" type="none"/>
                      <a:tailEnd len="sm" w="sm" type="none"/>
                    </a:lnL>
                    <a:lnR cap="flat" cmpd="sng" w="12700">
                      <a:solidFill>
                        <a:srgbClr val="C8D5E4"/>
                      </a:solidFill>
                      <a:prstDash val="solid"/>
                      <a:round/>
                      <a:headEnd len="sm" w="sm" type="none"/>
                      <a:tailEnd len="sm" w="sm" type="none"/>
                    </a:lnR>
                    <a:lnT cap="flat" cmpd="sng" w="12700">
                      <a:solidFill>
                        <a:srgbClr val="C8D5E4"/>
                      </a:solidFill>
                      <a:prstDash val="solid"/>
                      <a:round/>
                      <a:headEnd len="sm" w="sm" type="none"/>
                      <a:tailEnd len="sm" w="sm" type="none"/>
                    </a:lnT>
                    <a:lnB cap="flat" cmpd="sng" w="12700">
                      <a:solidFill>
                        <a:srgbClr val="C8D5E4"/>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334155"/>
                        </a:buClr>
                        <a:buSzPts val="950"/>
                        <a:buFont typeface="Calibri"/>
                        <a:buNone/>
                      </a:pPr>
                      <a:r>
                        <a:rPr lang="en-US" sz="950" u="none" cap="none" strike="noStrike">
                          <a:solidFill>
                            <a:srgbClr val="334155"/>
                          </a:solidFill>
                          <a:latin typeface="Calibri"/>
                          <a:ea typeface="Calibri"/>
                          <a:cs typeface="Calibri"/>
                          <a:sym typeface="Calibri"/>
                        </a:rPr>
                        <a:t>Capex; high upfront</a:t>
                      </a:r>
                      <a:endParaRPr sz="950" u="none" cap="none" strike="noStrike">
                        <a:latin typeface="Calibri"/>
                        <a:ea typeface="Calibri"/>
                        <a:cs typeface="Calibri"/>
                        <a:sym typeface="Calibri"/>
                      </a:endParaRPr>
                    </a:p>
                  </a:txBody>
                  <a:tcPr marT="63500" marB="63500" marR="101600" marL="101600" anchor="ctr">
                    <a:lnL cap="flat" cmpd="sng" w="12700">
                      <a:solidFill>
                        <a:srgbClr val="C8D5E4"/>
                      </a:solidFill>
                      <a:prstDash val="solid"/>
                      <a:round/>
                      <a:headEnd len="sm" w="sm" type="none"/>
                      <a:tailEnd len="sm" w="sm" type="none"/>
                    </a:lnL>
                    <a:lnR cap="flat" cmpd="sng" w="12700">
                      <a:solidFill>
                        <a:srgbClr val="C8D5E4"/>
                      </a:solidFill>
                      <a:prstDash val="solid"/>
                      <a:round/>
                      <a:headEnd len="sm" w="sm" type="none"/>
                      <a:tailEnd len="sm" w="sm" type="none"/>
                    </a:lnR>
                    <a:lnT cap="flat" cmpd="sng" w="12700">
                      <a:solidFill>
                        <a:srgbClr val="C8D5E4"/>
                      </a:solidFill>
                      <a:prstDash val="solid"/>
                      <a:round/>
                      <a:headEnd len="sm" w="sm" type="none"/>
                      <a:tailEnd len="sm" w="sm" type="none"/>
                    </a:lnT>
                    <a:lnB cap="flat" cmpd="sng" w="12700">
                      <a:solidFill>
                        <a:srgbClr val="C8D5E4"/>
                      </a:solidFill>
                      <a:prstDash val="solid"/>
                      <a:round/>
                      <a:headEnd len="sm" w="sm" type="none"/>
                      <a:tailEnd len="sm" w="sm" type="none"/>
                    </a:lnB>
                    <a:solidFill>
                      <a:srgbClr val="FFFFFF"/>
                    </a:solidFill>
                  </a:tcPr>
                </a:tc>
              </a:tr>
              <a:tr h="480725">
                <a:tc>
                  <a:txBody>
                    <a:bodyPr/>
                    <a:lstStyle/>
                    <a:p>
                      <a:pPr indent="0" lvl="0" marL="0" marR="0" rtl="0" algn="l">
                        <a:spcBef>
                          <a:spcPts val="0"/>
                        </a:spcBef>
                        <a:spcAft>
                          <a:spcPts val="0"/>
                        </a:spcAft>
                        <a:buClr>
                          <a:srgbClr val="0B1829"/>
                        </a:buClr>
                        <a:buSzPts val="950"/>
                        <a:buFont typeface="Calibri"/>
                        <a:buNone/>
                      </a:pPr>
                      <a:r>
                        <a:rPr b="1" lang="en-US" sz="950" u="none" cap="none" strike="noStrike">
                          <a:solidFill>
                            <a:srgbClr val="0B1829"/>
                          </a:solidFill>
                          <a:latin typeface="Calibri"/>
                          <a:ea typeface="Calibri"/>
                          <a:cs typeface="Calibri"/>
                          <a:sym typeface="Calibri"/>
                        </a:rPr>
                        <a:t>Scale Velocity</a:t>
                      </a:r>
                      <a:endParaRPr sz="950" u="none" cap="none" strike="noStrike">
                        <a:latin typeface="Calibri"/>
                        <a:ea typeface="Calibri"/>
                        <a:cs typeface="Calibri"/>
                        <a:sym typeface="Calibri"/>
                      </a:endParaRPr>
                    </a:p>
                  </a:txBody>
                  <a:tcPr marT="63500" marB="63500" marR="101600" marL="101600" anchor="ctr">
                    <a:lnL cap="flat" cmpd="sng" w="12700">
                      <a:solidFill>
                        <a:srgbClr val="C8D5E4"/>
                      </a:solidFill>
                      <a:prstDash val="solid"/>
                      <a:round/>
                      <a:headEnd len="sm" w="sm" type="none"/>
                      <a:tailEnd len="sm" w="sm" type="none"/>
                    </a:lnL>
                    <a:lnR cap="flat" cmpd="sng" w="12700">
                      <a:solidFill>
                        <a:srgbClr val="C8D5E4"/>
                      </a:solidFill>
                      <a:prstDash val="solid"/>
                      <a:round/>
                      <a:headEnd len="sm" w="sm" type="none"/>
                      <a:tailEnd len="sm" w="sm" type="none"/>
                    </a:lnR>
                    <a:lnT cap="flat" cmpd="sng" w="12700">
                      <a:solidFill>
                        <a:srgbClr val="C8D5E4"/>
                      </a:solidFill>
                      <a:prstDash val="solid"/>
                      <a:round/>
                      <a:headEnd len="sm" w="sm" type="none"/>
                      <a:tailEnd len="sm" w="sm" type="none"/>
                    </a:lnT>
                    <a:lnB cap="flat" cmpd="sng" w="12700">
                      <a:solidFill>
                        <a:srgbClr val="C8D5E4"/>
                      </a:solidFill>
                      <a:prstDash val="solid"/>
                      <a:round/>
                      <a:headEnd len="sm" w="sm" type="none"/>
                      <a:tailEnd len="sm" w="sm" type="none"/>
                    </a:lnB>
                    <a:solidFill>
                      <a:srgbClr val="EEF3F9"/>
                    </a:solidFill>
                  </a:tcPr>
                </a:tc>
                <a:tc>
                  <a:txBody>
                    <a:bodyPr/>
                    <a:lstStyle/>
                    <a:p>
                      <a:pPr indent="0" lvl="0" marL="0" marR="0" rtl="0" algn="l">
                        <a:spcBef>
                          <a:spcPts val="0"/>
                        </a:spcBef>
                        <a:spcAft>
                          <a:spcPts val="0"/>
                        </a:spcAft>
                        <a:buClr>
                          <a:srgbClr val="334155"/>
                        </a:buClr>
                        <a:buSzPts val="950"/>
                        <a:buFont typeface="Calibri"/>
                        <a:buNone/>
                      </a:pPr>
                      <a:r>
                        <a:rPr lang="en-US" sz="950" u="none" cap="none" strike="noStrike">
                          <a:solidFill>
                            <a:srgbClr val="334155"/>
                          </a:solidFill>
                          <a:latin typeface="Calibri"/>
                          <a:ea typeface="Calibri"/>
                          <a:cs typeface="Calibri"/>
                          <a:sym typeface="Calibri"/>
                        </a:rPr>
                        <a:t>Minutes to scale</a:t>
                      </a:r>
                      <a:endParaRPr sz="950" u="none" cap="none" strike="noStrike">
                        <a:latin typeface="Calibri"/>
                        <a:ea typeface="Calibri"/>
                        <a:cs typeface="Calibri"/>
                        <a:sym typeface="Calibri"/>
                      </a:endParaRPr>
                    </a:p>
                  </a:txBody>
                  <a:tcPr marT="63500" marB="63500" marR="101600" marL="101600" anchor="ctr">
                    <a:lnL cap="flat" cmpd="sng" w="12700">
                      <a:solidFill>
                        <a:srgbClr val="C8D5E4"/>
                      </a:solidFill>
                      <a:prstDash val="solid"/>
                      <a:round/>
                      <a:headEnd len="sm" w="sm" type="none"/>
                      <a:tailEnd len="sm" w="sm" type="none"/>
                    </a:lnL>
                    <a:lnR cap="flat" cmpd="sng" w="12700">
                      <a:solidFill>
                        <a:srgbClr val="C8D5E4"/>
                      </a:solidFill>
                      <a:prstDash val="solid"/>
                      <a:round/>
                      <a:headEnd len="sm" w="sm" type="none"/>
                      <a:tailEnd len="sm" w="sm" type="none"/>
                    </a:lnR>
                    <a:lnT cap="flat" cmpd="sng" w="12700">
                      <a:solidFill>
                        <a:srgbClr val="C8D5E4"/>
                      </a:solidFill>
                      <a:prstDash val="solid"/>
                      <a:round/>
                      <a:headEnd len="sm" w="sm" type="none"/>
                      <a:tailEnd len="sm" w="sm" type="none"/>
                    </a:lnT>
                    <a:lnB cap="flat" cmpd="sng" w="12700">
                      <a:solidFill>
                        <a:srgbClr val="C8D5E4"/>
                      </a:solidFill>
                      <a:prstDash val="solid"/>
                      <a:round/>
                      <a:headEnd len="sm" w="sm" type="none"/>
                      <a:tailEnd len="sm" w="sm" type="none"/>
                    </a:lnB>
                    <a:solidFill>
                      <a:srgbClr val="EEF3F9"/>
                    </a:solidFill>
                  </a:tcPr>
                </a:tc>
                <a:tc>
                  <a:txBody>
                    <a:bodyPr/>
                    <a:lstStyle/>
                    <a:p>
                      <a:pPr indent="0" lvl="0" marL="0" marR="0" rtl="0" algn="l">
                        <a:spcBef>
                          <a:spcPts val="0"/>
                        </a:spcBef>
                        <a:spcAft>
                          <a:spcPts val="0"/>
                        </a:spcAft>
                        <a:buClr>
                          <a:srgbClr val="334155"/>
                        </a:buClr>
                        <a:buSzPts val="950"/>
                        <a:buFont typeface="Calibri"/>
                        <a:buNone/>
                      </a:pPr>
                      <a:r>
                        <a:rPr lang="en-US" sz="950" u="none" cap="none" strike="noStrike">
                          <a:solidFill>
                            <a:srgbClr val="334155"/>
                          </a:solidFill>
                          <a:latin typeface="Calibri"/>
                          <a:ea typeface="Calibri"/>
                          <a:cs typeface="Calibri"/>
                          <a:sym typeface="Calibri"/>
                        </a:rPr>
                        <a:t>Hours to days</a:t>
                      </a:r>
                      <a:endParaRPr sz="950" u="none" cap="none" strike="noStrike">
                        <a:latin typeface="Calibri"/>
                        <a:ea typeface="Calibri"/>
                        <a:cs typeface="Calibri"/>
                        <a:sym typeface="Calibri"/>
                      </a:endParaRPr>
                    </a:p>
                  </a:txBody>
                  <a:tcPr marT="63500" marB="63500" marR="101600" marL="101600" anchor="ctr">
                    <a:lnL cap="flat" cmpd="sng" w="12700">
                      <a:solidFill>
                        <a:srgbClr val="C8D5E4"/>
                      </a:solidFill>
                      <a:prstDash val="solid"/>
                      <a:round/>
                      <a:headEnd len="sm" w="sm" type="none"/>
                      <a:tailEnd len="sm" w="sm" type="none"/>
                    </a:lnL>
                    <a:lnR cap="flat" cmpd="sng" w="12700">
                      <a:solidFill>
                        <a:srgbClr val="C8D5E4"/>
                      </a:solidFill>
                      <a:prstDash val="solid"/>
                      <a:round/>
                      <a:headEnd len="sm" w="sm" type="none"/>
                      <a:tailEnd len="sm" w="sm" type="none"/>
                    </a:lnR>
                    <a:lnT cap="flat" cmpd="sng" w="12700">
                      <a:solidFill>
                        <a:srgbClr val="C8D5E4"/>
                      </a:solidFill>
                      <a:prstDash val="solid"/>
                      <a:round/>
                      <a:headEnd len="sm" w="sm" type="none"/>
                      <a:tailEnd len="sm" w="sm" type="none"/>
                    </a:lnT>
                    <a:lnB cap="flat" cmpd="sng" w="12700">
                      <a:solidFill>
                        <a:srgbClr val="C8D5E4"/>
                      </a:solidFill>
                      <a:prstDash val="solid"/>
                      <a:round/>
                      <a:headEnd len="sm" w="sm" type="none"/>
                      <a:tailEnd len="sm" w="sm" type="none"/>
                    </a:lnB>
                    <a:solidFill>
                      <a:srgbClr val="EEF3F9"/>
                    </a:solidFill>
                  </a:tcPr>
                </a:tc>
                <a:tc>
                  <a:txBody>
                    <a:bodyPr/>
                    <a:lstStyle/>
                    <a:p>
                      <a:pPr indent="0" lvl="0" marL="0" marR="0" rtl="0" algn="l">
                        <a:spcBef>
                          <a:spcPts val="0"/>
                        </a:spcBef>
                        <a:spcAft>
                          <a:spcPts val="0"/>
                        </a:spcAft>
                        <a:buClr>
                          <a:srgbClr val="334155"/>
                        </a:buClr>
                        <a:buSzPts val="950"/>
                        <a:buFont typeface="Calibri"/>
                        <a:buNone/>
                      </a:pPr>
                      <a:r>
                        <a:rPr lang="en-US" sz="950" u="none" cap="none" strike="noStrike">
                          <a:solidFill>
                            <a:srgbClr val="334155"/>
                          </a:solidFill>
                          <a:latin typeface="Calibri"/>
                          <a:ea typeface="Calibri"/>
                          <a:cs typeface="Calibri"/>
                          <a:sym typeface="Calibri"/>
                        </a:rPr>
                        <a:t>Weeks to months</a:t>
                      </a:r>
                      <a:endParaRPr sz="950" u="none" cap="none" strike="noStrike">
                        <a:latin typeface="Calibri"/>
                        <a:ea typeface="Calibri"/>
                        <a:cs typeface="Calibri"/>
                        <a:sym typeface="Calibri"/>
                      </a:endParaRPr>
                    </a:p>
                  </a:txBody>
                  <a:tcPr marT="63500" marB="63500" marR="101600" marL="101600" anchor="ctr">
                    <a:lnL cap="flat" cmpd="sng" w="12700">
                      <a:solidFill>
                        <a:srgbClr val="C8D5E4"/>
                      </a:solidFill>
                      <a:prstDash val="solid"/>
                      <a:round/>
                      <a:headEnd len="sm" w="sm" type="none"/>
                      <a:tailEnd len="sm" w="sm" type="none"/>
                    </a:lnL>
                    <a:lnR cap="flat" cmpd="sng" w="12700">
                      <a:solidFill>
                        <a:srgbClr val="C8D5E4"/>
                      </a:solidFill>
                      <a:prstDash val="solid"/>
                      <a:round/>
                      <a:headEnd len="sm" w="sm" type="none"/>
                      <a:tailEnd len="sm" w="sm" type="none"/>
                    </a:lnR>
                    <a:lnT cap="flat" cmpd="sng" w="12700">
                      <a:solidFill>
                        <a:srgbClr val="C8D5E4"/>
                      </a:solidFill>
                      <a:prstDash val="solid"/>
                      <a:round/>
                      <a:headEnd len="sm" w="sm" type="none"/>
                      <a:tailEnd len="sm" w="sm" type="none"/>
                    </a:lnT>
                    <a:lnB cap="flat" cmpd="sng" w="12700">
                      <a:solidFill>
                        <a:srgbClr val="C8D5E4"/>
                      </a:solidFill>
                      <a:prstDash val="solid"/>
                      <a:round/>
                      <a:headEnd len="sm" w="sm" type="none"/>
                      <a:tailEnd len="sm" w="sm" type="none"/>
                    </a:lnB>
                    <a:solidFill>
                      <a:srgbClr val="EEF3F9"/>
                    </a:solidFill>
                  </a:tcPr>
                </a:tc>
              </a:tr>
              <a:tr h="480725">
                <a:tc>
                  <a:txBody>
                    <a:bodyPr/>
                    <a:lstStyle/>
                    <a:p>
                      <a:pPr indent="0" lvl="0" marL="0" marR="0" rtl="0" algn="l">
                        <a:spcBef>
                          <a:spcPts val="0"/>
                        </a:spcBef>
                        <a:spcAft>
                          <a:spcPts val="0"/>
                        </a:spcAft>
                        <a:buClr>
                          <a:srgbClr val="0B1829"/>
                        </a:buClr>
                        <a:buSzPts val="950"/>
                        <a:buFont typeface="Calibri"/>
                        <a:buNone/>
                      </a:pPr>
                      <a:r>
                        <a:rPr b="1" lang="en-US" sz="950" u="none" cap="none" strike="noStrike">
                          <a:solidFill>
                            <a:srgbClr val="0B1829"/>
                          </a:solidFill>
                          <a:latin typeface="Calibri"/>
                          <a:ea typeface="Calibri"/>
                          <a:cs typeface="Calibri"/>
                          <a:sym typeface="Calibri"/>
                        </a:rPr>
                        <a:t>Sovereignty Risk</a:t>
                      </a:r>
                      <a:endParaRPr sz="950" u="none" cap="none" strike="noStrike">
                        <a:latin typeface="Calibri"/>
                        <a:ea typeface="Calibri"/>
                        <a:cs typeface="Calibri"/>
                        <a:sym typeface="Calibri"/>
                      </a:endParaRPr>
                    </a:p>
                  </a:txBody>
                  <a:tcPr marT="63500" marB="63500" marR="101600" marL="101600" anchor="ctr">
                    <a:lnL cap="flat" cmpd="sng" w="12700">
                      <a:solidFill>
                        <a:srgbClr val="C8D5E4"/>
                      </a:solidFill>
                      <a:prstDash val="solid"/>
                      <a:round/>
                      <a:headEnd len="sm" w="sm" type="none"/>
                      <a:tailEnd len="sm" w="sm" type="none"/>
                    </a:lnL>
                    <a:lnR cap="flat" cmpd="sng" w="12700">
                      <a:solidFill>
                        <a:srgbClr val="C8D5E4"/>
                      </a:solidFill>
                      <a:prstDash val="solid"/>
                      <a:round/>
                      <a:headEnd len="sm" w="sm" type="none"/>
                      <a:tailEnd len="sm" w="sm" type="none"/>
                    </a:lnR>
                    <a:lnT cap="flat" cmpd="sng" w="12700">
                      <a:solidFill>
                        <a:srgbClr val="C8D5E4"/>
                      </a:solidFill>
                      <a:prstDash val="solid"/>
                      <a:round/>
                      <a:headEnd len="sm" w="sm" type="none"/>
                      <a:tailEnd len="sm" w="sm" type="none"/>
                    </a:lnT>
                    <a:lnB cap="flat" cmpd="sng" w="12700">
                      <a:solidFill>
                        <a:srgbClr val="C8D5E4"/>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334155"/>
                        </a:buClr>
                        <a:buSzPts val="950"/>
                        <a:buFont typeface="Calibri"/>
                        <a:buNone/>
                      </a:pPr>
                      <a:r>
                        <a:rPr lang="en-US" sz="950" u="none" cap="none" strike="noStrike">
                          <a:solidFill>
                            <a:srgbClr val="334155"/>
                          </a:solidFill>
                          <a:latin typeface="Calibri"/>
                          <a:ea typeface="Calibri"/>
                          <a:cs typeface="Calibri"/>
                          <a:sym typeface="Calibri"/>
                        </a:rPr>
                        <a:t>High (US CLOUD Act exposure)</a:t>
                      </a:r>
                      <a:endParaRPr sz="950" u="none" cap="none" strike="noStrike">
                        <a:latin typeface="Calibri"/>
                        <a:ea typeface="Calibri"/>
                        <a:cs typeface="Calibri"/>
                        <a:sym typeface="Calibri"/>
                      </a:endParaRPr>
                    </a:p>
                  </a:txBody>
                  <a:tcPr marT="63500" marB="63500" marR="101600" marL="101600" anchor="ctr">
                    <a:lnL cap="flat" cmpd="sng" w="12700">
                      <a:solidFill>
                        <a:srgbClr val="C8D5E4"/>
                      </a:solidFill>
                      <a:prstDash val="solid"/>
                      <a:round/>
                      <a:headEnd len="sm" w="sm" type="none"/>
                      <a:tailEnd len="sm" w="sm" type="none"/>
                    </a:lnL>
                    <a:lnR cap="flat" cmpd="sng" w="12700">
                      <a:solidFill>
                        <a:srgbClr val="C8D5E4"/>
                      </a:solidFill>
                      <a:prstDash val="solid"/>
                      <a:round/>
                      <a:headEnd len="sm" w="sm" type="none"/>
                      <a:tailEnd len="sm" w="sm" type="none"/>
                    </a:lnR>
                    <a:lnT cap="flat" cmpd="sng" w="12700">
                      <a:solidFill>
                        <a:srgbClr val="C8D5E4"/>
                      </a:solidFill>
                      <a:prstDash val="solid"/>
                      <a:round/>
                      <a:headEnd len="sm" w="sm" type="none"/>
                      <a:tailEnd len="sm" w="sm" type="none"/>
                    </a:lnT>
                    <a:lnB cap="flat" cmpd="sng" w="12700">
                      <a:solidFill>
                        <a:srgbClr val="C8D5E4"/>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334155"/>
                        </a:buClr>
                        <a:buSzPts val="950"/>
                        <a:buFont typeface="Calibri"/>
                        <a:buNone/>
                      </a:pPr>
                      <a:r>
                        <a:rPr lang="en-US" sz="950" u="none" cap="none" strike="noStrike">
                          <a:solidFill>
                            <a:srgbClr val="334155"/>
                          </a:solidFill>
                          <a:latin typeface="Calibri"/>
                          <a:ea typeface="Calibri"/>
                          <a:cs typeface="Calibri"/>
                          <a:sym typeface="Calibri"/>
                        </a:rPr>
                        <a:t>Low-Medium (jurisdiction-dependent)</a:t>
                      </a:r>
                      <a:endParaRPr sz="950" u="none" cap="none" strike="noStrike">
                        <a:latin typeface="Calibri"/>
                        <a:ea typeface="Calibri"/>
                        <a:cs typeface="Calibri"/>
                        <a:sym typeface="Calibri"/>
                      </a:endParaRPr>
                    </a:p>
                  </a:txBody>
                  <a:tcPr marT="63500" marB="63500" marR="101600" marL="101600" anchor="ctr">
                    <a:lnL cap="flat" cmpd="sng" w="12700">
                      <a:solidFill>
                        <a:srgbClr val="C8D5E4"/>
                      </a:solidFill>
                      <a:prstDash val="solid"/>
                      <a:round/>
                      <a:headEnd len="sm" w="sm" type="none"/>
                      <a:tailEnd len="sm" w="sm" type="none"/>
                    </a:lnL>
                    <a:lnR cap="flat" cmpd="sng" w="12700">
                      <a:solidFill>
                        <a:srgbClr val="C8D5E4"/>
                      </a:solidFill>
                      <a:prstDash val="solid"/>
                      <a:round/>
                      <a:headEnd len="sm" w="sm" type="none"/>
                      <a:tailEnd len="sm" w="sm" type="none"/>
                    </a:lnR>
                    <a:lnT cap="flat" cmpd="sng" w="12700">
                      <a:solidFill>
                        <a:srgbClr val="C8D5E4"/>
                      </a:solidFill>
                      <a:prstDash val="solid"/>
                      <a:round/>
                      <a:headEnd len="sm" w="sm" type="none"/>
                      <a:tailEnd len="sm" w="sm" type="none"/>
                    </a:lnT>
                    <a:lnB cap="flat" cmpd="sng" w="12700">
                      <a:solidFill>
                        <a:srgbClr val="C8D5E4"/>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334155"/>
                        </a:buClr>
                        <a:buSzPts val="950"/>
                        <a:buFont typeface="Calibri"/>
                        <a:buNone/>
                      </a:pPr>
                      <a:r>
                        <a:rPr lang="en-US" sz="950" u="none" cap="none" strike="noStrike">
                          <a:solidFill>
                            <a:srgbClr val="334155"/>
                          </a:solidFill>
                          <a:latin typeface="Calibri"/>
                          <a:ea typeface="Calibri"/>
                          <a:cs typeface="Calibri"/>
                          <a:sym typeface="Calibri"/>
                        </a:rPr>
                        <a:t>Minimal</a:t>
                      </a:r>
                      <a:endParaRPr sz="950" u="none" cap="none" strike="noStrike">
                        <a:latin typeface="Calibri"/>
                        <a:ea typeface="Calibri"/>
                        <a:cs typeface="Calibri"/>
                        <a:sym typeface="Calibri"/>
                      </a:endParaRPr>
                    </a:p>
                  </a:txBody>
                  <a:tcPr marT="63500" marB="63500" marR="101600" marL="101600" anchor="ctr">
                    <a:lnL cap="flat" cmpd="sng" w="12700">
                      <a:solidFill>
                        <a:srgbClr val="C8D5E4"/>
                      </a:solidFill>
                      <a:prstDash val="solid"/>
                      <a:round/>
                      <a:headEnd len="sm" w="sm" type="none"/>
                      <a:tailEnd len="sm" w="sm" type="none"/>
                    </a:lnL>
                    <a:lnR cap="flat" cmpd="sng" w="12700">
                      <a:solidFill>
                        <a:srgbClr val="C8D5E4"/>
                      </a:solidFill>
                      <a:prstDash val="solid"/>
                      <a:round/>
                      <a:headEnd len="sm" w="sm" type="none"/>
                      <a:tailEnd len="sm" w="sm" type="none"/>
                    </a:lnR>
                    <a:lnT cap="flat" cmpd="sng" w="12700">
                      <a:solidFill>
                        <a:srgbClr val="C8D5E4"/>
                      </a:solidFill>
                      <a:prstDash val="solid"/>
                      <a:round/>
                      <a:headEnd len="sm" w="sm" type="none"/>
                      <a:tailEnd len="sm" w="sm" type="none"/>
                    </a:lnT>
                    <a:lnB cap="flat" cmpd="sng" w="12700">
                      <a:solidFill>
                        <a:srgbClr val="C8D5E4"/>
                      </a:solidFill>
                      <a:prstDash val="solid"/>
                      <a:round/>
                      <a:headEnd len="sm" w="sm" type="none"/>
                      <a:tailEnd len="sm" w="sm" type="none"/>
                    </a:lnB>
                    <a:solidFill>
                      <a:srgbClr val="FFFFFF"/>
                    </a:solidFill>
                  </a:tcPr>
                </a:tc>
              </a:tr>
            </a:tbl>
          </a:graphicData>
        </a:graphic>
      </p:graphicFrame>
      <p:sp>
        <p:nvSpPr>
          <p:cNvPr id="174" name="Google Shape;174;p5"/>
          <p:cNvSpPr/>
          <p:nvPr/>
        </p:nvSpPr>
        <p:spPr>
          <a:xfrm>
            <a:off x="0" y="4818888"/>
            <a:ext cx="9144000" cy="324612"/>
          </a:xfrm>
          <a:prstGeom prst="rect">
            <a:avLst/>
          </a:prstGeom>
          <a:solidFill>
            <a:srgbClr val="0B1829"/>
          </a:solidFill>
          <a:ln cap="flat" cmpd="sng" w="12700">
            <a:solidFill>
              <a:srgbClr val="0B182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5"/>
          <p:cNvSpPr/>
          <p:nvPr/>
        </p:nvSpPr>
        <p:spPr>
          <a:xfrm>
            <a:off x="0" y="4826203"/>
            <a:ext cx="9144000" cy="30175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AAAC8"/>
              </a:buClr>
              <a:buSzPts val="850"/>
              <a:buFont typeface="Calibri"/>
              <a:buNone/>
            </a:pPr>
            <a:r>
              <a:rPr lang="en-US" sz="850">
                <a:solidFill>
                  <a:srgbClr val="7AAAC8"/>
                </a:solidFill>
                <a:latin typeface="Calibri"/>
                <a:ea typeface="Calibri"/>
                <a:cs typeface="Calibri"/>
                <a:sym typeface="Calibri"/>
              </a:rPr>
              <a:t>Accredian is a leading Indian institution specializing in AI, Data Science, and Management research and education.  •  Visit us at: </a:t>
            </a:r>
            <a:r>
              <a:rPr lang="en-US" sz="850" u="sng">
                <a:solidFill>
                  <a:srgbClr val="7AAAC8"/>
                </a:solidFill>
                <a:latin typeface="Calibri"/>
                <a:ea typeface="Calibri"/>
                <a:cs typeface="Calibri"/>
                <a:sym typeface="Calibri"/>
                <a:hlinkClick r:id="rId3">
                  <a:extLst>
                    <a:ext uri="{A12FA001-AC4F-418D-AE19-62706E023703}">
                      <ahyp:hlinkClr val="tx"/>
                    </a:ext>
                  </a:extLst>
                </a:hlinkClick>
              </a:rPr>
              <a:t>https://accredian.com</a:t>
            </a:r>
            <a:endParaRPr sz="85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0" name="Shape 180"/>
        <p:cNvGrpSpPr/>
        <p:nvPr/>
      </p:nvGrpSpPr>
      <p:grpSpPr>
        <a:xfrm>
          <a:off x="0" y="0"/>
          <a:ext cx="0" cy="0"/>
          <a:chOff x="0" y="0"/>
          <a:chExt cx="0" cy="0"/>
        </a:xfrm>
      </p:grpSpPr>
      <p:sp>
        <p:nvSpPr>
          <p:cNvPr id="181" name="Google Shape;181;p6"/>
          <p:cNvSpPr/>
          <p:nvPr/>
        </p:nvSpPr>
        <p:spPr>
          <a:xfrm>
            <a:off x="0" y="0"/>
            <a:ext cx="9144000" cy="73152"/>
          </a:xfrm>
          <a:prstGeom prst="rect">
            <a:avLst/>
          </a:prstGeom>
          <a:solidFill>
            <a:srgbClr val="1A4A8A"/>
          </a:solidFill>
          <a:ln cap="flat" cmpd="sng" w="12700">
            <a:solidFill>
              <a:srgbClr val="1A4A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6"/>
          <p:cNvSpPr/>
          <p:nvPr/>
        </p:nvSpPr>
        <p:spPr>
          <a:xfrm>
            <a:off x="365760" y="155448"/>
            <a:ext cx="1920240" cy="246888"/>
          </a:xfrm>
          <a:prstGeom prst="rect">
            <a:avLst/>
          </a:prstGeom>
          <a:solidFill>
            <a:srgbClr val="1A4A8A"/>
          </a:solidFill>
          <a:ln cap="flat" cmpd="sng" w="12700">
            <a:solidFill>
              <a:srgbClr val="1A4A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6"/>
          <p:cNvSpPr/>
          <p:nvPr/>
        </p:nvSpPr>
        <p:spPr>
          <a:xfrm>
            <a:off x="365760" y="155448"/>
            <a:ext cx="1920240"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alibri"/>
              <a:buNone/>
            </a:pPr>
            <a:r>
              <a:rPr b="1" lang="en-US" sz="850">
                <a:solidFill>
                  <a:srgbClr val="FFFFFF"/>
                </a:solidFill>
                <a:latin typeface="Calibri"/>
                <a:ea typeface="Calibri"/>
                <a:cs typeface="Calibri"/>
                <a:sym typeface="Calibri"/>
              </a:rPr>
              <a:t>SLIDE 05 OF 07</a:t>
            </a:r>
            <a:endParaRPr sz="850">
              <a:solidFill>
                <a:schemeClr val="dk1"/>
              </a:solidFill>
              <a:latin typeface="Calibri"/>
              <a:ea typeface="Calibri"/>
              <a:cs typeface="Calibri"/>
              <a:sym typeface="Calibri"/>
            </a:endParaRPr>
          </a:p>
        </p:txBody>
      </p:sp>
      <p:sp>
        <p:nvSpPr>
          <p:cNvPr id="184" name="Google Shape;184;p6"/>
          <p:cNvSpPr/>
          <p:nvPr/>
        </p:nvSpPr>
        <p:spPr>
          <a:xfrm>
            <a:off x="365760" y="493776"/>
            <a:ext cx="84124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829"/>
              </a:buClr>
              <a:buSzPts val="2400"/>
              <a:buFont typeface="Georgia"/>
              <a:buNone/>
            </a:pPr>
            <a:r>
              <a:rPr b="1" lang="en-US" sz="2400">
                <a:solidFill>
                  <a:srgbClr val="0B1829"/>
                </a:solidFill>
                <a:latin typeface="Georgia"/>
                <a:ea typeface="Georgia"/>
                <a:cs typeface="Georgia"/>
                <a:sym typeface="Georgia"/>
              </a:rPr>
              <a:t>Building the Sovereign AI Stack</a:t>
            </a:r>
            <a:endParaRPr sz="2400">
              <a:solidFill>
                <a:schemeClr val="dk1"/>
              </a:solidFill>
              <a:latin typeface="Calibri"/>
              <a:ea typeface="Calibri"/>
              <a:cs typeface="Calibri"/>
              <a:sym typeface="Calibri"/>
            </a:endParaRPr>
          </a:p>
        </p:txBody>
      </p:sp>
      <p:sp>
        <p:nvSpPr>
          <p:cNvPr id="185" name="Google Shape;185;p6"/>
          <p:cNvSpPr/>
          <p:nvPr/>
        </p:nvSpPr>
        <p:spPr>
          <a:xfrm>
            <a:off x="365760" y="1024128"/>
            <a:ext cx="841248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250"/>
              <a:buFont typeface="Calibri"/>
              <a:buNone/>
            </a:pPr>
            <a:r>
              <a:rPr lang="en-US" sz="1250">
                <a:solidFill>
                  <a:srgbClr val="334155"/>
                </a:solidFill>
                <a:latin typeface="Calibri"/>
                <a:ea typeface="Calibri"/>
                <a:cs typeface="Calibri"/>
                <a:sym typeface="Calibri"/>
              </a:rPr>
              <a:t>A sovereign AI stack is not a single product — it is a deliberate architecture spanning compute, model, data, and governance layers, each of which must satisfy the sovereignty requirements of the target jurisdiction.</a:t>
            </a:r>
            <a:endParaRPr sz="1250">
              <a:solidFill>
                <a:schemeClr val="dk1"/>
              </a:solidFill>
              <a:latin typeface="Calibri"/>
              <a:ea typeface="Calibri"/>
              <a:cs typeface="Calibri"/>
              <a:sym typeface="Calibri"/>
            </a:endParaRPr>
          </a:p>
        </p:txBody>
      </p:sp>
      <p:sp>
        <p:nvSpPr>
          <p:cNvPr id="186" name="Google Shape;186;p6"/>
          <p:cNvSpPr/>
          <p:nvPr/>
        </p:nvSpPr>
        <p:spPr>
          <a:xfrm>
            <a:off x="320040" y="1481328"/>
            <a:ext cx="4206240" cy="1536192"/>
          </a:xfrm>
          <a:prstGeom prst="rect">
            <a:avLst/>
          </a:prstGeom>
          <a:solidFill>
            <a:srgbClr val="EEF3F9"/>
          </a:solidFill>
          <a:ln cap="flat" cmpd="sng" w="12700">
            <a:solidFill>
              <a:srgbClr val="C8D5E4"/>
            </a:solidFill>
            <a:prstDash val="solid"/>
            <a:round/>
            <a:headEnd len="sm" w="sm" type="none"/>
            <a:tailEnd len="sm" w="sm" type="none"/>
          </a:ln>
          <a:effectLst>
            <a:outerShdw blurRad="152400" rotWithShape="0" algn="bl" dir="8100000" dist="381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6"/>
          <p:cNvSpPr/>
          <p:nvPr/>
        </p:nvSpPr>
        <p:spPr>
          <a:xfrm>
            <a:off x="320040" y="1481328"/>
            <a:ext cx="4206240" cy="64008"/>
          </a:xfrm>
          <a:prstGeom prst="rect">
            <a:avLst/>
          </a:prstGeom>
          <a:solidFill>
            <a:srgbClr val="0B1829"/>
          </a:solidFill>
          <a:ln cap="flat" cmpd="sng" w="12700">
            <a:solidFill>
              <a:srgbClr val="0B182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6"/>
          <p:cNvSpPr/>
          <p:nvPr/>
        </p:nvSpPr>
        <p:spPr>
          <a:xfrm>
            <a:off x="320040" y="1481328"/>
            <a:ext cx="475488" cy="1536192"/>
          </a:xfrm>
          <a:prstGeom prst="rect">
            <a:avLst/>
          </a:prstGeom>
          <a:solidFill>
            <a:srgbClr val="0B1829"/>
          </a:solidFill>
          <a:ln cap="flat" cmpd="sng" w="12700">
            <a:solidFill>
              <a:srgbClr val="0B182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6"/>
          <p:cNvSpPr/>
          <p:nvPr/>
        </p:nvSpPr>
        <p:spPr>
          <a:xfrm>
            <a:off x="320040" y="2029968"/>
            <a:ext cx="475488"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Georgia"/>
              <a:buNone/>
            </a:pPr>
            <a:r>
              <a:rPr b="1" lang="en-US" sz="1400">
                <a:solidFill>
                  <a:srgbClr val="FFFFFF"/>
                </a:solidFill>
                <a:latin typeface="Georgia"/>
                <a:ea typeface="Georgia"/>
                <a:cs typeface="Georgia"/>
                <a:sym typeface="Georgia"/>
              </a:rPr>
              <a:t>L1</a:t>
            </a:r>
            <a:endParaRPr sz="1400">
              <a:solidFill>
                <a:schemeClr val="dk1"/>
              </a:solidFill>
              <a:latin typeface="Calibri"/>
              <a:ea typeface="Calibri"/>
              <a:cs typeface="Calibri"/>
              <a:sym typeface="Calibri"/>
            </a:endParaRPr>
          </a:p>
        </p:txBody>
      </p:sp>
      <p:sp>
        <p:nvSpPr>
          <p:cNvPr id="190" name="Google Shape;190;p6"/>
          <p:cNvSpPr/>
          <p:nvPr/>
        </p:nvSpPr>
        <p:spPr>
          <a:xfrm>
            <a:off x="886968" y="1572768"/>
            <a:ext cx="3493008"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829"/>
              </a:buClr>
              <a:buSzPts val="1150"/>
              <a:buFont typeface="Calibri"/>
              <a:buNone/>
            </a:pPr>
            <a:r>
              <a:rPr b="1" lang="en-US" sz="1150">
                <a:solidFill>
                  <a:srgbClr val="0B1829"/>
                </a:solidFill>
                <a:latin typeface="Calibri"/>
                <a:ea typeface="Calibri"/>
                <a:cs typeface="Calibri"/>
                <a:sym typeface="Calibri"/>
              </a:rPr>
              <a:t>Sovereign Compute Layer</a:t>
            </a:r>
            <a:endParaRPr sz="1150">
              <a:solidFill>
                <a:schemeClr val="dk1"/>
              </a:solidFill>
              <a:latin typeface="Calibri"/>
              <a:ea typeface="Calibri"/>
              <a:cs typeface="Calibri"/>
              <a:sym typeface="Calibri"/>
            </a:endParaRPr>
          </a:p>
        </p:txBody>
      </p:sp>
      <p:sp>
        <p:nvSpPr>
          <p:cNvPr id="191" name="Google Shape;191;p6"/>
          <p:cNvSpPr/>
          <p:nvPr/>
        </p:nvSpPr>
        <p:spPr>
          <a:xfrm>
            <a:off x="886968" y="1847088"/>
            <a:ext cx="3493008"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950"/>
              <a:buFont typeface="Calibri"/>
              <a:buNone/>
            </a:pPr>
            <a:r>
              <a:rPr lang="en-US" sz="950">
                <a:solidFill>
                  <a:srgbClr val="334155"/>
                </a:solidFill>
                <a:latin typeface="Calibri"/>
                <a:ea typeface="Calibri"/>
                <a:cs typeface="Calibri"/>
                <a:sym typeface="Calibri"/>
              </a:rPr>
              <a:t>Physical infrastructure located within the target national jurisdiction. Options: on-premises GPU clusters, national cloud providers, sovereign-certified hyperscaler regions (e.g. AWS GovCloud EU, Azure Sovereign).</a:t>
            </a:r>
            <a:endParaRPr sz="950">
              <a:solidFill>
                <a:schemeClr val="dk1"/>
              </a:solidFill>
              <a:latin typeface="Calibri"/>
              <a:ea typeface="Calibri"/>
              <a:cs typeface="Calibri"/>
              <a:sym typeface="Calibri"/>
            </a:endParaRPr>
          </a:p>
        </p:txBody>
      </p:sp>
      <p:sp>
        <p:nvSpPr>
          <p:cNvPr id="192" name="Google Shape;192;p6"/>
          <p:cNvSpPr/>
          <p:nvPr/>
        </p:nvSpPr>
        <p:spPr>
          <a:xfrm>
            <a:off x="886968" y="2414016"/>
            <a:ext cx="3493008" cy="18288"/>
          </a:xfrm>
          <a:prstGeom prst="rect">
            <a:avLst/>
          </a:prstGeom>
          <a:solidFill>
            <a:srgbClr val="0B1829"/>
          </a:solidFill>
          <a:ln cap="flat" cmpd="sng" w="12700">
            <a:solidFill>
              <a:srgbClr val="0B182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6"/>
          <p:cNvSpPr/>
          <p:nvPr/>
        </p:nvSpPr>
        <p:spPr>
          <a:xfrm>
            <a:off x="886968" y="2468880"/>
            <a:ext cx="3493008"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829"/>
              </a:buClr>
              <a:buSzPts val="850"/>
              <a:buFont typeface="Calibri"/>
              <a:buNone/>
            </a:pPr>
            <a:r>
              <a:rPr b="1" lang="en-US" sz="850">
                <a:solidFill>
                  <a:srgbClr val="0B1829"/>
                </a:solidFill>
                <a:latin typeface="Calibri"/>
                <a:ea typeface="Calibri"/>
                <a:cs typeface="Calibri"/>
                <a:sym typeface="Calibri"/>
              </a:rPr>
              <a:t>⚠  Latency between sovereign regions; cost of maintaining separate compute pools per jurisdiction</a:t>
            </a:r>
            <a:endParaRPr sz="850">
              <a:solidFill>
                <a:schemeClr val="dk1"/>
              </a:solidFill>
              <a:latin typeface="Calibri"/>
              <a:ea typeface="Calibri"/>
              <a:cs typeface="Calibri"/>
              <a:sym typeface="Calibri"/>
            </a:endParaRPr>
          </a:p>
        </p:txBody>
      </p:sp>
      <p:sp>
        <p:nvSpPr>
          <p:cNvPr id="194" name="Google Shape;194;p6"/>
          <p:cNvSpPr/>
          <p:nvPr/>
        </p:nvSpPr>
        <p:spPr>
          <a:xfrm>
            <a:off x="4727448" y="1481328"/>
            <a:ext cx="4206240" cy="1536192"/>
          </a:xfrm>
          <a:prstGeom prst="rect">
            <a:avLst/>
          </a:prstGeom>
          <a:solidFill>
            <a:srgbClr val="EEF3F9"/>
          </a:solidFill>
          <a:ln cap="flat" cmpd="sng" w="12700">
            <a:solidFill>
              <a:srgbClr val="C8D5E4"/>
            </a:solidFill>
            <a:prstDash val="solid"/>
            <a:round/>
            <a:headEnd len="sm" w="sm" type="none"/>
            <a:tailEnd len="sm" w="sm" type="none"/>
          </a:ln>
          <a:effectLst>
            <a:outerShdw blurRad="152400" rotWithShape="0" algn="bl" dir="8100000" dist="381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6"/>
          <p:cNvSpPr/>
          <p:nvPr/>
        </p:nvSpPr>
        <p:spPr>
          <a:xfrm>
            <a:off x="4727448" y="1481328"/>
            <a:ext cx="4206240" cy="64008"/>
          </a:xfrm>
          <a:prstGeom prst="rect">
            <a:avLst/>
          </a:prstGeom>
          <a:solidFill>
            <a:srgbClr val="1A4A8A"/>
          </a:solidFill>
          <a:ln cap="flat" cmpd="sng" w="12700">
            <a:solidFill>
              <a:srgbClr val="1A4A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6"/>
          <p:cNvSpPr/>
          <p:nvPr/>
        </p:nvSpPr>
        <p:spPr>
          <a:xfrm>
            <a:off x="4727448" y="1481328"/>
            <a:ext cx="475488" cy="1536192"/>
          </a:xfrm>
          <a:prstGeom prst="rect">
            <a:avLst/>
          </a:prstGeom>
          <a:solidFill>
            <a:srgbClr val="1A4A8A"/>
          </a:solidFill>
          <a:ln cap="flat" cmpd="sng" w="12700">
            <a:solidFill>
              <a:srgbClr val="1A4A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6"/>
          <p:cNvSpPr/>
          <p:nvPr/>
        </p:nvSpPr>
        <p:spPr>
          <a:xfrm>
            <a:off x="4727448" y="2029968"/>
            <a:ext cx="475488"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Georgia"/>
              <a:buNone/>
            </a:pPr>
            <a:r>
              <a:rPr b="1" lang="en-US" sz="1400">
                <a:solidFill>
                  <a:srgbClr val="FFFFFF"/>
                </a:solidFill>
                <a:latin typeface="Georgia"/>
                <a:ea typeface="Georgia"/>
                <a:cs typeface="Georgia"/>
                <a:sym typeface="Georgia"/>
              </a:rPr>
              <a:t>L2</a:t>
            </a:r>
            <a:endParaRPr sz="1400">
              <a:solidFill>
                <a:schemeClr val="dk1"/>
              </a:solidFill>
              <a:latin typeface="Calibri"/>
              <a:ea typeface="Calibri"/>
              <a:cs typeface="Calibri"/>
              <a:sym typeface="Calibri"/>
            </a:endParaRPr>
          </a:p>
        </p:txBody>
      </p:sp>
      <p:sp>
        <p:nvSpPr>
          <p:cNvPr id="198" name="Google Shape;198;p6"/>
          <p:cNvSpPr/>
          <p:nvPr/>
        </p:nvSpPr>
        <p:spPr>
          <a:xfrm>
            <a:off x="5294376" y="1572768"/>
            <a:ext cx="3493008"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829"/>
              </a:buClr>
              <a:buSzPts val="1150"/>
              <a:buFont typeface="Calibri"/>
              <a:buNone/>
            </a:pPr>
            <a:r>
              <a:rPr b="1" lang="en-US" sz="1150">
                <a:solidFill>
                  <a:srgbClr val="0B1829"/>
                </a:solidFill>
                <a:latin typeface="Calibri"/>
                <a:ea typeface="Calibri"/>
                <a:cs typeface="Calibri"/>
                <a:sym typeface="Calibri"/>
              </a:rPr>
              <a:t>Sovereign Model Layer</a:t>
            </a:r>
            <a:endParaRPr sz="1150">
              <a:solidFill>
                <a:schemeClr val="dk1"/>
              </a:solidFill>
              <a:latin typeface="Calibri"/>
              <a:ea typeface="Calibri"/>
              <a:cs typeface="Calibri"/>
              <a:sym typeface="Calibri"/>
            </a:endParaRPr>
          </a:p>
        </p:txBody>
      </p:sp>
      <p:sp>
        <p:nvSpPr>
          <p:cNvPr id="199" name="Google Shape;199;p6"/>
          <p:cNvSpPr/>
          <p:nvPr/>
        </p:nvSpPr>
        <p:spPr>
          <a:xfrm>
            <a:off x="5294376" y="1847088"/>
            <a:ext cx="3493008"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950"/>
              <a:buFont typeface="Calibri"/>
              <a:buNone/>
            </a:pPr>
            <a:r>
              <a:rPr lang="en-US" sz="950">
                <a:solidFill>
                  <a:srgbClr val="334155"/>
                </a:solidFill>
                <a:latin typeface="Calibri"/>
                <a:ea typeface="Calibri"/>
                <a:cs typeface="Calibri"/>
                <a:sym typeface="Calibri"/>
              </a:rPr>
              <a:t>Open-weight models (Llama, Mistral, Falcon) that can be deployed on sovereign infrastructure without model-provider dependency. Includes fine-tuning pipelines that remain within jurisdiction.</a:t>
            </a:r>
            <a:endParaRPr sz="950">
              <a:solidFill>
                <a:schemeClr val="dk1"/>
              </a:solidFill>
              <a:latin typeface="Calibri"/>
              <a:ea typeface="Calibri"/>
              <a:cs typeface="Calibri"/>
              <a:sym typeface="Calibri"/>
            </a:endParaRPr>
          </a:p>
        </p:txBody>
      </p:sp>
      <p:sp>
        <p:nvSpPr>
          <p:cNvPr id="200" name="Google Shape;200;p6"/>
          <p:cNvSpPr/>
          <p:nvPr/>
        </p:nvSpPr>
        <p:spPr>
          <a:xfrm>
            <a:off x="5294376" y="2414016"/>
            <a:ext cx="3493008" cy="18288"/>
          </a:xfrm>
          <a:prstGeom prst="rect">
            <a:avLst/>
          </a:prstGeom>
          <a:solidFill>
            <a:srgbClr val="1A4A8A"/>
          </a:solidFill>
          <a:ln cap="flat" cmpd="sng" w="12700">
            <a:solidFill>
              <a:srgbClr val="1A4A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6"/>
          <p:cNvSpPr/>
          <p:nvPr/>
        </p:nvSpPr>
        <p:spPr>
          <a:xfrm>
            <a:off x="5294376" y="2468880"/>
            <a:ext cx="3493008"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4A8A"/>
              </a:buClr>
              <a:buSzPts val="850"/>
              <a:buFont typeface="Calibri"/>
              <a:buNone/>
            </a:pPr>
            <a:r>
              <a:rPr b="1" lang="en-US" sz="850">
                <a:solidFill>
                  <a:srgbClr val="1A4A8A"/>
                </a:solidFill>
                <a:latin typeface="Calibri"/>
                <a:ea typeface="Calibri"/>
                <a:cs typeface="Calibri"/>
                <a:sym typeface="Calibri"/>
              </a:rPr>
              <a:t>⚠  Open-weight model performance gap vs. frontier models for complex tasks; fine-tuning operational overhead</a:t>
            </a:r>
            <a:endParaRPr sz="850">
              <a:solidFill>
                <a:schemeClr val="dk1"/>
              </a:solidFill>
              <a:latin typeface="Calibri"/>
              <a:ea typeface="Calibri"/>
              <a:cs typeface="Calibri"/>
              <a:sym typeface="Calibri"/>
            </a:endParaRPr>
          </a:p>
        </p:txBody>
      </p:sp>
      <p:sp>
        <p:nvSpPr>
          <p:cNvPr id="202" name="Google Shape;202;p6"/>
          <p:cNvSpPr/>
          <p:nvPr/>
        </p:nvSpPr>
        <p:spPr>
          <a:xfrm>
            <a:off x="320040" y="3145536"/>
            <a:ext cx="4206240" cy="1536192"/>
          </a:xfrm>
          <a:prstGeom prst="rect">
            <a:avLst/>
          </a:prstGeom>
          <a:solidFill>
            <a:srgbClr val="EEF3F9"/>
          </a:solidFill>
          <a:ln cap="flat" cmpd="sng" w="12700">
            <a:solidFill>
              <a:srgbClr val="C8D5E4"/>
            </a:solidFill>
            <a:prstDash val="solid"/>
            <a:round/>
            <a:headEnd len="sm" w="sm" type="none"/>
            <a:tailEnd len="sm" w="sm" type="none"/>
          </a:ln>
          <a:effectLst>
            <a:outerShdw blurRad="152400" rotWithShape="0" algn="bl" dir="8100000" dist="381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6"/>
          <p:cNvSpPr/>
          <p:nvPr/>
        </p:nvSpPr>
        <p:spPr>
          <a:xfrm>
            <a:off x="320040" y="3145536"/>
            <a:ext cx="4206240" cy="64008"/>
          </a:xfrm>
          <a:prstGeom prst="rect">
            <a:avLst/>
          </a:prstGeom>
          <a:solidFill>
            <a:srgbClr val="0A7A72"/>
          </a:solidFill>
          <a:ln cap="flat" cmpd="sng" w="12700">
            <a:solidFill>
              <a:srgbClr val="0A7A7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6"/>
          <p:cNvSpPr/>
          <p:nvPr/>
        </p:nvSpPr>
        <p:spPr>
          <a:xfrm>
            <a:off x="320040" y="3145536"/>
            <a:ext cx="475488" cy="1536192"/>
          </a:xfrm>
          <a:prstGeom prst="rect">
            <a:avLst/>
          </a:prstGeom>
          <a:solidFill>
            <a:srgbClr val="0A7A72"/>
          </a:solidFill>
          <a:ln cap="flat" cmpd="sng" w="12700">
            <a:solidFill>
              <a:srgbClr val="0A7A7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6"/>
          <p:cNvSpPr/>
          <p:nvPr/>
        </p:nvSpPr>
        <p:spPr>
          <a:xfrm>
            <a:off x="320040" y="3694176"/>
            <a:ext cx="475488"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Georgia"/>
              <a:buNone/>
            </a:pPr>
            <a:r>
              <a:rPr b="1" lang="en-US" sz="1400">
                <a:solidFill>
                  <a:srgbClr val="FFFFFF"/>
                </a:solidFill>
                <a:latin typeface="Georgia"/>
                <a:ea typeface="Georgia"/>
                <a:cs typeface="Georgia"/>
                <a:sym typeface="Georgia"/>
              </a:rPr>
              <a:t>L3</a:t>
            </a:r>
            <a:endParaRPr sz="1400">
              <a:solidFill>
                <a:schemeClr val="dk1"/>
              </a:solidFill>
              <a:latin typeface="Calibri"/>
              <a:ea typeface="Calibri"/>
              <a:cs typeface="Calibri"/>
              <a:sym typeface="Calibri"/>
            </a:endParaRPr>
          </a:p>
        </p:txBody>
      </p:sp>
      <p:sp>
        <p:nvSpPr>
          <p:cNvPr id="206" name="Google Shape;206;p6"/>
          <p:cNvSpPr/>
          <p:nvPr/>
        </p:nvSpPr>
        <p:spPr>
          <a:xfrm>
            <a:off x="886968" y="3236976"/>
            <a:ext cx="3493008"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829"/>
              </a:buClr>
              <a:buSzPts val="1150"/>
              <a:buFont typeface="Calibri"/>
              <a:buNone/>
            </a:pPr>
            <a:r>
              <a:rPr b="1" lang="en-US" sz="1150">
                <a:solidFill>
                  <a:srgbClr val="0B1829"/>
                </a:solidFill>
                <a:latin typeface="Calibri"/>
                <a:ea typeface="Calibri"/>
                <a:cs typeface="Calibri"/>
                <a:sym typeface="Calibri"/>
              </a:rPr>
              <a:t>Sovereign Data Layer</a:t>
            </a:r>
            <a:endParaRPr sz="1150">
              <a:solidFill>
                <a:schemeClr val="dk1"/>
              </a:solidFill>
              <a:latin typeface="Calibri"/>
              <a:ea typeface="Calibri"/>
              <a:cs typeface="Calibri"/>
              <a:sym typeface="Calibri"/>
            </a:endParaRPr>
          </a:p>
        </p:txBody>
      </p:sp>
      <p:sp>
        <p:nvSpPr>
          <p:cNvPr id="207" name="Google Shape;207;p6"/>
          <p:cNvSpPr/>
          <p:nvPr/>
        </p:nvSpPr>
        <p:spPr>
          <a:xfrm>
            <a:off x="886968" y="3511296"/>
            <a:ext cx="3493008"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950"/>
              <a:buFont typeface="Calibri"/>
              <a:buNone/>
            </a:pPr>
            <a:r>
              <a:rPr lang="en-US" sz="950">
                <a:solidFill>
                  <a:srgbClr val="334155"/>
                </a:solidFill>
                <a:latin typeface="Calibri"/>
                <a:ea typeface="Calibri"/>
                <a:cs typeface="Calibri"/>
                <a:sym typeface="Calibri"/>
              </a:rPr>
              <a:t>Data pipelines, storage, and processing that are physically and legally bounded within the target jurisdiction. Includes training data, inference inputs, model outputs, and audit logs.</a:t>
            </a:r>
            <a:endParaRPr sz="950">
              <a:solidFill>
                <a:schemeClr val="dk1"/>
              </a:solidFill>
              <a:latin typeface="Calibri"/>
              <a:ea typeface="Calibri"/>
              <a:cs typeface="Calibri"/>
              <a:sym typeface="Calibri"/>
            </a:endParaRPr>
          </a:p>
        </p:txBody>
      </p:sp>
      <p:sp>
        <p:nvSpPr>
          <p:cNvPr id="208" name="Google Shape;208;p6"/>
          <p:cNvSpPr/>
          <p:nvPr/>
        </p:nvSpPr>
        <p:spPr>
          <a:xfrm>
            <a:off x="886968" y="4078224"/>
            <a:ext cx="3493008" cy="18288"/>
          </a:xfrm>
          <a:prstGeom prst="rect">
            <a:avLst/>
          </a:prstGeom>
          <a:solidFill>
            <a:srgbClr val="0A7A72"/>
          </a:solidFill>
          <a:ln cap="flat" cmpd="sng" w="12700">
            <a:solidFill>
              <a:srgbClr val="0A7A7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6"/>
          <p:cNvSpPr/>
          <p:nvPr/>
        </p:nvSpPr>
        <p:spPr>
          <a:xfrm>
            <a:off x="886968" y="4133088"/>
            <a:ext cx="3493008"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7A72"/>
              </a:buClr>
              <a:buSzPts val="850"/>
              <a:buFont typeface="Calibri"/>
              <a:buNone/>
            </a:pPr>
            <a:r>
              <a:rPr b="1" lang="en-US" sz="850">
                <a:solidFill>
                  <a:srgbClr val="0A7A72"/>
                </a:solidFill>
                <a:latin typeface="Calibri"/>
                <a:ea typeface="Calibri"/>
                <a:cs typeface="Calibri"/>
                <a:sym typeface="Calibri"/>
              </a:rPr>
              <a:t>⚠  Data gravity increases infrastructure cost; cross-border analytics and benchmarking become constrained</a:t>
            </a:r>
            <a:endParaRPr sz="850">
              <a:solidFill>
                <a:schemeClr val="dk1"/>
              </a:solidFill>
              <a:latin typeface="Calibri"/>
              <a:ea typeface="Calibri"/>
              <a:cs typeface="Calibri"/>
              <a:sym typeface="Calibri"/>
            </a:endParaRPr>
          </a:p>
        </p:txBody>
      </p:sp>
      <p:sp>
        <p:nvSpPr>
          <p:cNvPr id="210" name="Google Shape;210;p6"/>
          <p:cNvSpPr/>
          <p:nvPr/>
        </p:nvSpPr>
        <p:spPr>
          <a:xfrm>
            <a:off x="4727448" y="3145536"/>
            <a:ext cx="4206240" cy="1536192"/>
          </a:xfrm>
          <a:prstGeom prst="rect">
            <a:avLst/>
          </a:prstGeom>
          <a:solidFill>
            <a:srgbClr val="EEF3F9"/>
          </a:solidFill>
          <a:ln cap="flat" cmpd="sng" w="12700">
            <a:solidFill>
              <a:srgbClr val="C8D5E4"/>
            </a:solidFill>
            <a:prstDash val="solid"/>
            <a:round/>
            <a:headEnd len="sm" w="sm" type="none"/>
            <a:tailEnd len="sm" w="sm" type="none"/>
          </a:ln>
          <a:effectLst>
            <a:outerShdw blurRad="152400" rotWithShape="0" algn="bl" dir="8100000" dist="381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6"/>
          <p:cNvSpPr/>
          <p:nvPr/>
        </p:nvSpPr>
        <p:spPr>
          <a:xfrm>
            <a:off x="4727448" y="3145536"/>
            <a:ext cx="4206240" cy="64008"/>
          </a:xfrm>
          <a:prstGeom prst="rect">
            <a:avLst/>
          </a:prstGeom>
          <a:solidFill>
            <a:srgbClr val="A0511A"/>
          </a:solidFill>
          <a:ln cap="flat" cmpd="sng" w="12700">
            <a:solidFill>
              <a:srgbClr val="A051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6"/>
          <p:cNvSpPr/>
          <p:nvPr/>
        </p:nvSpPr>
        <p:spPr>
          <a:xfrm>
            <a:off x="4727448" y="3145536"/>
            <a:ext cx="475488" cy="1536192"/>
          </a:xfrm>
          <a:prstGeom prst="rect">
            <a:avLst/>
          </a:prstGeom>
          <a:solidFill>
            <a:srgbClr val="A0511A"/>
          </a:solidFill>
          <a:ln cap="flat" cmpd="sng" w="12700">
            <a:solidFill>
              <a:srgbClr val="A051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6"/>
          <p:cNvSpPr/>
          <p:nvPr/>
        </p:nvSpPr>
        <p:spPr>
          <a:xfrm>
            <a:off x="4727448" y="3694176"/>
            <a:ext cx="475488"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Georgia"/>
              <a:buNone/>
            </a:pPr>
            <a:r>
              <a:rPr b="1" lang="en-US" sz="1400">
                <a:solidFill>
                  <a:srgbClr val="FFFFFF"/>
                </a:solidFill>
                <a:latin typeface="Georgia"/>
                <a:ea typeface="Georgia"/>
                <a:cs typeface="Georgia"/>
                <a:sym typeface="Georgia"/>
              </a:rPr>
              <a:t>L4</a:t>
            </a:r>
            <a:endParaRPr sz="1400">
              <a:solidFill>
                <a:schemeClr val="dk1"/>
              </a:solidFill>
              <a:latin typeface="Calibri"/>
              <a:ea typeface="Calibri"/>
              <a:cs typeface="Calibri"/>
              <a:sym typeface="Calibri"/>
            </a:endParaRPr>
          </a:p>
        </p:txBody>
      </p:sp>
      <p:sp>
        <p:nvSpPr>
          <p:cNvPr id="214" name="Google Shape;214;p6"/>
          <p:cNvSpPr/>
          <p:nvPr/>
        </p:nvSpPr>
        <p:spPr>
          <a:xfrm>
            <a:off x="5294376" y="3236976"/>
            <a:ext cx="3493008"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829"/>
              </a:buClr>
              <a:buSzPts val="1150"/>
              <a:buFont typeface="Calibri"/>
              <a:buNone/>
            </a:pPr>
            <a:r>
              <a:rPr b="1" lang="en-US" sz="1150">
                <a:solidFill>
                  <a:srgbClr val="0B1829"/>
                </a:solidFill>
                <a:latin typeface="Calibri"/>
                <a:ea typeface="Calibri"/>
                <a:cs typeface="Calibri"/>
                <a:sym typeface="Calibri"/>
              </a:rPr>
              <a:t>Compliance &amp; Audit Layer</a:t>
            </a:r>
            <a:endParaRPr sz="1150">
              <a:solidFill>
                <a:schemeClr val="dk1"/>
              </a:solidFill>
              <a:latin typeface="Calibri"/>
              <a:ea typeface="Calibri"/>
              <a:cs typeface="Calibri"/>
              <a:sym typeface="Calibri"/>
            </a:endParaRPr>
          </a:p>
        </p:txBody>
      </p:sp>
      <p:sp>
        <p:nvSpPr>
          <p:cNvPr id="215" name="Google Shape;215;p6"/>
          <p:cNvSpPr/>
          <p:nvPr/>
        </p:nvSpPr>
        <p:spPr>
          <a:xfrm>
            <a:off x="5294376" y="3511296"/>
            <a:ext cx="3493008"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950"/>
              <a:buFont typeface="Calibri"/>
              <a:buNone/>
            </a:pPr>
            <a:r>
              <a:rPr lang="en-US" sz="950">
                <a:solidFill>
                  <a:srgbClr val="334155"/>
                </a:solidFill>
                <a:latin typeface="Calibri"/>
                <a:ea typeface="Calibri"/>
                <a:cs typeface="Calibri"/>
                <a:sym typeface="Calibri"/>
              </a:rPr>
              <a:t>Governance tooling that produces regulator-ready documentation: model cards, training data provenance, bias audit reports, incident logs, and access records — stored in-jurisdiction and available on demand.</a:t>
            </a:r>
            <a:endParaRPr sz="950">
              <a:solidFill>
                <a:schemeClr val="dk1"/>
              </a:solidFill>
              <a:latin typeface="Calibri"/>
              <a:ea typeface="Calibri"/>
              <a:cs typeface="Calibri"/>
              <a:sym typeface="Calibri"/>
            </a:endParaRPr>
          </a:p>
        </p:txBody>
      </p:sp>
      <p:sp>
        <p:nvSpPr>
          <p:cNvPr id="216" name="Google Shape;216;p6"/>
          <p:cNvSpPr/>
          <p:nvPr/>
        </p:nvSpPr>
        <p:spPr>
          <a:xfrm>
            <a:off x="5294376" y="4078224"/>
            <a:ext cx="3493008" cy="18288"/>
          </a:xfrm>
          <a:prstGeom prst="rect">
            <a:avLst/>
          </a:prstGeom>
          <a:solidFill>
            <a:srgbClr val="A0511A"/>
          </a:solidFill>
          <a:ln cap="flat" cmpd="sng" w="12700">
            <a:solidFill>
              <a:srgbClr val="A051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6"/>
          <p:cNvSpPr/>
          <p:nvPr/>
        </p:nvSpPr>
        <p:spPr>
          <a:xfrm>
            <a:off x="5294376" y="4133088"/>
            <a:ext cx="3493008"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0511A"/>
              </a:buClr>
              <a:buSzPts val="850"/>
              <a:buFont typeface="Calibri"/>
              <a:buNone/>
            </a:pPr>
            <a:r>
              <a:rPr b="1" lang="en-US" sz="850">
                <a:solidFill>
                  <a:srgbClr val="A0511A"/>
                </a:solidFill>
                <a:latin typeface="Calibri"/>
                <a:ea typeface="Calibri"/>
                <a:cs typeface="Calibri"/>
                <a:sym typeface="Calibri"/>
              </a:rPr>
              <a:t>⚠  Governance overhead scales linearly with jurisdictions served; requires dedicated compliance engineering</a:t>
            </a:r>
            <a:endParaRPr sz="850">
              <a:solidFill>
                <a:schemeClr val="dk1"/>
              </a:solidFill>
              <a:latin typeface="Calibri"/>
              <a:ea typeface="Calibri"/>
              <a:cs typeface="Calibri"/>
              <a:sym typeface="Calibri"/>
            </a:endParaRPr>
          </a:p>
        </p:txBody>
      </p:sp>
      <p:sp>
        <p:nvSpPr>
          <p:cNvPr id="218" name="Google Shape;218;p6"/>
          <p:cNvSpPr/>
          <p:nvPr/>
        </p:nvSpPr>
        <p:spPr>
          <a:xfrm>
            <a:off x="0" y="4818888"/>
            <a:ext cx="9144000" cy="324612"/>
          </a:xfrm>
          <a:prstGeom prst="rect">
            <a:avLst/>
          </a:prstGeom>
          <a:solidFill>
            <a:srgbClr val="0B1829"/>
          </a:solidFill>
          <a:ln cap="flat" cmpd="sng" w="12700">
            <a:solidFill>
              <a:srgbClr val="0B182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6"/>
          <p:cNvSpPr/>
          <p:nvPr/>
        </p:nvSpPr>
        <p:spPr>
          <a:xfrm>
            <a:off x="0" y="4826203"/>
            <a:ext cx="9144000" cy="30175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AAAC8"/>
              </a:buClr>
              <a:buSzPts val="850"/>
              <a:buFont typeface="Calibri"/>
              <a:buNone/>
            </a:pPr>
            <a:r>
              <a:rPr lang="en-US" sz="850">
                <a:solidFill>
                  <a:srgbClr val="7AAAC8"/>
                </a:solidFill>
                <a:latin typeface="Calibri"/>
                <a:ea typeface="Calibri"/>
                <a:cs typeface="Calibri"/>
                <a:sym typeface="Calibri"/>
              </a:rPr>
              <a:t>Accredian is a leading Indian institution specializing in AI, Data Science, and Management research and education.  •  Visit us at: </a:t>
            </a:r>
            <a:r>
              <a:rPr lang="en-US" sz="850" u="sng">
                <a:solidFill>
                  <a:srgbClr val="7AAAC8"/>
                </a:solidFill>
                <a:latin typeface="Calibri"/>
                <a:ea typeface="Calibri"/>
                <a:cs typeface="Calibri"/>
                <a:sym typeface="Calibri"/>
                <a:hlinkClick r:id="rId3">
                  <a:extLst>
                    <a:ext uri="{A12FA001-AC4F-418D-AE19-62706E023703}">
                      <ahyp:hlinkClr val="tx"/>
                    </a:ext>
                  </a:extLst>
                </a:hlinkClick>
              </a:rPr>
              <a:t>https://accredian.com</a:t>
            </a:r>
            <a:endParaRPr sz="85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829"/>
        </a:solidFill>
      </p:bgPr>
    </p:bg>
    <p:spTree>
      <p:nvGrpSpPr>
        <p:cNvPr id="224" name="Shape 224"/>
        <p:cNvGrpSpPr/>
        <p:nvPr/>
      </p:nvGrpSpPr>
      <p:grpSpPr>
        <a:xfrm>
          <a:off x="0" y="0"/>
          <a:ext cx="0" cy="0"/>
          <a:chOff x="0" y="0"/>
          <a:chExt cx="0" cy="0"/>
        </a:xfrm>
      </p:grpSpPr>
      <p:sp>
        <p:nvSpPr>
          <p:cNvPr id="225" name="Google Shape;225;p7"/>
          <p:cNvSpPr/>
          <p:nvPr/>
        </p:nvSpPr>
        <p:spPr>
          <a:xfrm>
            <a:off x="6400800" y="2926080"/>
            <a:ext cx="4572000" cy="4572000"/>
          </a:xfrm>
          <a:prstGeom prst="ellipse">
            <a:avLst/>
          </a:prstGeom>
          <a:solidFill>
            <a:srgbClr val="122035"/>
          </a:solidFill>
          <a:ln cap="flat" cmpd="sng" w="12700">
            <a:solidFill>
              <a:srgbClr val="12203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7"/>
          <p:cNvSpPr/>
          <p:nvPr/>
        </p:nvSpPr>
        <p:spPr>
          <a:xfrm>
            <a:off x="365760" y="201168"/>
            <a:ext cx="1920240" cy="246888"/>
          </a:xfrm>
          <a:prstGeom prst="rect">
            <a:avLst/>
          </a:prstGeom>
          <a:solidFill>
            <a:srgbClr val="A0511A"/>
          </a:solidFill>
          <a:ln cap="flat" cmpd="sng" w="12700">
            <a:solidFill>
              <a:srgbClr val="A051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7"/>
          <p:cNvSpPr/>
          <p:nvPr/>
        </p:nvSpPr>
        <p:spPr>
          <a:xfrm>
            <a:off x="365760" y="201168"/>
            <a:ext cx="1920240"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alibri"/>
              <a:buNone/>
            </a:pPr>
            <a:r>
              <a:rPr b="1" lang="en-US" sz="850">
                <a:solidFill>
                  <a:srgbClr val="FFFFFF"/>
                </a:solidFill>
                <a:latin typeface="Calibri"/>
                <a:ea typeface="Calibri"/>
                <a:cs typeface="Calibri"/>
                <a:sym typeface="Calibri"/>
              </a:rPr>
              <a:t>SLIDE 06 OF 07</a:t>
            </a:r>
            <a:endParaRPr sz="850">
              <a:solidFill>
                <a:schemeClr val="dk1"/>
              </a:solidFill>
              <a:latin typeface="Calibri"/>
              <a:ea typeface="Calibri"/>
              <a:cs typeface="Calibri"/>
              <a:sym typeface="Calibri"/>
            </a:endParaRPr>
          </a:p>
        </p:txBody>
      </p:sp>
      <p:sp>
        <p:nvSpPr>
          <p:cNvPr id="228" name="Google Shape;228;p7"/>
          <p:cNvSpPr/>
          <p:nvPr/>
        </p:nvSpPr>
        <p:spPr>
          <a:xfrm>
            <a:off x="365760" y="566928"/>
            <a:ext cx="84124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200"/>
              <a:buFont typeface="Georgia"/>
              <a:buNone/>
            </a:pPr>
            <a:r>
              <a:rPr b="1" lang="en-US" sz="2200">
                <a:solidFill>
                  <a:srgbClr val="FFFFFF"/>
                </a:solidFill>
                <a:latin typeface="Georgia"/>
                <a:ea typeface="Georgia"/>
                <a:cs typeface="Georgia"/>
                <a:sym typeface="Georgia"/>
              </a:rPr>
              <a:t>Digital Trade Wars: Risk &amp; Strategic Response</a:t>
            </a:r>
            <a:endParaRPr sz="2200">
              <a:solidFill>
                <a:schemeClr val="dk1"/>
              </a:solidFill>
              <a:latin typeface="Calibri"/>
              <a:ea typeface="Calibri"/>
              <a:cs typeface="Calibri"/>
              <a:sym typeface="Calibri"/>
            </a:endParaRPr>
          </a:p>
        </p:txBody>
      </p:sp>
      <p:sp>
        <p:nvSpPr>
          <p:cNvPr id="229" name="Google Shape;229;p7"/>
          <p:cNvSpPr/>
          <p:nvPr/>
        </p:nvSpPr>
        <p:spPr>
          <a:xfrm>
            <a:off x="365760" y="1097280"/>
            <a:ext cx="685800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AAC8"/>
              </a:buClr>
              <a:buSzPts val="1250"/>
              <a:buFont typeface="Calibri"/>
              <a:buNone/>
            </a:pPr>
            <a:r>
              <a:rPr lang="en-US" sz="1250">
                <a:solidFill>
                  <a:srgbClr val="7AAAC8"/>
                </a:solidFill>
                <a:latin typeface="Calibri"/>
                <a:ea typeface="Calibri"/>
                <a:cs typeface="Calibri"/>
                <a:sym typeface="Calibri"/>
              </a:rPr>
              <a:t>AI regulation is now a geopolitical instrument. Understanding the strategic risks — and the organisational responses that mitigate them — is a board-level imperative.</a:t>
            </a:r>
            <a:endParaRPr sz="1250">
              <a:solidFill>
                <a:schemeClr val="dk1"/>
              </a:solidFill>
              <a:latin typeface="Calibri"/>
              <a:ea typeface="Calibri"/>
              <a:cs typeface="Calibri"/>
              <a:sym typeface="Calibri"/>
            </a:endParaRPr>
          </a:p>
        </p:txBody>
      </p:sp>
      <p:sp>
        <p:nvSpPr>
          <p:cNvPr id="230" name="Google Shape;230;p7"/>
          <p:cNvSpPr/>
          <p:nvPr/>
        </p:nvSpPr>
        <p:spPr>
          <a:xfrm>
            <a:off x="365760" y="1536192"/>
            <a:ext cx="8412480" cy="722376"/>
          </a:xfrm>
          <a:prstGeom prst="rect">
            <a:avLst/>
          </a:prstGeom>
          <a:solidFill>
            <a:srgbClr val="0A1525"/>
          </a:solidFill>
          <a:ln cap="flat" cmpd="sng" w="12700">
            <a:solidFill>
              <a:srgbClr val="1A305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7"/>
          <p:cNvSpPr/>
          <p:nvPr/>
        </p:nvSpPr>
        <p:spPr>
          <a:xfrm>
            <a:off x="365760" y="1536192"/>
            <a:ext cx="164592" cy="722376"/>
          </a:xfrm>
          <a:prstGeom prst="rect">
            <a:avLst/>
          </a:prstGeom>
          <a:solidFill>
            <a:srgbClr val="8A1C2E"/>
          </a:solidFill>
          <a:ln cap="flat" cmpd="sng" w="12700">
            <a:solidFill>
              <a:srgbClr val="8A1C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7"/>
          <p:cNvSpPr/>
          <p:nvPr/>
        </p:nvSpPr>
        <p:spPr>
          <a:xfrm>
            <a:off x="603504" y="1600200"/>
            <a:ext cx="234086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Calibri"/>
              <a:buNone/>
            </a:pPr>
            <a:r>
              <a:rPr b="1" lang="en-US" sz="1000">
                <a:solidFill>
                  <a:srgbClr val="FFFFFF"/>
                </a:solidFill>
                <a:latin typeface="Calibri"/>
                <a:ea typeface="Calibri"/>
                <a:cs typeface="Calibri"/>
                <a:sym typeface="Calibri"/>
              </a:rPr>
              <a:t>Market Access Revocation</a:t>
            </a:r>
            <a:endParaRPr sz="1000">
              <a:solidFill>
                <a:schemeClr val="dk1"/>
              </a:solidFill>
              <a:latin typeface="Calibri"/>
              <a:ea typeface="Calibri"/>
              <a:cs typeface="Calibri"/>
              <a:sym typeface="Calibri"/>
            </a:endParaRPr>
          </a:p>
        </p:txBody>
      </p:sp>
      <p:sp>
        <p:nvSpPr>
          <p:cNvPr id="233" name="Google Shape;233;p7"/>
          <p:cNvSpPr/>
          <p:nvPr/>
        </p:nvSpPr>
        <p:spPr>
          <a:xfrm>
            <a:off x="603504" y="1801368"/>
            <a:ext cx="2340864"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ACCC"/>
              </a:buClr>
              <a:buSzPts val="800"/>
              <a:buFont typeface="Calibri"/>
              <a:buNone/>
            </a:pPr>
            <a:r>
              <a:rPr lang="en-US" sz="800">
                <a:solidFill>
                  <a:srgbClr val="8AACCC"/>
                </a:solidFill>
                <a:latin typeface="Calibri"/>
                <a:ea typeface="Calibri"/>
                <a:cs typeface="Calibri"/>
                <a:sym typeface="Calibri"/>
              </a:rPr>
              <a:t>Governments can and do revoke AI system operating licences when data residency requirements are not met. Meta’s suspension in Brazil (2024) and EU (2022) demonstrate that even the largest operators face this risk.</a:t>
            </a:r>
            <a:endParaRPr sz="800">
              <a:solidFill>
                <a:schemeClr val="dk1"/>
              </a:solidFill>
              <a:latin typeface="Calibri"/>
              <a:ea typeface="Calibri"/>
              <a:cs typeface="Calibri"/>
              <a:sym typeface="Calibri"/>
            </a:endParaRPr>
          </a:p>
        </p:txBody>
      </p:sp>
      <p:sp>
        <p:nvSpPr>
          <p:cNvPr id="234" name="Google Shape;234;p7"/>
          <p:cNvSpPr/>
          <p:nvPr/>
        </p:nvSpPr>
        <p:spPr>
          <a:xfrm>
            <a:off x="3090672" y="1627632"/>
            <a:ext cx="27432" cy="530352"/>
          </a:xfrm>
          <a:prstGeom prst="rect">
            <a:avLst/>
          </a:prstGeom>
          <a:solidFill>
            <a:srgbClr val="1A3050"/>
          </a:solidFill>
          <a:ln cap="flat" cmpd="sng" w="12700">
            <a:solidFill>
              <a:srgbClr val="1A305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7"/>
          <p:cNvSpPr/>
          <p:nvPr/>
        </p:nvSpPr>
        <p:spPr>
          <a:xfrm>
            <a:off x="3236976" y="1591056"/>
            <a:ext cx="137160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1C2E"/>
              </a:buClr>
              <a:buSzPts val="900"/>
              <a:buFont typeface="Calibri"/>
              <a:buNone/>
            </a:pPr>
            <a:r>
              <a:rPr b="1" lang="en-US" sz="900">
                <a:solidFill>
                  <a:srgbClr val="8A1C2E"/>
                </a:solidFill>
                <a:latin typeface="Calibri"/>
                <a:ea typeface="Calibri"/>
                <a:cs typeface="Calibri"/>
                <a:sym typeface="Calibri"/>
              </a:rPr>
              <a:t>→  Response:</a:t>
            </a:r>
            <a:endParaRPr sz="900">
              <a:solidFill>
                <a:schemeClr val="dk1"/>
              </a:solidFill>
              <a:latin typeface="Calibri"/>
              <a:ea typeface="Calibri"/>
              <a:cs typeface="Calibri"/>
              <a:sym typeface="Calibri"/>
            </a:endParaRPr>
          </a:p>
        </p:txBody>
      </p:sp>
      <p:sp>
        <p:nvSpPr>
          <p:cNvPr id="236" name="Google Shape;236;p7"/>
          <p:cNvSpPr/>
          <p:nvPr/>
        </p:nvSpPr>
        <p:spPr>
          <a:xfrm>
            <a:off x="3236976" y="1810512"/>
            <a:ext cx="5349240"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ACCDD"/>
              </a:buClr>
              <a:buSzPts val="900"/>
              <a:buFont typeface="Calibri"/>
              <a:buNone/>
            </a:pPr>
            <a:r>
              <a:rPr lang="en-US" sz="900">
                <a:solidFill>
                  <a:srgbClr val="AACCDD"/>
                </a:solidFill>
                <a:latin typeface="Calibri"/>
                <a:ea typeface="Calibri"/>
                <a:cs typeface="Calibri"/>
                <a:sym typeface="Calibri"/>
              </a:rPr>
              <a:t>Maintain a jurisdiction-specific compliance registry. Ensure no single regulatory action can disable AI services in more than one market simultaneously.</a:t>
            </a:r>
            <a:endParaRPr sz="900">
              <a:solidFill>
                <a:schemeClr val="dk1"/>
              </a:solidFill>
              <a:latin typeface="Calibri"/>
              <a:ea typeface="Calibri"/>
              <a:cs typeface="Calibri"/>
              <a:sym typeface="Calibri"/>
            </a:endParaRPr>
          </a:p>
        </p:txBody>
      </p:sp>
      <p:sp>
        <p:nvSpPr>
          <p:cNvPr id="237" name="Google Shape;237;p7"/>
          <p:cNvSpPr/>
          <p:nvPr/>
        </p:nvSpPr>
        <p:spPr>
          <a:xfrm>
            <a:off x="365760" y="2331720"/>
            <a:ext cx="8412480" cy="722376"/>
          </a:xfrm>
          <a:prstGeom prst="rect">
            <a:avLst/>
          </a:prstGeom>
          <a:solidFill>
            <a:srgbClr val="0A1525"/>
          </a:solidFill>
          <a:ln cap="flat" cmpd="sng" w="12700">
            <a:solidFill>
              <a:srgbClr val="1A305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7"/>
          <p:cNvSpPr/>
          <p:nvPr/>
        </p:nvSpPr>
        <p:spPr>
          <a:xfrm>
            <a:off x="365760" y="2331720"/>
            <a:ext cx="164592" cy="722376"/>
          </a:xfrm>
          <a:prstGeom prst="rect">
            <a:avLst/>
          </a:prstGeom>
          <a:solidFill>
            <a:srgbClr val="A0511A"/>
          </a:solidFill>
          <a:ln cap="flat" cmpd="sng" w="12700">
            <a:solidFill>
              <a:srgbClr val="A051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7"/>
          <p:cNvSpPr/>
          <p:nvPr/>
        </p:nvSpPr>
        <p:spPr>
          <a:xfrm>
            <a:off x="603504" y="2395728"/>
            <a:ext cx="234086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Calibri"/>
              <a:buNone/>
            </a:pPr>
            <a:r>
              <a:rPr b="1" lang="en-US" sz="1000">
                <a:solidFill>
                  <a:srgbClr val="FFFFFF"/>
                </a:solidFill>
                <a:latin typeface="Calibri"/>
                <a:ea typeface="Calibri"/>
                <a:cs typeface="Calibri"/>
                <a:sym typeface="Calibri"/>
              </a:rPr>
              <a:t>Supply Chain Decoupling</a:t>
            </a:r>
            <a:endParaRPr sz="1000">
              <a:solidFill>
                <a:schemeClr val="dk1"/>
              </a:solidFill>
              <a:latin typeface="Calibri"/>
              <a:ea typeface="Calibri"/>
              <a:cs typeface="Calibri"/>
              <a:sym typeface="Calibri"/>
            </a:endParaRPr>
          </a:p>
        </p:txBody>
      </p:sp>
      <p:sp>
        <p:nvSpPr>
          <p:cNvPr id="240" name="Google Shape;240;p7"/>
          <p:cNvSpPr/>
          <p:nvPr/>
        </p:nvSpPr>
        <p:spPr>
          <a:xfrm>
            <a:off x="603504" y="2596896"/>
            <a:ext cx="2340864"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ACCC"/>
              </a:buClr>
              <a:buSzPts val="800"/>
              <a:buFont typeface="Calibri"/>
              <a:buNone/>
            </a:pPr>
            <a:r>
              <a:rPr lang="en-US" sz="800">
                <a:solidFill>
                  <a:srgbClr val="8AACCC"/>
                </a:solidFill>
                <a:latin typeface="Calibri"/>
                <a:ea typeface="Calibri"/>
                <a:cs typeface="Calibri"/>
                <a:sym typeface="Calibri"/>
              </a:rPr>
              <a:t>US export controls on advanced semiconductors (H100, A100) have already created GPU scarcity in China, India, and parts of Southeast Asia. Future controls could restrict model weights or training frameworks.</a:t>
            </a:r>
            <a:endParaRPr sz="800">
              <a:solidFill>
                <a:schemeClr val="dk1"/>
              </a:solidFill>
              <a:latin typeface="Calibri"/>
              <a:ea typeface="Calibri"/>
              <a:cs typeface="Calibri"/>
              <a:sym typeface="Calibri"/>
            </a:endParaRPr>
          </a:p>
        </p:txBody>
      </p:sp>
      <p:sp>
        <p:nvSpPr>
          <p:cNvPr id="241" name="Google Shape;241;p7"/>
          <p:cNvSpPr/>
          <p:nvPr/>
        </p:nvSpPr>
        <p:spPr>
          <a:xfrm>
            <a:off x="3090672" y="2423160"/>
            <a:ext cx="27432" cy="530352"/>
          </a:xfrm>
          <a:prstGeom prst="rect">
            <a:avLst/>
          </a:prstGeom>
          <a:solidFill>
            <a:srgbClr val="1A3050"/>
          </a:solidFill>
          <a:ln cap="flat" cmpd="sng" w="12700">
            <a:solidFill>
              <a:srgbClr val="1A305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7"/>
          <p:cNvSpPr/>
          <p:nvPr/>
        </p:nvSpPr>
        <p:spPr>
          <a:xfrm>
            <a:off x="3236976" y="2386584"/>
            <a:ext cx="137160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0511A"/>
              </a:buClr>
              <a:buSzPts val="900"/>
              <a:buFont typeface="Calibri"/>
              <a:buNone/>
            </a:pPr>
            <a:r>
              <a:rPr b="1" lang="en-US" sz="900">
                <a:solidFill>
                  <a:srgbClr val="A0511A"/>
                </a:solidFill>
                <a:latin typeface="Calibri"/>
                <a:ea typeface="Calibri"/>
                <a:cs typeface="Calibri"/>
                <a:sym typeface="Calibri"/>
              </a:rPr>
              <a:t>→  Response:</a:t>
            </a:r>
            <a:endParaRPr sz="900">
              <a:solidFill>
                <a:schemeClr val="dk1"/>
              </a:solidFill>
              <a:latin typeface="Calibri"/>
              <a:ea typeface="Calibri"/>
              <a:cs typeface="Calibri"/>
              <a:sym typeface="Calibri"/>
            </a:endParaRPr>
          </a:p>
        </p:txBody>
      </p:sp>
      <p:sp>
        <p:nvSpPr>
          <p:cNvPr id="243" name="Google Shape;243;p7"/>
          <p:cNvSpPr/>
          <p:nvPr/>
        </p:nvSpPr>
        <p:spPr>
          <a:xfrm>
            <a:off x="3236976" y="2606040"/>
            <a:ext cx="5349240"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ACCDD"/>
              </a:buClr>
              <a:buSzPts val="900"/>
              <a:buFont typeface="Calibri"/>
              <a:buNone/>
            </a:pPr>
            <a:r>
              <a:rPr lang="en-US" sz="900">
                <a:solidFill>
                  <a:srgbClr val="AACCDD"/>
                </a:solidFill>
                <a:latin typeface="Calibri"/>
                <a:ea typeface="Calibri"/>
                <a:cs typeface="Calibri"/>
                <a:sym typeface="Calibri"/>
              </a:rPr>
              <a:t>Diversify compute providers across geopolitical zones. Maintain relationships with both US and non-US hardware vendors. Explore NeoCloud providers with regionally sourced compute.</a:t>
            </a:r>
            <a:endParaRPr sz="900">
              <a:solidFill>
                <a:schemeClr val="dk1"/>
              </a:solidFill>
              <a:latin typeface="Calibri"/>
              <a:ea typeface="Calibri"/>
              <a:cs typeface="Calibri"/>
              <a:sym typeface="Calibri"/>
            </a:endParaRPr>
          </a:p>
        </p:txBody>
      </p:sp>
      <p:sp>
        <p:nvSpPr>
          <p:cNvPr id="244" name="Google Shape;244;p7"/>
          <p:cNvSpPr/>
          <p:nvPr/>
        </p:nvSpPr>
        <p:spPr>
          <a:xfrm>
            <a:off x="365760" y="3127248"/>
            <a:ext cx="8412480" cy="722376"/>
          </a:xfrm>
          <a:prstGeom prst="rect">
            <a:avLst/>
          </a:prstGeom>
          <a:solidFill>
            <a:srgbClr val="0A1525"/>
          </a:solidFill>
          <a:ln cap="flat" cmpd="sng" w="12700">
            <a:solidFill>
              <a:srgbClr val="1A305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7"/>
          <p:cNvSpPr/>
          <p:nvPr/>
        </p:nvSpPr>
        <p:spPr>
          <a:xfrm>
            <a:off x="365760" y="3127248"/>
            <a:ext cx="164592" cy="722376"/>
          </a:xfrm>
          <a:prstGeom prst="rect">
            <a:avLst/>
          </a:prstGeom>
          <a:solidFill>
            <a:srgbClr val="1A4A8A"/>
          </a:solidFill>
          <a:ln cap="flat" cmpd="sng" w="12700">
            <a:solidFill>
              <a:srgbClr val="1A4A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7"/>
          <p:cNvSpPr/>
          <p:nvPr/>
        </p:nvSpPr>
        <p:spPr>
          <a:xfrm>
            <a:off x="603504" y="3191256"/>
            <a:ext cx="234086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Calibri"/>
              <a:buNone/>
            </a:pPr>
            <a:r>
              <a:rPr b="1" lang="en-US" sz="1000">
                <a:solidFill>
                  <a:srgbClr val="FFFFFF"/>
                </a:solidFill>
                <a:latin typeface="Calibri"/>
                <a:ea typeface="Calibri"/>
                <a:cs typeface="Calibri"/>
                <a:sym typeface="Calibri"/>
              </a:rPr>
              <a:t>Data Localisation Cascade</a:t>
            </a:r>
            <a:endParaRPr sz="1000">
              <a:solidFill>
                <a:schemeClr val="dk1"/>
              </a:solidFill>
              <a:latin typeface="Calibri"/>
              <a:ea typeface="Calibri"/>
              <a:cs typeface="Calibri"/>
              <a:sym typeface="Calibri"/>
            </a:endParaRPr>
          </a:p>
        </p:txBody>
      </p:sp>
      <p:sp>
        <p:nvSpPr>
          <p:cNvPr id="247" name="Google Shape;247;p7"/>
          <p:cNvSpPr/>
          <p:nvPr/>
        </p:nvSpPr>
        <p:spPr>
          <a:xfrm>
            <a:off x="603504" y="3392424"/>
            <a:ext cx="2340864"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ACCC"/>
              </a:buClr>
              <a:buSzPts val="800"/>
              <a:buFont typeface="Calibri"/>
              <a:buNone/>
            </a:pPr>
            <a:r>
              <a:rPr lang="en-US" sz="800">
                <a:solidFill>
                  <a:srgbClr val="8AACCC"/>
                </a:solidFill>
                <a:latin typeface="Calibri"/>
                <a:ea typeface="Calibri"/>
                <a:cs typeface="Calibri"/>
                <a:sym typeface="Calibri"/>
              </a:rPr>
              <a:t>When one jurisdiction enacts data localisation, trading partners often respond with reciprocal requirements. A company that builds for EU-only localisation today may face 8–12 simultaneous requirements by 2028.</a:t>
            </a:r>
            <a:endParaRPr sz="800">
              <a:solidFill>
                <a:schemeClr val="dk1"/>
              </a:solidFill>
              <a:latin typeface="Calibri"/>
              <a:ea typeface="Calibri"/>
              <a:cs typeface="Calibri"/>
              <a:sym typeface="Calibri"/>
            </a:endParaRPr>
          </a:p>
        </p:txBody>
      </p:sp>
      <p:sp>
        <p:nvSpPr>
          <p:cNvPr id="248" name="Google Shape;248;p7"/>
          <p:cNvSpPr/>
          <p:nvPr/>
        </p:nvSpPr>
        <p:spPr>
          <a:xfrm>
            <a:off x="3090672" y="3218688"/>
            <a:ext cx="27432" cy="530352"/>
          </a:xfrm>
          <a:prstGeom prst="rect">
            <a:avLst/>
          </a:prstGeom>
          <a:solidFill>
            <a:srgbClr val="1A3050"/>
          </a:solidFill>
          <a:ln cap="flat" cmpd="sng" w="12700">
            <a:solidFill>
              <a:srgbClr val="1A305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7"/>
          <p:cNvSpPr/>
          <p:nvPr/>
        </p:nvSpPr>
        <p:spPr>
          <a:xfrm>
            <a:off x="3236976" y="3182112"/>
            <a:ext cx="137160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4A8A"/>
              </a:buClr>
              <a:buSzPts val="900"/>
              <a:buFont typeface="Calibri"/>
              <a:buNone/>
            </a:pPr>
            <a:r>
              <a:rPr b="1" lang="en-US" sz="900">
                <a:solidFill>
                  <a:srgbClr val="1A4A8A"/>
                </a:solidFill>
                <a:latin typeface="Calibri"/>
                <a:ea typeface="Calibri"/>
                <a:cs typeface="Calibri"/>
                <a:sym typeface="Calibri"/>
              </a:rPr>
              <a:t>→  Response:</a:t>
            </a:r>
            <a:endParaRPr sz="900">
              <a:solidFill>
                <a:schemeClr val="dk1"/>
              </a:solidFill>
              <a:latin typeface="Calibri"/>
              <a:ea typeface="Calibri"/>
              <a:cs typeface="Calibri"/>
              <a:sym typeface="Calibri"/>
            </a:endParaRPr>
          </a:p>
        </p:txBody>
      </p:sp>
      <p:sp>
        <p:nvSpPr>
          <p:cNvPr id="250" name="Google Shape;250;p7"/>
          <p:cNvSpPr/>
          <p:nvPr/>
        </p:nvSpPr>
        <p:spPr>
          <a:xfrm>
            <a:off x="3236976" y="3401568"/>
            <a:ext cx="5349240"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ACCDD"/>
              </a:buClr>
              <a:buSzPts val="900"/>
              <a:buFont typeface="Calibri"/>
              <a:buNone/>
            </a:pPr>
            <a:r>
              <a:rPr lang="en-US" sz="900">
                <a:solidFill>
                  <a:srgbClr val="AACCDD"/>
                </a:solidFill>
                <a:latin typeface="Calibri"/>
                <a:ea typeface="Calibri"/>
                <a:cs typeface="Calibri"/>
                <a:sym typeface="Calibri"/>
              </a:rPr>
              <a:t>Build a jurisdiction-agnostic sovereign AI architecture from the outset. Avoid point solutions per country. Design for N jurisdictions, not for the current 2–3.</a:t>
            </a:r>
            <a:endParaRPr sz="900">
              <a:solidFill>
                <a:schemeClr val="dk1"/>
              </a:solidFill>
              <a:latin typeface="Calibri"/>
              <a:ea typeface="Calibri"/>
              <a:cs typeface="Calibri"/>
              <a:sym typeface="Calibri"/>
            </a:endParaRPr>
          </a:p>
        </p:txBody>
      </p:sp>
      <p:sp>
        <p:nvSpPr>
          <p:cNvPr id="251" name="Google Shape;251;p7"/>
          <p:cNvSpPr/>
          <p:nvPr/>
        </p:nvSpPr>
        <p:spPr>
          <a:xfrm>
            <a:off x="365760" y="3922776"/>
            <a:ext cx="8412480" cy="722376"/>
          </a:xfrm>
          <a:prstGeom prst="rect">
            <a:avLst/>
          </a:prstGeom>
          <a:solidFill>
            <a:srgbClr val="0A1525"/>
          </a:solidFill>
          <a:ln cap="flat" cmpd="sng" w="12700">
            <a:solidFill>
              <a:srgbClr val="1A305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7"/>
          <p:cNvSpPr/>
          <p:nvPr/>
        </p:nvSpPr>
        <p:spPr>
          <a:xfrm>
            <a:off x="365760" y="3922776"/>
            <a:ext cx="164592" cy="722376"/>
          </a:xfrm>
          <a:prstGeom prst="rect">
            <a:avLst/>
          </a:prstGeom>
          <a:solidFill>
            <a:srgbClr val="0A7A72"/>
          </a:solidFill>
          <a:ln cap="flat" cmpd="sng" w="12700">
            <a:solidFill>
              <a:srgbClr val="0A7A7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7"/>
          <p:cNvSpPr/>
          <p:nvPr/>
        </p:nvSpPr>
        <p:spPr>
          <a:xfrm>
            <a:off x="603504" y="3986784"/>
            <a:ext cx="2340864"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Calibri"/>
              <a:buNone/>
            </a:pPr>
            <a:r>
              <a:rPr b="1" lang="en-US" sz="1000">
                <a:solidFill>
                  <a:srgbClr val="FFFFFF"/>
                </a:solidFill>
                <a:latin typeface="Calibri"/>
                <a:ea typeface="Calibri"/>
                <a:cs typeface="Calibri"/>
                <a:sym typeface="Calibri"/>
              </a:rPr>
              <a:t>Regulatory Arbitrage Erosion</a:t>
            </a:r>
            <a:endParaRPr sz="1000">
              <a:solidFill>
                <a:schemeClr val="dk1"/>
              </a:solidFill>
              <a:latin typeface="Calibri"/>
              <a:ea typeface="Calibri"/>
              <a:cs typeface="Calibri"/>
              <a:sym typeface="Calibri"/>
            </a:endParaRPr>
          </a:p>
        </p:txBody>
      </p:sp>
      <p:sp>
        <p:nvSpPr>
          <p:cNvPr id="254" name="Google Shape;254;p7"/>
          <p:cNvSpPr/>
          <p:nvPr/>
        </p:nvSpPr>
        <p:spPr>
          <a:xfrm>
            <a:off x="603504" y="4187952"/>
            <a:ext cx="2340864"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ACCC"/>
              </a:buClr>
              <a:buSzPts val="800"/>
              <a:buFont typeface="Calibri"/>
              <a:buNone/>
            </a:pPr>
            <a:r>
              <a:rPr lang="en-US" sz="800">
                <a:solidFill>
                  <a:srgbClr val="8AACCC"/>
                </a:solidFill>
                <a:latin typeface="Calibri"/>
                <a:ea typeface="Calibri"/>
                <a:cs typeface="Calibri"/>
                <a:sym typeface="Calibri"/>
              </a:rPr>
              <a:t>Organisations currently process regulated data in permissive jurisdictions (Delaware, Singapore, Dubai) to avoid stricter national requirements. Extraterritorial enforcement provisions in the EU AI Act and India DPDP are specifically designed to close this gap.</a:t>
            </a:r>
            <a:endParaRPr sz="800">
              <a:solidFill>
                <a:schemeClr val="dk1"/>
              </a:solidFill>
              <a:latin typeface="Calibri"/>
              <a:ea typeface="Calibri"/>
              <a:cs typeface="Calibri"/>
              <a:sym typeface="Calibri"/>
            </a:endParaRPr>
          </a:p>
        </p:txBody>
      </p:sp>
      <p:sp>
        <p:nvSpPr>
          <p:cNvPr id="255" name="Google Shape;255;p7"/>
          <p:cNvSpPr/>
          <p:nvPr/>
        </p:nvSpPr>
        <p:spPr>
          <a:xfrm>
            <a:off x="3090672" y="4014216"/>
            <a:ext cx="27432" cy="530352"/>
          </a:xfrm>
          <a:prstGeom prst="rect">
            <a:avLst/>
          </a:prstGeom>
          <a:solidFill>
            <a:srgbClr val="1A3050"/>
          </a:solidFill>
          <a:ln cap="flat" cmpd="sng" w="12700">
            <a:solidFill>
              <a:srgbClr val="1A305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7"/>
          <p:cNvSpPr/>
          <p:nvPr/>
        </p:nvSpPr>
        <p:spPr>
          <a:xfrm>
            <a:off x="3236976" y="3977640"/>
            <a:ext cx="137160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7A72"/>
              </a:buClr>
              <a:buSzPts val="900"/>
              <a:buFont typeface="Calibri"/>
              <a:buNone/>
            </a:pPr>
            <a:r>
              <a:rPr b="1" lang="en-US" sz="900">
                <a:solidFill>
                  <a:srgbClr val="0A7A72"/>
                </a:solidFill>
                <a:latin typeface="Calibri"/>
                <a:ea typeface="Calibri"/>
                <a:cs typeface="Calibri"/>
                <a:sym typeface="Calibri"/>
              </a:rPr>
              <a:t>→  Response:</a:t>
            </a:r>
            <a:endParaRPr sz="900">
              <a:solidFill>
                <a:schemeClr val="dk1"/>
              </a:solidFill>
              <a:latin typeface="Calibri"/>
              <a:ea typeface="Calibri"/>
              <a:cs typeface="Calibri"/>
              <a:sym typeface="Calibri"/>
            </a:endParaRPr>
          </a:p>
        </p:txBody>
      </p:sp>
      <p:sp>
        <p:nvSpPr>
          <p:cNvPr id="257" name="Google Shape;257;p7"/>
          <p:cNvSpPr/>
          <p:nvPr/>
        </p:nvSpPr>
        <p:spPr>
          <a:xfrm>
            <a:off x="3236976" y="4197096"/>
            <a:ext cx="5349240"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ACCDD"/>
              </a:buClr>
              <a:buSzPts val="900"/>
              <a:buFont typeface="Calibri"/>
              <a:buNone/>
            </a:pPr>
            <a:r>
              <a:rPr lang="en-US" sz="900">
                <a:solidFill>
                  <a:srgbClr val="AACCDD"/>
                </a:solidFill>
                <a:latin typeface="Calibri"/>
                <a:ea typeface="Calibri"/>
                <a:cs typeface="Calibri"/>
                <a:sym typeface="Calibri"/>
              </a:rPr>
              <a:t>Audit all regulatory arbitrage strategies. Assume extraterritorial enforcement will be exercised. Build compliance posture for the strictest market in each operating region.</a:t>
            </a:r>
            <a:endParaRPr sz="900">
              <a:solidFill>
                <a:schemeClr val="dk1"/>
              </a:solidFill>
              <a:latin typeface="Calibri"/>
              <a:ea typeface="Calibri"/>
              <a:cs typeface="Calibri"/>
              <a:sym typeface="Calibri"/>
            </a:endParaRPr>
          </a:p>
        </p:txBody>
      </p:sp>
      <p:sp>
        <p:nvSpPr>
          <p:cNvPr id="258" name="Google Shape;258;p7"/>
          <p:cNvSpPr/>
          <p:nvPr/>
        </p:nvSpPr>
        <p:spPr>
          <a:xfrm>
            <a:off x="0" y="4818888"/>
            <a:ext cx="9144000" cy="324612"/>
          </a:xfrm>
          <a:prstGeom prst="rect">
            <a:avLst/>
          </a:prstGeom>
          <a:solidFill>
            <a:srgbClr val="0B1829"/>
          </a:solidFill>
          <a:ln cap="flat" cmpd="sng" w="12700">
            <a:solidFill>
              <a:srgbClr val="0B182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7"/>
          <p:cNvSpPr/>
          <p:nvPr/>
        </p:nvSpPr>
        <p:spPr>
          <a:xfrm>
            <a:off x="0" y="4826203"/>
            <a:ext cx="9144000" cy="30175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AAAC8"/>
              </a:buClr>
              <a:buSzPts val="850"/>
              <a:buFont typeface="Calibri"/>
              <a:buNone/>
            </a:pPr>
            <a:r>
              <a:rPr lang="en-US" sz="850">
                <a:solidFill>
                  <a:srgbClr val="7AAAC8"/>
                </a:solidFill>
                <a:latin typeface="Calibri"/>
                <a:ea typeface="Calibri"/>
                <a:cs typeface="Calibri"/>
                <a:sym typeface="Calibri"/>
              </a:rPr>
              <a:t>Accredian is a leading Indian institution specializing in AI, Data Science, and Management research and education.  •  Visit us at: </a:t>
            </a:r>
            <a:r>
              <a:rPr lang="en-US" sz="850" u="sng">
                <a:solidFill>
                  <a:srgbClr val="7AAAC8"/>
                </a:solidFill>
                <a:latin typeface="Calibri"/>
                <a:ea typeface="Calibri"/>
                <a:cs typeface="Calibri"/>
                <a:sym typeface="Calibri"/>
                <a:hlinkClick r:id="rId3">
                  <a:extLst>
                    <a:ext uri="{A12FA001-AC4F-418D-AE19-62706E023703}">
                      <ahyp:hlinkClr val="tx"/>
                    </a:ext>
                  </a:extLst>
                </a:hlinkClick>
              </a:rPr>
              <a:t>https://accredian.com</a:t>
            </a:r>
            <a:endParaRPr sz="85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C"/>
        </a:solidFill>
      </p:bgPr>
    </p:bg>
    <p:spTree>
      <p:nvGrpSpPr>
        <p:cNvPr id="264" name="Shape 264"/>
        <p:cNvGrpSpPr/>
        <p:nvPr/>
      </p:nvGrpSpPr>
      <p:grpSpPr>
        <a:xfrm>
          <a:off x="0" y="0"/>
          <a:ext cx="0" cy="0"/>
          <a:chOff x="0" y="0"/>
          <a:chExt cx="0" cy="0"/>
        </a:xfrm>
      </p:grpSpPr>
      <p:sp>
        <p:nvSpPr>
          <p:cNvPr id="265" name="Google Shape;265;p8"/>
          <p:cNvSpPr/>
          <p:nvPr/>
        </p:nvSpPr>
        <p:spPr>
          <a:xfrm>
            <a:off x="0" y="0"/>
            <a:ext cx="9144000" cy="73152"/>
          </a:xfrm>
          <a:prstGeom prst="rect">
            <a:avLst/>
          </a:prstGeom>
          <a:solidFill>
            <a:srgbClr val="1A4A8A"/>
          </a:solidFill>
          <a:ln cap="flat" cmpd="sng" w="12700">
            <a:solidFill>
              <a:srgbClr val="1A4A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8"/>
          <p:cNvSpPr/>
          <p:nvPr/>
        </p:nvSpPr>
        <p:spPr>
          <a:xfrm>
            <a:off x="365760" y="155448"/>
            <a:ext cx="1920240" cy="246888"/>
          </a:xfrm>
          <a:prstGeom prst="rect">
            <a:avLst/>
          </a:prstGeom>
          <a:solidFill>
            <a:srgbClr val="1A4A8A"/>
          </a:solidFill>
          <a:ln cap="flat" cmpd="sng" w="12700">
            <a:solidFill>
              <a:srgbClr val="1A4A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8"/>
          <p:cNvSpPr/>
          <p:nvPr/>
        </p:nvSpPr>
        <p:spPr>
          <a:xfrm>
            <a:off x="365760" y="155448"/>
            <a:ext cx="1920240"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alibri"/>
              <a:buNone/>
            </a:pPr>
            <a:r>
              <a:rPr b="1" lang="en-US" sz="850">
                <a:solidFill>
                  <a:srgbClr val="FFFFFF"/>
                </a:solidFill>
                <a:latin typeface="Calibri"/>
                <a:ea typeface="Calibri"/>
                <a:cs typeface="Calibri"/>
                <a:sym typeface="Calibri"/>
              </a:rPr>
              <a:t>SLIDE 07 OF 07</a:t>
            </a:r>
            <a:endParaRPr sz="850">
              <a:solidFill>
                <a:schemeClr val="dk1"/>
              </a:solidFill>
              <a:latin typeface="Calibri"/>
              <a:ea typeface="Calibri"/>
              <a:cs typeface="Calibri"/>
              <a:sym typeface="Calibri"/>
            </a:endParaRPr>
          </a:p>
        </p:txBody>
      </p:sp>
      <p:sp>
        <p:nvSpPr>
          <p:cNvPr id="268" name="Google Shape;268;p8"/>
          <p:cNvSpPr/>
          <p:nvPr/>
        </p:nvSpPr>
        <p:spPr>
          <a:xfrm>
            <a:off x="365760" y="493776"/>
            <a:ext cx="84124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829"/>
              </a:buClr>
              <a:buSzPts val="2400"/>
              <a:buFont typeface="Georgia"/>
              <a:buNone/>
            </a:pPr>
            <a:r>
              <a:rPr b="1" lang="en-US" sz="2400">
                <a:solidFill>
                  <a:srgbClr val="0B1829"/>
                </a:solidFill>
                <a:latin typeface="Georgia"/>
                <a:ea typeface="Georgia"/>
                <a:cs typeface="Georgia"/>
                <a:sym typeface="Georgia"/>
              </a:rPr>
              <a:t>Your Sovereign AI Implementation Roadmap</a:t>
            </a:r>
            <a:endParaRPr sz="2400">
              <a:solidFill>
                <a:schemeClr val="dk1"/>
              </a:solidFill>
              <a:latin typeface="Calibri"/>
              <a:ea typeface="Calibri"/>
              <a:cs typeface="Calibri"/>
              <a:sym typeface="Calibri"/>
            </a:endParaRPr>
          </a:p>
        </p:txBody>
      </p:sp>
      <p:sp>
        <p:nvSpPr>
          <p:cNvPr id="269" name="Google Shape;269;p8"/>
          <p:cNvSpPr/>
          <p:nvPr/>
        </p:nvSpPr>
        <p:spPr>
          <a:xfrm>
            <a:off x="365760" y="1024128"/>
            <a:ext cx="84124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34155"/>
              </a:buClr>
              <a:buSzPts val="1250"/>
              <a:buFont typeface="Calibri"/>
              <a:buNone/>
            </a:pPr>
            <a:r>
              <a:rPr i="1" lang="en-US" sz="1250">
                <a:solidFill>
                  <a:srgbClr val="334155"/>
                </a:solidFill>
                <a:latin typeface="Calibri"/>
                <a:ea typeface="Calibri"/>
                <a:cs typeface="Calibri"/>
                <a:sym typeface="Calibri"/>
              </a:rPr>
              <a:t>A phased approach maps the critical path from current exposure to sovereign-ready architecture before the 2026 regulatory cliff.</a:t>
            </a:r>
            <a:endParaRPr sz="1250">
              <a:solidFill>
                <a:schemeClr val="dk1"/>
              </a:solidFill>
              <a:latin typeface="Calibri"/>
              <a:ea typeface="Calibri"/>
              <a:cs typeface="Calibri"/>
              <a:sym typeface="Calibri"/>
            </a:endParaRPr>
          </a:p>
        </p:txBody>
      </p:sp>
      <p:sp>
        <p:nvSpPr>
          <p:cNvPr id="270" name="Google Shape;270;p8"/>
          <p:cNvSpPr/>
          <p:nvPr/>
        </p:nvSpPr>
        <p:spPr>
          <a:xfrm>
            <a:off x="347472" y="1389888"/>
            <a:ext cx="2048256" cy="3273552"/>
          </a:xfrm>
          <a:prstGeom prst="rect">
            <a:avLst/>
          </a:prstGeom>
          <a:solidFill>
            <a:srgbClr val="FFFFFF"/>
          </a:solidFill>
          <a:ln cap="flat" cmpd="sng" w="12700">
            <a:solidFill>
              <a:srgbClr val="C8D5E4"/>
            </a:solidFill>
            <a:prstDash val="solid"/>
            <a:round/>
            <a:headEnd len="sm" w="sm" type="none"/>
            <a:tailEnd len="sm" w="sm" type="none"/>
          </a:ln>
          <a:effectLst>
            <a:outerShdw blurRad="152400" rotWithShape="0" algn="bl" dir="8100000" dist="381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8"/>
          <p:cNvSpPr/>
          <p:nvPr/>
        </p:nvSpPr>
        <p:spPr>
          <a:xfrm>
            <a:off x="347472" y="1389888"/>
            <a:ext cx="2048256" cy="475488"/>
          </a:xfrm>
          <a:prstGeom prst="rect">
            <a:avLst/>
          </a:prstGeom>
          <a:solidFill>
            <a:srgbClr val="1A4A8A"/>
          </a:solidFill>
          <a:ln cap="flat" cmpd="sng" w="12700">
            <a:solidFill>
              <a:srgbClr val="1A4A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8"/>
          <p:cNvSpPr/>
          <p:nvPr/>
        </p:nvSpPr>
        <p:spPr>
          <a:xfrm>
            <a:off x="457200" y="1417320"/>
            <a:ext cx="182880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50"/>
              <a:buFont typeface="Calibri"/>
              <a:buNone/>
            </a:pPr>
            <a:r>
              <a:rPr b="1" lang="en-US" sz="950">
                <a:solidFill>
                  <a:srgbClr val="FFFFFF"/>
                </a:solidFill>
                <a:latin typeface="Calibri"/>
                <a:ea typeface="Calibri"/>
                <a:cs typeface="Calibri"/>
                <a:sym typeface="Calibri"/>
              </a:rPr>
              <a:t>Phase 1</a:t>
            </a:r>
            <a:endParaRPr sz="950">
              <a:solidFill>
                <a:schemeClr val="dk1"/>
              </a:solidFill>
              <a:latin typeface="Calibri"/>
              <a:ea typeface="Calibri"/>
              <a:cs typeface="Calibri"/>
              <a:sym typeface="Calibri"/>
            </a:endParaRPr>
          </a:p>
        </p:txBody>
      </p:sp>
      <p:sp>
        <p:nvSpPr>
          <p:cNvPr id="273" name="Google Shape;273;p8"/>
          <p:cNvSpPr/>
          <p:nvPr/>
        </p:nvSpPr>
        <p:spPr>
          <a:xfrm>
            <a:off x="457200" y="1591056"/>
            <a:ext cx="182880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DEEFF"/>
              </a:buClr>
              <a:buSzPts val="900"/>
              <a:buFont typeface="Calibri"/>
              <a:buNone/>
            </a:pPr>
            <a:r>
              <a:rPr lang="en-US" sz="900">
                <a:solidFill>
                  <a:srgbClr val="DDEEFF"/>
                </a:solidFill>
                <a:latin typeface="Calibri"/>
                <a:ea typeface="Calibri"/>
                <a:cs typeface="Calibri"/>
                <a:sym typeface="Calibri"/>
              </a:rPr>
              <a:t>Month 1–2</a:t>
            </a:r>
            <a:endParaRPr sz="900">
              <a:solidFill>
                <a:schemeClr val="dk1"/>
              </a:solidFill>
              <a:latin typeface="Calibri"/>
              <a:ea typeface="Calibri"/>
              <a:cs typeface="Calibri"/>
              <a:sym typeface="Calibri"/>
            </a:endParaRPr>
          </a:p>
        </p:txBody>
      </p:sp>
      <p:sp>
        <p:nvSpPr>
          <p:cNvPr id="274" name="Google Shape;274;p8"/>
          <p:cNvSpPr/>
          <p:nvPr/>
        </p:nvSpPr>
        <p:spPr>
          <a:xfrm>
            <a:off x="457200" y="1956816"/>
            <a:ext cx="18288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829"/>
              </a:buClr>
              <a:buSzPts val="1300"/>
              <a:buFont typeface="Georgia"/>
              <a:buNone/>
            </a:pPr>
            <a:r>
              <a:rPr b="1" lang="en-US" sz="1300">
                <a:solidFill>
                  <a:srgbClr val="0B1829"/>
                </a:solidFill>
                <a:latin typeface="Georgia"/>
                <a:ea typeface="Georgia"/>
                <a:cs typeface="Georgia"/>
                <a:sym typeface="Georgia"/>
              </a:rPr>
              <a:t>Sovereignty Audit</a:t>
            </a:r>
            <a:endParaRPr sz="1300">
              <a:solidFill>
                <a:schemeClr val="dk1"/>
              </a:solidFill>
              <a:latin typeface="Calibri"/>
              <a:ea typeface="Calibri"/>
              <a:cs typeface="Calibri"/>
              <a:sym typeface="Calibri"/>
            </a:endParaRPr>
          </a:p>
        </p:txBody>
      </p:sp>
      <p:sp>
        <p:nvSpPr>
          <p:cNvPr id="275" name="Google Shape;275;p8"/>
          <p:cNvSpPr/>
          <p:nvPr/>
        </p:nvSpPr>
        <p:spPr>
          <a:xfrm>
            <a:off x="457200" y="2249424"/>
            <a:ext cx="1828800" cy="27432"/>
          </a:xfrm>
          <a:prstGeom prst="rect">
            <a:avLst/>
          </a:prstGeom>
          <a:solidFill>
            <a:srgbClr val="1A4A8A"/>
          </a:solidFill>
          <a:ln cap="flat" cmpd="sng" w="12700">
            <a:solidFill>
              <a:srgbClr val="1A4A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8"/>
          <p:cNvSpPr/>
          <p:nvPr/>
        </p:nvSpPr>
        <p:spPr>
          <a:xfrm>
            <a:off x="475488" y="2432304"/>
            <a:ext cx="164592" cy="164592"/>
          </a:xfrm>
          <a:prstGeom prst="ellipse">
            <a:avLst/>
          </a:prstGeom>
          <a:solidFill>
            <a:srgbClr val="1A4A8A"/>
          </a:solidFill>
          <a:ln cap="flat" cmpd="sng" w="12700">
            <a:solidFill>
              <a:srgbClr val="1A4A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8"/>
          <p:cNvSpPr/>
          <p:nvPr/>
        </p:nvSpPr>
        <p:spPr>
          <a:xfrm>
            <a:off x="475488" y="2432304"/>
            <a:ext cx="164592" cy="1645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1" lang="en-US" sz="800">
                <a:solidFill>
                  <a:srgbClr val="FFFFFF"/>
                </a:solidFill>
                <a:latin typeface="Calibri"/>
                <a:ea typeface="Calibri"/>
                <a:cs typeface="Calibri"/>
                <a:sym typeface="Calibri"/>
              </a:rPr>
              <a:t>1</a:t>
            </a:r>
            <a:endParaRPr sz="800">
              <a:solidFill>
                <a:schemeClr val="dk1"/>
              </a:solidFill>
              <a:latin typeface="Calibri"/>
              <a:ea typeface="Calibri"/>
              <a:cs typeface="Calibri"/>
              <a:sym typeface="Calibri"/>
            </a:endParaRPr>
          </a:p>
        </p:txBody>
      </p:sp>
      <p:sp>
        <p:nvSpPr>
          <p:cNvPr id="278" name="Google Shape;278;p8"/>
          <p:cNvSpPr/>
          <p:nvPr/>
        </p:nvSpPr>
        <p:spPr>
          <a:xfrm>
            <a:off x="694944" y="2414016"/>
            <a:ext cx="1609344" cy="47548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34155"/>
              </a:buClr>
              <a:buSzPts val="950"/>
              <a:buFont typeface="Calibri"/>
              <a:buNone/>
            </a:pPr>
            <a:r>
              <a:rPr lang="en-US" sz="950">
                <a:solidFill>
                  <a:srgbClr val="334155"/>
                </a:solidFill>
                <a:latin typeface="Calibri"/>
                <a:ea typeface="Calibri"/>
                <a:cs typeface="Calibri"/>
                <a:sym typeface="Calibri"/>
              </a:rPr>
              <a:t>Map every AI workload to its jurisdictional data classification</a:t>
            </a:r>
            <a:endParaRPr sz="950">
              <a:solidFill>
                <a:schemeClr val="dk1"/>
              </a:solidFill>
              <a:latin typeface="Calibri"/>
              <a:ea typeface="Calibri"/>
              <a:cs typeface="Calibri"/>
              <a:sym typeface="Calibri"/>
            </a:endParaRPr>
          </a:p>
        </p:txBody>
      </p:sp>
      <p:sp>
        <p:nvSpPr>
          <p:cNvPr id="279" name="Google Shape;279;p8"/>
          <p:cNvSpPr/>
          <p:nvPr/>
        </p:nvSpPr>
        <p:spPr>
          <a:xfrm>
            <a:off x="475488" y="2999232"/>
            <a:ext cx="164592" cy="164592"/>
          </a:xfrm>
          <a:prstGeom prst="ellipse">
            <a:avLst/>
          </a:prstGeom>
          <a:solidFill>
            <a:srgbClr val="1A4A8A"/>
          </a:solidFill>
          <a:ln cap="flat" cmpd="sng" w="12700">
            <a:solidFill>
              <a:srgbClr val="1A4A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8"/>
          <p:cNvSpPr/>
          <p:nvPr/>
        </p:nvSpPr>
        <p:spPr>
          <a:xfrm>
            <a:off x="475488" y="2999232"/>
            <a:ext cx="164592" cy="1645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1" lang="en-US" sz="800">
                <a:solidFill>
                  <a:srgbClr val="FFFFFF"/>
                </a:solidFill>
                <a:latin typeface="Calibri"/>
                <a:ea typeface="Calibri"/>
                <a:cs typeface="Calibri"/>
                <a:sym typeface="Calibri"/>
              </a:rPr>
              <a:t>2</a:t>
            </a:r>
            <a:endParaRPr sz="800">
              <a:solidFill>
                <a:schemeClr val="dk1"/>
              </a:solidFill>
              <a:latin typeface="Calibri"/>
              <a:ea typeface="Calibri"/>
              <a:cs typeface="Calibri"/>
              <a:sym typeface="Calibri"/>
            </a:endParaRPr>
          </a:p>
        </p:txBody>
      </p:sp>
      <p:sp>
        <p:nvSpPr>
          <p:cNvPr id="281" name="Google Shape;281;p8"/>
          <p:cNvSpPr/>
          <p:nvPr/>
        </p:nvSpPr>
        <p:spPr>
          <a:xfrm>
            <a:off x="694944" y="2980944"/>
            <a:ext cx="1609344" cy="47548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34155"/>
              </a:buClr>
              <a:buSzPts val="950"/>
              <a:buFont typeface="Calibri"/>
              <a:buNone/>
            </a:pPr>
            <a:r>
              <a:rPr lang="en-US" sz="950">
                <a:solidFill>
                  <a:srgbClr val="334155"/>
                </a:solidFill>
                <a:latin typeface="Calibri"/>
                <a:ea typeface="Calibri"/>
                <a:cs typeface="Calibri"/>
                <a:sym typeface="Calibri"/>
              </a:rPr>
              <a:t>Identify all cross-border data flows in training and inference pipelines</a:t>
            </a:r>
            <a:endParaRPr sz="950">
              <a:solidFill>
                <a:schemeClr val="dk1"/>
              </a:solidFill>
              <a:latin typeface="Calibri"/>
              <a:ea typeface="Calibri"/>
              <a:cs typeface="Calibri"/>
              <a:sym typeface="Calibri"/>
            </a:endParaRPr>
          </a:p>
        </p:txBody>
      </p:sp>
      <p:sp>
        <p:nvSpPr>
          <p:cNvPr id="282" name="Google Shape;282;p8"/>
          <p:cNvSpPr/>
          <p:nvPr/>
        </p:nvSpPr>
        <p:spPr>
          <a:xfrm>
            <a:off x="475488" y="3566160"/>
            <a:ext cx="164592" cy="164592"/>
          </a:xfrm>
          <a:prstGeom prst="ellipse">
            <a:avLst/>
          </a:prstGeom>
          <a:solidFill>
            <a:srgbClr val="1A4A8A"/>
          </a:solidFill>
          <a:ln cap="flat" cmpd="sng" w="12700">
            <a:solidFill>
              <a:srgbClr val="1A4A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8"/>
          <p:cNvSpPr/>
          <p:nvPr/>
        </p:nvSpPr>
        <p:spPr>
          <a:xfrm>
            <a:off x="475488" y="3566160"/>
            <a:ext cx="164592" cy="1645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1" lang="en-US" sz="800">
                <a:solidFill>
                  <a:srgbClr val="FFFFFF"/>
                </a:solidFill>
                <a:latin typeface="Calibri"/>
                <a:ea typeface="Calibri"/>
                <a:cs typeface="Calibri"/>
                <a:sym typeface="Calibri"/>
              </a:rPr>
              <a:t>3</a:t>
            </a:r>
            <a:endParaRPr sz="800">
              <a:solidFill>
                <a:schemeClr val="dk1"/>
              </a:solidFill>
              <a:latin typeface="Calibri"/>
              <a:ea typeface="Calibri"/>
              <a:cs typeface="Calibri"/>
              <a:sym typeface="Calibri"/>
            </a:endParaRPr>
          </a:p>
        </p:txBody>
      </p:sp>
      <p:sp>
        <p:nvSpPr>
          <p:cNvPr id="284" name="Google Shape;284;p8"/>
          <p:cNvSpPr/>
          <p:nvPr/>
        </p:nvSpPr>
        <p:spPr>
          <a:xfrm>
            <a:off x="694944" y="3547872"/>
            <a:ext cx="1609344" cy="47548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34155"/>
              </a:buClr>
              <a:buSzPts val="950"/>
              <a:buFont typeface="Calibri"/>
              <a:buNone/>
            </a:pPr>
            <a:r>
              <a:rPr lang="en-US" sz="950">
                <a:solidFill>
                  <a:srgbClr val="334155"/>
                </a:solidFill>
                <a:latin typeface="Calibri"/>
                <a:ea typeface="Calibri"/>
                <a:cs typeface="Calibri"/>
                <a:sym typeface="Calibri"/>
              </a:rPr>
              <a:t>Flag the top 5 compliance exposure points by market and regulation</a:t>
            </a:r>
            <a:endParaRPr sz="950">
              <a:solidFill>
                <a:schemeClr val="dk1"/>
              </a:solidFill>
              <a:latin typeface="Calibri"/>
              <a:ea typeface="Calibri"/>
              <a:cs typeface="Calibri"/>
              <a:sym typeface="Calibri"/>
            </a:endParaRPr>
          </a:p>
        </p:txBody>
      </p:sp>
      <p:sp>
        <p:nvSpPr>
          <p:cNvPr id="285" name="Google Shape;285;p8"/>
          <p:cNvSpPr/>
          <p:nvPr/>
        </p:nvSpPr>
        <p:spPr>
          <a:xfrm>
            <a:off x="475488" y="4133088"/>
            <a:ext cx="164592" cy="164592"/>
          </a:xfrm>
          <a:prstGeom prst="ellipse">
            <a:avLst/>
          </a:prstGeom>
          <a:solidFill>
            <a:srgbClr val="1A4A8A"/>
          </a:solidFill>
          <a:ln cap="flat" cmpd="sng" w="12700">
            <a:solidFill>
              <a:srgbClr val="1A4A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8"/>
          <p:cNvSpPr/>
          <p:nvPr/>
        </p:nvSpPr>
        <p:spPr>
          <a:xfrm>
            <a:off x="475488" y="4133088"/>
            <a:ext cx="164592" cy="1645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1" lang="en-US" sz="800">
                <a:solidFill>
                  <a:srgbClr val="FFFFFF"/>
                </a:solidFill>
                <a:latin typeface="Calibri"/>
                <a:ea typeface="Calibri"/>
                <a:cs typeface="Calibri"/>
                <a:sym typeface="Calibri"/>
              </a:rPr>
              <a:t>4</a:t>
            </a:r>
            <a:endParaRPr sz="800">
              <a:solidFill>
                <a:schemeClr val="dk1"/>
              </a:solidFill>
              <a:latin typeface="Calibri"/>
              <a:ea typeface="Calibri"/>
              <a:cs typeface="Calibri"/>
              <a:sym typeface="Calibri"/>
            </a:endParaRPr>
          </a:p>
        </p:txBody>
      </p:sp>
      <p:sp>
        <p:nvSpPr>
          <p:cNvPr id="287" name="Google Shape;287;p8"/>
          <p:cNvSpPr/>
          <p:nvPr/>
        </p:nvSpPr>
        <p:spPr>
          <a:xfrm>
            <a:off x="694944" y="4114800"/>
            <a:ext cx="1609344" cy="47548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34155"/>
              </a:buClr>
              <a:buSzPts val="950"/>
              <a:buFont typeface="Calibri"/>
              <a:buNone/>
            </a:pPr>
            <a:r>
              <a:rPr lang="en-US" sz="950">
                <a:solidFill>
                  <a:srgbClr val="334155"/>
                </a:solidFill>
                <a:latin typeface="Calibri"/>
                <a:ea typeface="Calibri"/>
                <a:cs typeface="Calibri"/>
                <a:sym typeface="Calibri"/>
              </a:rPr>
              <a:t>Assess current cloud provider contracts for sovereign coverage gaps</a:t>
            </a:r>
            <a:endParaRPr sz="950">
              <a:solidFill>
                <a:schemeClr val="dk1"/>
              </a:solidFill>
              <a:latin typeface="Calibri"/>
              <a:ea typeface="Calibri"/>
              <a:cs typeface="Calibri"/>
              <a:sym typeface="Calibri"/>
            </a:endParaRPr>
          </a:p>
        </p:txBody>
      </p:sp>
      <p:sp>
        <p:nvSpPr>
          <p:cNvPr id="288" name="Google Shape;288;p8"/>
          <p:cNvSpPr/>
          <p:nvPr/>
        </p:nvSpPr>
        <p:spPr>
          <a:xfrm>
            <a:off x="2496312" y="1389888"/>
            <a:ext cx="2048256" cy="3273552"/>
          </a:xfrm>
          <a:prstGeom prst="rect">
            <a:avLst/>
          </a:prstGeom>
          <a:solidFill>
            <a:srgbClr val="FFFFFF"/>
          </a:solidFill>
          <a:ln cap="flat" cmpd="sng" w="12700">
            <a:solidFill>
              <a:srgbClr val="C8D5E4"/>
            </a:solidFill>
            <a:prstDash val="solid"/>
            <a:round/>
            <a:headEnd len="sm" w="sm" type="none"/>
            <a:tailEnd len="sm" w="sm" type="none"/>
          </a:ln>
          <a:effectLst>
            <a:outerShdw blurRad="152400" rotWithShape="0" algn="bl" dir="8100000" dist="381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8"/>
          <p:cNvSpPr/>
          <p:nvPr/>
        </p:nvSpPr>
        <p:spPr>
          <a:xfrm>
            <a:off x="2496312" y="1389888"/>
            <a:ext cx="2048256" cy="475488"/>
          </a:xfrm>
          <a:prstGeom prst="rect">
            <a:avLst/>
          </a:prstGeom>
          <a:solidFill>
            <a:srgbClr val="0A7A72"/>
          </a:solidFill>
          <a:ln cap="flat" cmpd="sng" w="12700">
            <a:solidFill>
              <a:srgbClr val="0A7A7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8"/>
          <p:cNvSpPr/>
          <p:nvPr/>
        </p:nvSpPr>
        <p:spPr>
          <a:xfrm>
            <a:off x="2606040" y="1417320"/>
            <a:ext cx="182880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50"/>
              <a:buFont typeface="Calibri"/>
              <a:buNone/>
            </a:pPr>
            <a:r>
              <a:rPr b="1" lang="en-US" sz="950">
                <a:solidFill>
                  <a:srgbClr val="FFFFFF"/>
                </a:solidFill>
                <a:latin typeface="Calibri"/>
                <a:ea typeface="Calibri"/>
                <a:cs typeface="Calibri"/>
                <a:sym typeface="Calibri"/>
              </a:rPr>
              <a:t>Phase 2</a:t>
            </a:r>
            <a:endParaRPr sz="950">
              <a:solidFill>
                <a:schemeClr val="dk1"/>
              </a:solidFill>
              <a:latin typeface="Calibri"/>
              <a:ea typeface="Calibri"/>
              <a:cs typeface="Calibri"/>
              <a:sym typeface="Calibri"/>
            </a:endParaRPr>
          </a:p>
        </p:txBody>
      </p:sp>
      <p:sp>
        <p:nvSpPr>
          <p:cNvPr id="291" name="Google Shape;291;p8"/>
          <p:cNvSpPr/>
          <p:nvPr/>
        </p:nvSpPr>
        <p:spPr>
          <a:xfrm>
            <a:off x="2606040" y="1591056"/>
            <a:ext cx="182880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DEEFF"/>
              </a:buClr>
              <a:buSzPts val="900"/>
              <a:buFont typeface="Calibri"/>
              <a:buNone/>
            </a:pPr>
            <a:r>
              <a:rPr lang="en-US" sz="900">
                <a:solidFill>
                  <a:srgbClr val="DDEEFF"/>
                </a:solidFill>
                <a:latin typeface="Calibri"/>
                <a:ea typeface="Calibri"/>
                <a:cs typeface="Calibri"/>
                <a:sym typeface="Calibri"/>
              </a:rPr>
              <a:t>Month 3–4</a:t>
            </a:r>
            <a:endParaRPr sz="900">
              <a:solidFill>
                <a:schemeClr val="dk1"/>
              </a:solidFill>
              <a:latin typeface="Calibri"/>
              <a:ea typeface="Calibri"/>
              <a:cs typeface="Calibri"/>
              <a:sym typeface="Calibri"/>
            </a:endParaRPr>
          </a:p>
        </p:txBody>
      </p:sp>
      <p:sp>
        <p:nvSpPr>
          <p:cNvPr id="292" name="Google Shape;292;p8"/>
          <p:cNvSpPr/>
          <p:nvPr/>
        </p:nvSpPr>
        <p:spPr>
          <a:xfrm>
            <a:off x="2606040" y="1956816"/>
            <a:ext cx="18288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829"/>
              </a:buClr>
              <a:buSzPts val="1300"/>
              <a:buFont typeface="Georgia"/>
              <a:buNone/>
            </a:pPr>
            <a:r>
              <a:rPr b="1" lang="en-US" sz="1300">
                <a:solidFill>
                  <a:srgbClr val="0B1829"/>
                </a:solidFill>
                <a:latin typeface="Georgia"/>
                <a:ea typeface="Georgia"/>
                <a:cs typeface="Georgia"/>
                <a:sym typeface="Georgia"/>
              </a:rPr>
              <a:t>Architecture Design</a:t>
            </a:r>
            <a:endParaRPr sz="1300">
              <a:solidFill>
                <a:schemeClr val="dk1"/>
              </a:solidFill>
              <a:latin typeface="Calibri"/>
              <a:ea typeface="Calibri"/>
              <a:cs typeface="Calibri"/>
              <a:sym typeface="Calibri"/>
            </a:endParaRPr>
          </a:p>
        </p:txBody>
      </p:sp>
      <p:sp>
        <p:nvSpPr>
          <p:cNvPr id="293" name="Google Shape;293;p8"/>
          <p:cNvSpPr/>
          <p:nvPr/>
        </p:nvSpPr>
        <p:spPr>
          <a:xfrm>
            <a:off x="2606040" y="2249424"/>
            <a:ext cx="1828800" cy="27432"/>
          </a:xfrm>
          <a:prstGeom prst="rect">
            <a:avLst/>
          </a:prstGeom>
          <a:solidFill>
            <a:srgbClr val="0A7A72"/>
          </a:solidFill>
          <a:ln cap="flat" cmpd="sng" w="12700">
            <a:solidFill>
              <a:srgbClr val="0A7A7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8"/>
          <p:cNvSpPr/>
          <p:nvPr/>
        </p:nvSpPr>
        <p:spPr>
          <a:xfrm>
            <a:off x="2624328" y="2432304"/>
            <a:ext cx="164592" cy="164592"/>
          </a:xfrm>
          <a:prstGeom prst="ellipse">
            <a:avLst/>
          </a:prstGeom>
          <a:solidFill>
            <a:srgbClr val="0A7A72"/>
          </a:solidFill>
          <a:ln cap="flat" cmpd="sng" w="12700">
            <a:solidFill>
              <a:srgbClr val="0A7A7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8"/>
          <p:cNvSpPr/>
          <p:nvPr/>
        </p:nvSpPr>
        <p:spPr>
          <a:xfrm>
            <a:off x="2624328" y="2432304"/>
            <a:ext cx="164592" cy="1645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1" lang="en-US" sz="800">
                <a:solidFill>
                  <a:srgbClr val="FFFFFF"/>
                </a:solidFill>
                <a:latin typeface="Calibri"/>
                <a:ea typeface="Calibri"/>
                <a:cs typeface="Calibri"/>
                <a:sym typeface="Calibri"/>
              </a:rPr>
              <a:t>1</a:t>
            </a:r>
            <a:endParaRPr sz="800">
              <a:solidFill>
                <a:schemeClr val="dk1"/>
              </a:solidFill>
              <a:latin typeface="Calibri"/>
              <a:ea typeface="Calibri"/>
              <a:cs typeface="Calibri"/>
              <a:sym typeface="Calibri"/>
            </a:endParaRPr>
          </a:p>
        </p:txBody>
      </p:sp>
      <p:sp>
        <p:nvSpPr>
          <p:cNvPr id="296" name="Google Shape;296;p8"/>
          <p:cNvSpPr/>
          <p:nvPr/>
        </p:nvSpPr>
        <p:spPr>
          <a:xfrm>
            <a:off x="2843784" y="2414016"/>
            <a:ext cx="1609344" cy="47548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34155"/>
              </a:buClr>
              <a:buSzPts val="950"/>
              <a:buFont typeface="Calibri"/>
              <a:buNone/>
            </a:pPr>
            <a:r>
              <a:rPr lang="en-US" sz="950">
                <a:solidFill>
                  <a:srgbClr val="334155"/>
                </a:solidFill>
                <a:latin typeface="Calibri"/>
                <a:ea typeface="Calibri"/>
                <a:cs typeface="Calibri"/>
                <a:sym typeface="Calibri"/>
              </a:rPr>
              <a:t>Design jurisdiction-specific sovereign AI stack for each priority market</a:t>
            </a:r>
            <a:endParaRPr sz="950">
              <a:solidFill>
                <a:schemeClr val="dk1"/>
              </a:solidFill>
              <a:latin typeface="Calibri"/>
              <a:ea typeface="Calibri"/>
              <a:cs typeface="Calibri"/>
              <a:sym typeface="Calibri"/>
            </a:endParaRPr>
          </a:p>
        </p:txBody>
      </p:sp>
      <p:sp>
        <p:nvSpPr>
          <p:cNvPr id="297" name="Google Shape;297;p8"/>
          <p:cNvSpPr/>
          <p:nvPr/>
        </p:nvSpPr>
        <p:spPr>
          <a:xfrm>
            <a:off x="2624328" y="2999232"/>
            <a:ext cx="164592" cy="164592"/>
          </a:xfrm>
          <a:prstGeom prst="ellipse">
            <a:avLst/>
          </a:prstGeom>
          <a:solidFill>
            <a:srgbClr val="0A7A72"/>
          </a:solidFill>
          <a:ln cap="flat" cmpd="sng" w="12700">
            <a:solidFill>
              <a:srgbClr val="0A7A7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8"/>
          <p:cNvSpPr/>
          <p:nvPr/>
        </p:nvSpPr>
        <p:spPr>
          <a:xfrm>
            <a:off x="2624328" y="2999232"/>
            <a:ext cx="164592" cy="1645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1" lang="en-US" sz="800">
                <a:solidFill>
                  <a:srgbClr val="FFFFFF"/>
                </a:solidFill>
                <a:latin typeface="Calibri"/>
                <a:ea typeface="Calibri"/>
                <a:cs typeface="Calibri"/>
                <a:sym typeface="Calibri"/>
              </a:rPr>
              <a:t>2</a:t>
            </a:r>
            <a:endParaRPr sz="800">
              <a:solidFill>
                <a:schemeClr val="dk1"/>
              </a:solidFill>
              <a:latin typeface="Calibri"/>
              <a:ea typeface="Calibri"/>
              <a:cs typeface="Calibri"/>
              <a:sym typeface="Calibri"/>
            </a:endParaRPr>
          </a:p>
        </p:txBody>
      </p:sp>
      <p:sp>
        <p:nvSpPr>
          <p:cNvPr id="299" name="Google Shape;299;p8"/>
          <p:cNvSpPr/>
          <p:nvPr/>
        </p:nvSpPr>
        <p:spPr>
          <a:xfrm>
            <a:off x="2843784" y="2980944"/>
            <a:ext cx="1609344" cy="47548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34155"/>
              </a:buClr>
              <a:buSzPts val="950"/>
              <a:buFont typeface="Calibri"/>
              <a:buNone/>
            </a:pPr>
            <a:r>
              <a:rPr lang="en-US" sz="950">
                <a:solidFill>
                  <a:srgbClr val="334155"/>
                </a:solidFill>
                <a:latin typeface="Calibri"/>
                <a:ea typeface="Calibri"/>
                <a:cs typeface="Calibri"/>
                <a:sym typeface="Calibri"/>
              </a:rPr>
              <a:t>Select compute: hyperscaler sovereign regions vs. NeoCloud vs. on-prem</a:t>
            </a:r>
            <a:endParaRPr sz="950">
              <a:solidFill>
                <a:schemeClr val="dk1"/>
              </a:solidFill>
              <a:latin typeface="Calibri"/>
              <a:ea typeface="Calibri"/>
              <a:cs typeface="Calibri"/>
              <a:sym typeface="Calibri"/>
            </a:endParaRPr>
          </a:p>
        </p:txBody>
      </p:sp>
      <p:sp>
        <p:nvSpPr>
          <p:cNvPr id="300" name="Google Shape;300;p8"/>
          <p:cNvSpPr/>
          <p:nvPr/>
        </p:nvSpPr>
        <p:spPr>
          <a:xfrm>
            <a:off x="2624328" y="3566160"/>
            <a:ext cx="164592" cy="164592"/>
          </a:xfrm>
          <a:prstGeom prst="ellipse">
            <a:avLst/>
          </a:prstGeom>
          <a:solidFill>
            <a:srgbClr val="0A7A72"/>
          </a:solidFill>
          <a:ln cap="flat" cmpd="sng" w="12700">
            <a:solidFill>
              <a:srgbClr val="0A7A7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8"/>
          <p:cNvSpPr/>
          <p:nvPr/>
        </p:nvSpPr>
        <p:spPr>
          <a:xfrm>
            <a:off x="2624328" y="3566160"/>
            <a:ext cx="164592" cy="1645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1" lang="en-US" sz="800">
                <a:solidFill>
                  <a:srgbClr val="FFFFFF"/>
                </a:solidFill>
                <a:latin typeface="Calibri"/>
                <a:ea typeface="Calibri"/>
                <a:cs typeface="Calibri"/>
                <a:sym typeface="Calibri"/>
              </a:rPr>
              <a:t>3</a:t>
            </a:r>
            <a:endParaRPr sz="800">
              <a:solidFill>
                <a:schemeClr val="dk1"/>
              </a:solidFill>
              <a:latin typeface="Calibri"/>
              <a:ea typeface="Calibri"/>
              <a:cs typeface="Calibri"/>
              <a:sym typeface="Calibri"/>
            </a:endParaRPr>
          </a:p>
        </p:txBody>
      </p:sp>
      <p:sp>
        <p:nvSpPr>
          <p:cNvPr id="302" name="Google Shape;302;p8"/>
          <p:cNvSpPr/>
          <p:nvPr/>
        </p:nvSpPr>
        <p:spPr>
          <a:xfrm>
            <a:off x="2843784" y="3547872"/>
            <a:ext cx="1609344" cy="47548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34155"/>
              </a:buClr>
              <a:buSzPts val="950"/>
              <a:buFont typeface="Calibri"/>
              <a:buNone/>
            </a:pPr>
            <a:r>
              <a:rPr lang="en-US" sz="950">
                <a:solidFill>
                  <a:srgbClr val="334155"/>
                </a:solidFill>
                <a:latin typeface="Calibri"/>
                <a:ea typeface="Calibri"/>
                <a:cs typeface="Calibri"/>
                <a:sym typeface="Calibri"/>
              </a:rPr>
              <a:t>Evaluate open-weight model alternatives for regulated workloads</a:t>
            </a:r>
            <a:endParaRPr sz="950">
              <a:solidFill>
                <a:schemeClr val="dk1"/>
              </a:solidFill>
              <a:latin typeface="Calibri"/>
              <a:ea typeface="Calibri"/>
              <a:cs typeface="Calibri"/>
              <a:sym typeface="Calibri"/>
            </a:endParaRPr>
          </a:p>
        </p:txBody>
      </p:sp>
      <p:sp>
        <p:nvSpPr>
          <p:cNvPr id="303" name="Google Shape;303;p8"/>
          <p:cNvSpPr/>
          <p:nvPr/>
        </p:nvSpPr>
        <p:spPr>
          <a:xfrm>
            <a:off x="2624328" y="4133088"/>
            <a:ext cx="164592" cy="164592"/>
          </a:xfrm>
          <a:prstGeom prst="ellipse">
            <a:avLst/>
          </a:prstGeom>
          <a:solidFill>
            <a:srgbClr val="0A7A72"/>
          </a:solidFill>
          <a:ln cap="flat" cmpd="sng" w="12700">
            <a:solidFill>
              <a:srgbClr val="0A7A7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8"/>
          <p:cNvSpPr/>
          <p:nvPr/>
        </p:nvSpPr>
        <p:spPr>
          <a:xfrm>
            <a:off x="2624328" y="4133088"/>
            <a:ext cx="164592" cy="1645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1" lang="en-US" sz="800">
                <a:solidFill>
                  <a:srgbClr val="FFFFFF"/>
                </a:solidFill>
                <a:latin typeface="Calibri"/>
                <a:ea typeface="Calibri"/>
                <a:cs typeface="Calibri"/>
                <a:sym typeface="Calibri"/>
              </a:rPr>
              <a:t>4</a:t>
            </a:r>
            <a:endParaRPr sz="800">
              <a:solidFill>
                <a:schemeClr val="dk1"/>
              </a:solidFill>
              <a:latin typeface="Calibri"/>
              <a:ea typeface="Calibri"/>
              <a:cs typeface="Calibri"/>
              <a:sym typeface="Calibri"/>
            </a:endParaRPr>
          </a:p>
        </p:txBody>
      </p:sp>
      <p:sp>
        <p:nvSpPr>
          <p:cNvPr id="305" name="Google Shape;305;p8"/>
          <p:cNvSpPr/>
          <p:nvPr/>
        </p:nvSpPr>
        <p:spPr>
          <a:xfrm>
            <a:off x="2843784" y="4114800"/>
            <a:ext cx="1609344" cy="47548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34155"/>
              </a:buClr>
              <a:buSzPts val="950"/>
              <a:buFont typeface="Calibri"/>
              <a:buNone/>
            </a:pPr>
            <a:r>
              <a:rPr lang="en-US" sz="950">
                <a:solidFill>
                  <a:srgbClr val="334155"/>
                </a:solidFill>
                <a:latin typeface="Calibri"/>
                <a:ea typeface="Calibri"/>
                <a:cs typeface="Calibri"/>
                <a:sym typeface="Calibri"/>
              </a:rPr>
              <a:t>Draft data residency controls and model registry policy framework</a:t>
            </a:r>
            <a:endParaRPr sz="950">
              <a:solidFill>
                <a:schemeClr val="dk1"/>
              </a:solidFill>
              <a:latin typeface="Calibri"/>
              <a:ea typeface="Calibri"/>
              <a:cs typeface="Calibri"/>
              <a:sym typeface="Calibri"/>
            </a:endParaRPr>
          </a:p>
        </p:txBody>
      </p:sp>
      <p:sp>
        <p:nvSpPr>
          <p:cNvPr id="306" name="Google Shape;306;p8"/>
          <p:cNvSpPr/>
          <p:nvPr/>
        </p:nvSpPr>
        <p:spPr>
          <a:xfrm>
            <a:off x="4645152" y="1389888"/>
            <a:ext cx="2048256" cy="3273552"/>
          </a:xfrm>
          <a:prstGeom prst="rect">
            <a:avLst/>
          </a:prstGeom>
          <a:solidFill>
            <a:srgbClr val="FFFFFF"/>
          </a:solidFill>
          <a:ln cap="flat" cmpd="sng" w="12700">
            <a:solidFill>
              <a:srgbClr val="C8D5E4"/>
            </a:solidFill>
            <a:prstDash val="solid"/>
            <a:round/>
            <a:headEnd len="sm" w="sm" type="none"/>
            <a:tailEnd len="sm" w="sm" type="none"/>
          </a:ln>
          <a:effectLst>
            <a:outerShdw blurRad="152400" rotWithShape="0" algn="bl" dir="8100000" dist="381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8"/>
          <p:cNvSpPr/>
          <p:nvPr/>
        </p:nvSpPr>
        <p:spPr>
          <a:xfrm>
            <a:off x="4645152" y="1389888"/>
            <a:ext cx="2048256" cy="475488"/>
          </a:xfrm>
          <a:prstGeom prst="rect">
            <a:avLst/>
          </a:prstGeom>
          <a:solidFill>
            <a:srgbClr val="A0511A"/>
          </a:solidFill>
          <a:ln cap="flat" cmpd="sng" w="12700">
            <a:solidFill>
              <a:srgbClr val="A051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8"/>
          <p:cNvSpPr/>
          <p:nvPr/>
        </p:nvSpPr>
        <p:spPr>
          <a:xfrm>
            <a:off x="4754880" y="1417320"/>
            <a:ext cx="182880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50"/>
              <a:buFont typeface="Calibri"/>
              <a:buNone/>
            </a:pPr>
            <a:r>
              <a:rPr b="1" lang="en-US" sz="950">
                <a:solidFill>
                  <a:srgbClr val="FFFFFF"/>
                </a:solidFill>
                <a:latin typeface="Calibri"/>
                <a:ea typeface="Calibri"/>
                <a:cs typeface="Calibri"/>
                <a:sym typeface="Calibri"/>
              </a:rPr>
              <a:t>Phase 3</a:t>
            </a:r>
            <a:endParaRPr sz="950">
              <a:solidFill>
                <a:schemeClr val="dk1"/>
              </a:solidFill>
              <a:latin typeface="Calibri"/>
              <a:ea typeface="Calibri"/>
              <a:cs typeface="Calibri"/>
              <a:sym typeface="Calibri"/>
            </a:endParaRPr>
          </a:p>
        </p:txBody>
      </p:sp>
      <p:sp>
        <p:nvSpPr>
          <p:cNvPr id="309" name="Google Shape;309;p8"/>
          <p:cNvSpPr/>
          <p:nvPr/>
        </p:nvSpPr>
        <p:spPr>
          <a:xfrm>
            <a:off x="4754880" y="1591056"/>
            <a:ext cx="182880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DEEFF"/>
              </a:buClr>
              <a:buSzPts val="900"/>
              <a:buFont typeface="Calibri"/>
              <a:buNone/>
            </a:pPr>
            <a:r>
              <a:rPr lang="en-US" sz="900">
                <a:solidFill>
                  <a:srgbClr val="DDEEFF"/>
                </a:solidFill>
                <a:latin typeface="Calibri"/>
                <a:ea typeface="Calibri"/>
                <a:cs typeface="Calibri"/>
                <a:sym typeface="Calibri"/>
              </a:rPr>
              <a:t>Month 5–6</a:t>
            </a:r>
            <a:endParaRPr sz="900">
              <a:solidFill>
                <a:schemeClr val="dk1"/>
              </a:solidFill>
              <a:latin typeface="Calibri"/>
              <a:ea typeface="Calibri"/>
              <a:cs typeface="Calibri"/>
              <a:sym typeface="Calibri"/>
            </a:endParaRPr>
          </a:p>
        </p:txBody>
      </p:sp>
      <p:sp>
        <p:nvSpPr>
          <p:cNvPr id="310" name="Google Shape;310;p8"/>
          <p:cNvSpPr/>
          <p:nvPr/>
        </p:nvSpPr>
        <p:spPr>
          <a:xfrm>
            <a:off x="4754880" y="1956816"/>
            <a:ext cx="18288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829"/>
              </a:buClr>
              <a:buSzPts val="1300"/>
              <a:buFont typeface="Georgia"/>
              <a:buNone/>
            </a:pPr>
            <a:r>
              <a:rPr b="1" lang="en-US" sz="1300">
                <a:solidFill>
                  <a:srgbClr val="0B1829"/>
                </a:solidFill>
                <a:latin typeface="Georgia"/>
                <a:ea typeface="Georgia"/>
                <a:cs typeface="Georgia"/>
                <a:sym typeface="Georgia"/>
              </a:rPr>
              <a:t>Pilot &amp; Validate</a:t>
            </a:r>
            <a:endParaRPr sz="1300">
              <a:solidFill>
                <a:schemeClr val="dk1"/>
              </a:solidFill>
              <a:latin typeface="Calibri"/>
              <a:ea typeface="Calibri"/>
              <a:cs typeface="Calibri"/>
              <a:sym typeface="Calibri"/>
            </a:endParaRPr>
          </a:p>
        </p:txBody>
      </p:sp>
      <p:sp>
        <p:nvSpPr>
          <p:cNvPr id="311" name="Google Shape;311;p8"/>
          <p:cNvSpPr/>
          <p:nvPr/>
        </p:nvSpPr>
        <p:spPr>
          <a:xfrm>
            <a:off x="4754880" y="2249424"/>
            <a:ext cx="1828800" cy="27432"/>
          </a:xfrm>
          <a:prstGeom prst="rect">
            <a:avLst/>
          </a:prstGeom>
          <a:solidFill>
            <a:srgbClr val="A0511A"/>
          </a:solidFill>
          <a:ln cap="flat" cmpd="sng" w="12700">
            <a:solidFill>
              <a:srgbClr val="A051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8"/>
          <p:cNvSpPr/>
          <p:nvPr/>
        </p:nvSpPr>
        <p:spPr>
          <a:xfrm>
            <a:off x="4773168" y="2432304"/>
            <a:ext cx="164592" cy="164592"/>
          </a:xfrm>
          <a:prstGeom prst="ellipse">
            <a:avLst/>
          </a:prstGeom>
          <a:solidFill>
            <a:srgbClr val="A0511A"/>
          </a:solidFill>
          <a:ln cap="flat" cmpd="sng" w="12700">
            <a:solidFill>
              <a:srgbClr val="A051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8"/>
          <p:cNvSpPr/>
          <p:nvPr/>
        </p:nvSpPr>
        <p:spPr>
          <a:xfrm>
            <a:off x="4773168" y="2432304"/>
            <a:ext cx="164592" cy="1645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1" lang="en-US" sz="800">
                <a:solidFill>
                  <a:srgbClr val="FFFFFF"/>
                </a:solidFill>
                <a:latin typeface="Calibri"/>
                <a:ea typeface="Calibri"/>
                <a:cs typeface="Calibri"/>
                <a:sym typeface="Calibri"/>
              </a:rPr>
              <a:t>1</a:t>
            </a:r>
            <a:endParaRPr sz="800">
              <a:solidFill>
                <a:schemeClr val="dk1"/>
              </a:solidFill>
              <a:latin typeface="Calibri"/>
              <a:ea typeface="Calibri"/>
              <a:cs typeface="Calibri"/>
              <a:sym typeface="Calibri"/>
            </a:endParaRPr>
          </a:p>
        </p:txBody>
      </p:sp>
      <p:sp>
        <p:nvSpPr>
          <p:cNvPr id="314" name="Google Shape;314;p8"/>
          <p:cNvSpPr/>
          <p:nvPr/>
        </p:nvSpPr>
        <p:spPr>
          <a:xfrm>
            <a:off x="4992624" y="2414016"/>
            <a:ext cx="1609344" cy="47548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34155"/>
              </a:buClr>
              <a:buSzPts val="950"/>
              <a:buFont typeface="Calibri"/>
              <a:buNone/>
            </a:pPr>
            <a:r>
              <a:rPr lang="en-US" sz="950">
                <a:solidFill>
                  <a:srgbClr val="334155"/>
                </a:solidFill>
                <a:latin typeface="Calibri"/>
                <a:ea typeface="Calibri"/>
                <a:cs typeface="Calibri"/>
                <a:sym typeface="Calibri"/>
              </a:rPr>
              <a:t>Stand up sovereign infrastructure in highest-risk jurisdiction first</a:t>
            </a:r>
            <a:endParaRPr sz="950">
              <a:solidFill>
                <a:schemeClr val="dk1"/>
              </a:solidFill>
              <a:latin typeface="Calibri"/>
              <a:ea typeface="Calibri"/>
              <a:cs typeface="Calibri"/>
              <a:sym typeface="Calibri"/>
            </a:endParaRPr>
          </a:p>
        </p:txBody>
      </p:sp>
      <p:sp>
        <p:nvSpPr>
          <p:cNvPr id="315" name="Google Shape;315;p8"/>
          <p:cNvSpPr/>
          <p:nvPr/>
        </p:nvSpPr>
        <p:spPr>
          <a:xfrm>
            <a:off x="4773168" y="2999232"/>
            <a:ext cx="164592" cy="164592"/>
          </a:xfrm>
          <a:prstGeom prst="ellipse">
            <a:avLst/>
          </a:prstGeom>
          <a:solidFill>
            <a:srgbClr val="A0511A"/>
          </a:solidFill>
          <a:ln cap="flat" cmpd="sng" w="12700">
            <a:solidFill>
              <a:srgbClr val="A051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8"/>
          <p:cNvSpPr/>
          <p:nvPr/>
        </p:nvSpPr>
        <p:spPr>
          <a:xfrm>
            <a:off x="4773168" y="2999232"/>
            <a:ext cx="164592" cy="1645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1" lang="en-US" sz="800">
                <a:solidFill>
                  <a:srgbClr val="FFFFFF"/>
                </a:solidFill>
                <a:latin typeface="Calibri"/>
                <a:ea typeface="Calibri"/>
                <a:cs typeface="Calibri"/>
                <a:sym typeface="Calibri"/>
              </a:rPr>
              <a:t>2</a:t>
            </a:r>
            <a:endParaRPr sz="800">
              <a:solidFill>
                <a:schemeClr val="dk1"/>
              </a:solidFill>
              <a:latin typeface="Calibri"/>
              <a:ea typeface="Calibri"/>
              <a:cs typeface="Calibri"/>
              <a:sym typeface="Calibri"/>
            </a:endParaRPr>
          </a:p>
        </p:txBody>
      </p:sp>
      <p:sp>
        <p:nvSpPr>
          <p:cNvPr id="317" name="Google Shape;317;p8"/>
          <p:cNvSpPr/>
          <p:nvPr/>
        </p:nvSpPr>
        <p:spPr>
          <a:xfrm>
            <a:off x="4992624" y="2980944"/>
            <a:ext cx="1609344" cy="47548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34155"/>
              </a:buClr>
              <a:buSzPts val="950"/>
              <a:buFont typeface="Calibri"/>
              <a:buNone/>
            </a:pPr>
            <a:r>
              <a:rPr lang="en-US" sz="950">
                <a:solidFill>
                  <a:srgbClr val="334155"/>
                </a:solidFill>
                <a:latin typeface="Calibri"/>
                <a:ea typeface="Calibri"/>
                <a:cs typeface="Calibri"/>
                <a:sym typeface="Calibri"/>
              </a:rPr>
              <a:t>Migrate one high-exposure AI workload to sovereign stack as pilot</a:t>
            </a:r>
            <a:endParaRPr sz="950">
              <a:solidFill>
                <a:schemeClr val="dk1"/>
              </a:solidFill>
              <a:latin typeface="Calibri"/>
              <a:ea typeface="Calibri"/>
              <a:cs typeface="Calibri"/>
              <a:sym typeface="Calibri"/>
            </a:endParaRPr>
          </a:p>
        </p:txBody>
      </p:sp>
      <p:sp>
        <p:nvSpPr>
          <p:cNvPr id="318" name="Google Shape;318;p8"/>
          <p:cNvSpPr/>
          <p:nvPr/>
        </p:nvSpPr>
        <p:spPr>
          <a:xfrm>
            <a:off x="4773168" y="3566160"/>
            <a:ext cx="164592" cy="164592"/>
          </a:xfrm>
          <a:prstGeom prst="ellipse">
            <a:avLst/>
          </a:prstGeom>
          <a:solidFill>
            <a:srgbClr val="A0511A"/>
          </a:solidFill>
          <a:ln cap="flat" cmpd="sng" w="12700">
            <a:solidFill>
              <a:srgbClr val="A051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8"/>
          <p:cNvSpPr/>
          <p:nvPr/>
        </p:nvSpPr>
        <p:spPr>
          <a:xfrm>
            <a:off x="4773168" y="3566160"/>
            <a:ext cx="164592" cy="1645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1" lang="en-US" sz="800">
                <a:solidFill>
                  <a:srgbClr val="FFFFFF"/>
                </a:solidFill>
                <a:latin typeface="Calibri"/>
                <a:ea typeface="Calibri"/>
                <a:cs typeface="Calibri"/>
                <a:sym typeface="Calibri"/>
              </a:rPr>
              <a:t>3</a:t>
            </a:r>
            <a:endParaRPr sz="800">
              <a:solidFill>
                <a:schemeClr val="dk1"/>
              </a:solidFill>
              <a:latin typeface="Calibri"/>
              <a:ea typeface="Calibri"/>
              <a:cs typeface="Calibri"/>
              <a:sym typeface="Calibri"/>
            </a:endParaRPr>
          </a:p>
        </p:txBody>
      </p:sp>
      <p:sp>
        <p:nvSpPr>
          <p:cNvPr id="320" name="Google Shape;320;p8"/>
          <p:cNvSpPr/>
          <p:nvPr/>
        </p:nvSpPr>
        <p:spPr>
          <a:xfrm>
            <a:off x="4992624" y="3547872"/>
            <a:ext cx="1609344" cy="47548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34155"/>
              </a:buClr>
              <a:buSzPts val="950"/>
              <a:buFont typeface="Calibri"/>
              <a:buNone/>
            </a:pPr>
            <a:r>
              <a:rPr lang="en-US" sz="950">
                <a:solidFill>
                  <a:srgbClr val="334155"/>
                </a:solidFill>
                <a:latin typeface="Calibri"/>
                <a:ea typeface="Calibri"/>
                <a:cs typeface="Calibri"/>
                <a:sym typeface="Calibri"/>
              </a:rPr>
              <a:t>Commission third-party sovereignty audit of pilot deployment</a:t>
            </a:r>
            <a:endParaRPr sz="950">
              <a:solidFill>
                <a:schemeClr val="dk1"/>
              </a:solidFill>
              <a:latin typeface="Calibri"/>
              <a:ea typeface="Calibri"/>
              <a:cs typeface="Calibri"/>
              <a:sym typeface="Calibri"/>
            </a:endParaRPr>
          </a:p>
        </p:txBody>
      </p:sp>
      <p:sp>
        <p:nvSpPr>
          <p:cNvPr id="321" name="Google Shape;321;p8"/>
          <p:cNvSpPr/>
          <p:nvPr/>
        </p:nvSpPr>
        <p:spPr>
          <a:xfrm>
            <a:off x="4773168" y="4133088"/>
            <a:ext cx="164592" cy="164592"/>
          </a:xfrm>
          <a:prstGeom prst="ellipse">
            <a:avLst/>
          </a:prstGeom>
          <a:solidFill>
            <a:srgbClr val="A0511A"/>
          </a:solidFill>
          <a:ln cap="flat" cmpd="sng" w="12700">
            <a:solidFill>
              <a:srgbClr val="A051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8"/>
          <p:cNvSpPr/>
          <p:nvPr/>
        </p:nvSpPr>
        <p:spPr>
          <a:xfrm>
            <a:off x="4773168" y="4133088"/>
            <a:ext cx="164592" cy="1645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1" lang="en-US" sz="800">
                <a:solidFill>
                  <a:srgbClr val="FFFFFF"/>
                </a:solidFill>
                <a:latin typeface="Calibri"/>
                <a:ea typeface="Calibri"/>
                <a:cs typeface="Calibri"/>
                <a:sym typeface="Calibri"/>
              </a:rPr>
              <a:t>4</a:t>
            </a:r>
            <a:endParaRPr sz="800">
              <a:solidFill>
                <a:schemeClr val="dk1"/>
              </a:solidFill>
              <a:latin typeface="Calibri"/>
              <a:ea typeface="Calibri"/>
              <a:cs typeface="Calibri"/>
              <a:sym typeface="Calibri"/>
            </a:endParaRPr>
          </a:p>
        </p:txBody>
      </p:sp>
      <p:sp>
        <p:nvSpPr>
          <p:cNvPr id="323" name="Google Shape;323;p8"/>
          <p:cNvSpPr/>
          <p:nvPr/>
        </p:nvSpPr>
        <p:spPr>
          <a:xfrm>
            <a:off x="4992624" y="4114800"/>
            <a:ext cx="1609344" cy="47548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34155"/>
              </a:buClr>
              <a:buSzPts val="950"/>
              <a:buFont typeface="Calibri"/>
              <a:buNone/>
            </a:pPr>
            <a:r>
              <a:rPr lang="en-US" sz="950">
                <a:solidFill>
                  <a:srgbClr val="334155"/>
                </a:solidFill>
                <a:latin typeface="Calibri"/>
                <a:ea typeface="Calibri"/>
                <a:cs typeface="Calibri"/>
                <a:sym typeface="Calibri"/>
              </a:rPr>
              <a:t>Validate compliance posture against applicable 2026 regulations</a:t>
            </a:r>
            <a:endParaRPr sz="950">
              <a:solidFill>
                <a:schemeClr val="dk1"/>
              </a:solidFill>
              <a:latin typeface="Calibri"/>
              <a:ea typeface="Calibri"/>
              <a:cs typeface="Calibri"/>
              <a:sym typeface="Calibri"/>
            </a:endParaRPr>
          </a:p>
        </p:txBody>
      </p:sp>
      <p:sp>
        <p:nvSpPr>
          <p:cNvPr id="324" name="Google Shape;324;p8"/>
          <p:cNvSpPr/>
          <p:nvPr/>
        </p:nvSpPr>
        <p:spPr>
          <a:xfrm>
            <a:off x="6793992" y="1389888"/>
            <a:ext cx="2048256" cy="3273552"/>
          </a:xfrm>
          <a:prstGeom prst="rect">
            <a:avLst/>
          </a:prstGeom>
          <a:solidFill>
            <a:srgbClr val="FFFFFF"/>
          </a:solidFill>
          <a:ln cap="flat" cmpd="sng" w="12700">
            <a:solidFill>
              <a:srgbClr val="C8D5E4"/>
            </a:solidFill>
            <a:prstDash val="solid"/>
            <a:round/>
            <a:headEnd len="sm" w="sm" type="none"/>
            <a:tailEnd len="sm" w="sm" type="none"/>
          </a:ln>
          <a:effectLst>
            <a:outerShdw blurRad="152400" rotWithShape="0" algn="bl" dir="8100000" dist="381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8"/>
          <p:cNvSpPr/>
          <p:nvPr/>
        </p:nvSpPr>
        <p:spPr>
          <a:xfrm>
            <a:off x="6793992" y="1389888"/>
            <a:ext cx="2048256" cy="475488"/>
          </a:xfrm>
          <a:prstGeom prst="rect">
            <a:avLst/>
          </a:prstGeom>
          <a:solidFill>
            <a:srgbClr val="8A1C2E"/>
          </a:solidFill>
          <a:ln cap="flat" cmpd="sng" w="12700">
            <a:solidFill>
              <a:srgbClr val="8A1C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8"/>
          <p:cNvSpPr/>
          <p:nvPr/>
        </p:nvSpPr>
        <p:spPr>
          <a:xfrm>
            <a:off x="6903720" y="1417320"/>
            <a:ext cx="182880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50"/>
              <a:buFont typeface="Calibri"/>
              <a:buNone/>
            </a:pPr>
            <a:r>
              <a:rPr b="1" lang="en-US" sz="950">
                <a:solidFill>
                  <a:srgbClr val="FFFFFF"/>
                </a:solidFill>
                <a:latin typeface="Calibri"/>
                <a:ea typeface="Calibri"/>
                <a:cs typeface="Calibri"/>
                <a:sym typeface="Calibri"/>
              </a:rPr>
              <a:t>Phase 4</a:t>
            </a:r>
            <a:endParaRPr sz="950">
              <a:solidFill>
                <a:schemeClr val="dk1"/>
              </a:solidFill>
              <a:latin typeface="Calibri"/>
              <a:ea typeface="Calibri"/>
              <a:cs typeface="Calibri"/>
              <a:sym typeface="Calibri"/>
            </a:endParaRPr>
          </a:p>
        </p:txBody>
      </p:sp>
      <p:sp>
        <p:nvSpPr>
          <p:cNvPr id="327" name="Google Shape;327;p8"/>
          <p:cNvSpPr/>
          <p:nvPr/>
        </p:nvSpPr>
        <p:spPr>
          <a:xfrm>
            <a:off x="6903720" y="1591056"/>
            <a:ext cx="182880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DEEFF"/>
              </a:buClr>
              <a:buSzPts val="900"/>
              <a:buFont typeface="Calibri"/>
              <a:buNone/>
            </a:pPr>
            <a:r>
              <a:rPr lang="en-US" sz="900">
                <a:solidFill>
                  <a:srgbClr val="DDEEFF"/>
                </a:solidFill>
                <a:latin typeface="Calibri"/>
                <a:ea typeface="Calibri"/>
                <a:cs typeface="Calibri"/>
                <a:sym typeface="Calibri"/>
              </a:rPr>
              <a:t>Month 7+</a:t>
            </a:r>
            <a:endParaRPr sz="900">
              <a:solidFill>
                <a:schemeClr val="dk1"/>
              </a:solidFill>
              <a:latin typeface="Calibri"/>
              <a:ea typeface="Calibri"/>
              <a:cs typeface="Calibri"/>
              <a:sym typeface="Calibri"/>
            </a:endParaRPr>
          </a:p>
        </p:txBody>
      </p:sp>
      <p:sp>
        <p:nvSpPr>
          <p:cNvPr id="328" name="Google Shape;328;p8"/>
          <p:cNvSpPr/>
          <p:nvPr/>
        </p:nvSpPr>
        <p:spPr>
          <a:xfrm>
            <a:off x="6903720" y="1956816"/>
            <a:ext cx="18288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829"/>
              </a:buClr>
              <a:buSzPts val="1300"/>
              <a:buFont typeface="Georgia"/>
              <a:buNone/>
            </a:pPr>
            <a:r>
              <a:rPr b="1" lang="en-US" sz="1300">
                <a:solidFill>
                  <a:srgbClr val="0B1829"/>
                </a:solidFill>
                <a:latin typeface="Georgia"/>
                <a:ea typeface="Georgia"/>
                <a:cs typeface="Georgia"/>
                <a:sym typeface="Georgia"/>
              </a:rPr>
              <a:t>Scale &amp; Govern</a:t>
            </a:r>
            <a:endParaRPr sz="1300">
              <a:solidFill>
                <a:schemeClr val="dk1"/>
              </a:solidFill>
              <a:latin typeface="Calibri"/>
              <a:ea typeface="Calibri"/>
              <a:cs typeface="Calibri"/>
              <a:sym typeface="Calibri"/>
            </a:endParaRPr>
          </a:p>
        </p:txBody>
      </p:sp>
      <p:sp>
        <p:nvSpPr>
          <p:cNvPr id="329" name="Google Shape;329;p8"/>
          <p:cNvSpPr/>
          <p:nvPr/>
        </p:nvSpPr>
        <p:spPr>
          <a:xfrm>
            <a:off x="6903720" y="2249424"/>
            <a:ext cx="1828800" cy="27432"/>
          </a:xfrm>
          <a:prstGeom prst="rect">
            <a:avLst/>
          </a:prstGeom>
          <a:solidFill>
            <a:srgbClr val="8A1C2E"/>
          </a:solidFill>
          <a:ln cap="flat" cmpd="sng" w="12700">
            <a:solidFill>
              <a:srgbClr val="8A1C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8"/>
          <p:cNvSpPr/>
          <p:nvPr/>
        </p:nvSpPr>
        <p:spPr>
          <a:xfrm>
            <a:off x="6922008" y="2432304"/>
            <a:ext cx="164592" cy="164592"/>
          </a:xfrm>
          <a:prstGeom prst="ellipse">
            <a:avLst/>
          </a:prstGeom>
          <a:solidFill>
            <a:srgbClr val="8A1C2E"/>
          </a:solidFill>
          <a:ln cap="flat" cmpd="sng" w="12700">
            <a:solidFill>
              <a:srgbClr val="8A1C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8"/>
          <p:cNvSpPr/>
          <p:nvPr/>
        </p:nvSpPr>
        <p:spPr>
          <a:xfrm>
            <a:off x="6922008" y="2432304"/>
            <a:ext cx="164592" cy="1645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1" lang="en-US" sz="800">
                <a:solidFill>
                  <a:srgbClr val="FFFFFF"/>
                </a:solidFill>
                <a:latin typeface="Calibri"/>
                <a:ea typeface="Calibri"/>
                <a:cs typeface="Calibri"/>
                <a:sym typeface="Calibri"/>
              </a:rPr>
              <a:t>1</a:t>
            </a:r>
            <a:endParaRPr sz="800">
              <a:solidFill>
                <a:schemeClr val="dk1"/>
              </a:solidFill>
              <a:latin typeface="Calibri"/>
              <a:ea typeface="Calibri"/>
              <a:cs typeface="Calibri"/>
              <a:sym typeface="Calibri"/>
            </a:endParaRPr>
          </a:p>
        </p:txBody>
      </p:sp>
      <p:sp>
        <p:nvSpPr>
          <p:cNvPr id="332" name="Google Shape;332;p8"/>
          <p:cNvSpPr/>
          <p:nvPr/>
        </p:nvSpPr>
        <p:spPr>
          <a:xfrm>
            <a:off x="7141464" y="2414016"/>
            <a:ext cx="1609344" cy="47548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34155"/>
              </a:buClr>
              <a:buSzPts val="950"/>
              <a:buFont typeface="Calibri"/>
              <a:buNone/>
            </a:pPr>
            <a:r>
              <a:rPr lang="en-US" sz="950">
                <a:solidFill>
                  <a:srgbClr val="334155"/>
                </a:solidFill>
                <a:latin typeface="Calibri"/>
                <a:ea typeface="Calibri"/>
                <a:cs typeface="Calibri"/>
                <a:sym typeface="Calibri"/>
              </a:rPr>
              <a:t>Roll out sovereign architecture to all regulated markets</a:t>
            </a:r>
            <a:endParaRPr sz="950">
              <a:solidFill>
                <a:schemeClr val="dk1"/>
              </a:solidFill>
              <a:latin typeface="Calibri"/>
              <a:ea typeface="Calibri"/>
              <a:cs typeface="Calibri"/>
              <a:sym typeface="Calibri"/>
            </a:endParaRPr>
          </a:p>
        </p:txBody>
      </p:sp>
      <p:sp>
        <p:nvSpPr>
          <p:cNvPr id="333" name="Google Shape;333;p8"/>
          <p:cNvSpPr/>
          <p:nvPr/>
        </p:nvSpPr>
        <p:spPr>
          <a:xfrm>
            <a:off x="6922008" y="2999232"/>
            <a:ext cx="164592" cy="164592"/>
          </a:xfrm>
          <a:prstGeom prst="ellipse">
            <a:avLst/>
          </a:prstGeom>
          <a:solidFill>
            <a:srgbClr val="8A1C2E"/>
          </a:solidFill>
          <a:ln cap="flat" cmpd="sng" w="12700">
            <a:solidFill>
              <a:srgbClr val="8A1C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8"/>
          <p:cNvSpPr/>
          <p:nvPr/>
        </p:nvSpPr>
        <p:spPr>
          <a:xfrm>
            <a:off x="6922008" y="2999232"/>
            <a:ext cx="164592" cy="1645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1" lang="en-US" sz="800">
                <a:solidFill>
                  <a:srgbClr val="FFFFFF"/>
                </a:solidFill>
                <a:latin typeface="Calibri"/>
                <a:ea typeface="Calibri"/>
                <a:cs typeface="Calibri"/>
                <a:sym typeface="Calibri"/>
              </a:rPr>
              <a:t>2</a:t>
            </a:r>
            <a:endParaRPr sz="800">
              <a:solidFill>
                <a:schemeClr val="dk1"/>
              </a:solidFill>
              <a:latin typeface="Calibri"/>
              <a:ea typeface="Calibri"/>
              <a:cs typeface="Calibri"/>
              <a:sym typeface="Calibri"/>
            </a:endParaRPr>
          </a:p>
        </p:txBody>
      </p:sp>
      <p:sp>
        <p:nvSpPr>
          <p:cNvPr id="335" name="Google Shape;335;p8"/>
          <p:cNvSpPr/>
          <p:nvPr/>
        </p:nvSpPr>
        <p:spPr>
          <a:xfrm>
            <a:off x="7141464" y="2980944"/>
            <a:ext cx="1609344" cy="47548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34155"/>
              </a:buClr>
              <a:buSzPts val="950"/>
              <a:buFont typeface="Calibri"/>
              <a:buNone/>
            </a:pPr>
            <a:r>
              <a:rPr lang="en-US" sz="950">
                <a:solidFill>
                  <a:srgbClr val="334155"/>
                </a:solidFill>
                <a:latin typeface="Calibri"/>
                <a:ea typeface="Calibri"/>
                <a:cs typeface="Calibri"/>
                <a:sym typeface="Calibri"/>
              </a:rPr>
              <a:t>Establish AI Sovereignty Committee with quarterly review cadence</a:t>
            </a:r>
            <a:endParaRPr sz="950">
              <a:solidFill>
                <a:schemeClr val="dk1"/>
              </a:solidFill>
              <a:latin typeface="Calibri"/>
              <a:ea typeface="Calibri"/>
              <a:cs typeface="Calibri"/>
              <a:sym typeface="Calibri"/>
            </a:endParaRPr>
          </a:p>
        </p:txBody>
      </p:sp>
      <p:sp>
        <p:nvSpPr>
          <p:cNvPr id="336" name="Google Shape;336;p8"/>
          <p:cNvSpPr/>
          <p:nvPr/>
        </p:nvSpPr>
        <p:spPr>
          <a:xfrm>
            <a:off x="6922008" y="3566160"/>
            <a:ext cx="164592" cy="164592"/>
          </a:xfrm>
          <a:prstGeom prst="ellipse">
            <a:avLst/>
          </a:prstGeom>
          <a:solidFill>
            <a:srgbClr val="8A1C2E"/>
          </a:solidFill>
          <a:ln cap="flat" cmpd="sng" w="12700">
            <a:solidFill>
              <a:srgbClr val="8A1C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8"/>
          <p:cNvSpPr/>
          <p:nvPr/>
        </p:nvSpPr>
        <p:spPr>
          <a:xfrm>
            <a:off x="6922008" y="3566160"/>
            <a:ext cx="164592" cy="1645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1" lang="en-US" sz="800">
                <a:solidFill>
                  <a:srgbClr val="FFFFFF"/>
                </a:solidFill>
                <a:latin typeface="Calibri"/>
                <a:ea typeface="Calibri"/>
                <a:cs typeface="Calibri"/>
                <a:sym typeface="Calibri"/>
              </a:rPr>
              <a:t>3</a:t>
            </a:r>
            <a:endParaRPr sz="800">
              <a:solidFill>
                <a:schemeClr val="dk1"/>
              </a:solidFill>
              <a:latin typeface="Calibri"/>
              <a:ea typeface="Calibri"/>
              <a:cs typeface="Calibri"/>
              <a:sym typeface="Calibri"/>
            </a:endParaRPr>
          </a:p>
        </p:txBody>
      </p:sp>
      <p:sp>
        <p:nvSpPr>
          <p:cNvPr id="338" name="Google Shape;338;p8"/>
          <p:cNvSpPr/>
          <p:nvPr/>
        </p:nvSpPr>
        <p:spPr>
          <a:xfrm>
            <a:off x="7141464" y="3547872"/>
            <a:ext cx="1609344" cy="47548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34155"/>
              </a:buClr>
              <a:buSzPts val="950"/>
              <a:buFont typeface="Calibri"/>
              <a:buNone/>
            </a:pPr>
            <a:r>
              <a:rPr lang="en-US" sz="950">
                <a:solidFill>
                  <a:srgbClr val="334155"/>
                </a:solidFill>
                <a:latin typeface="Calibri"/>
                <a:ea typeface="Calibri"/>
                <a:cs typeface="Calibri"/>
                <a:sym typeface="Calibri"/>
              </a:rPr>
              <a:t>Implement automated compliance monitoring and regulator reporting</a:t>
            </a:r>
            <a:endParaRPr sz="950">
              <a:solidFill>
                <a:schemeClr val="dk1"/>
              </a:solidFill>
              <a:latin typeface="Calibri"/>
              <a:ea typeface="Calibri"/>
              <a:cs typeface="Calibri"/>
              <a:sym typeface="Calibri"/>
            </a:endParaRPr>
          </a:p>
        </p:txBody>
      </p:sp>
      <p:sp>
        <p:nvSpPr>
          <p:cNvPr id="339" name="Google Shape;339;p8"/>
          <p:cNvSpPr/>
          <p:nvPr/>
        </p:nvSpPr>
        <p:spPr>
          <a:xfrm>
            <a:off x="6922008" y="4133088"/>
            <a:ext cx="164592" cy="164592"/>
          </a:xfrm>
          <a:prstGeom prst="ellipse">
            <a:avLst/>
          </a:prstGeom>
          <a:solidFill>
            <a:srgbClr val="8A1C2E"/>
          </a:solidFill>
          <a:ln cap="flat" cmpd="sng" w="12700">
            <a:solidFill>
              <a:srgbClr val="8A1C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8"/>
          <p:cNvSpPr/>
          <p:nvPr/>
        </p:nvSpPr>
        <p:spPr>
          <a:xfrm>
            <a:off x="6922008" y="4133088"/>
            <a:ext cx="164592" cy="1645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1" lang="en-US" sz="800">
                <a:solidFill>
                  <a:srgbClr val="FFFFFF"/>
                </a:solidFill>
                <a:latin typeface="Calibri"/>
                <a:ea typeface="Calibri"/>
                <a:cs typeface="Calibri"/>
                <a:sym typeface="Calibri"/>
              </a:rPr>
              <a:t>4</a:t>
            </a:r>
            <a:endParaRPr sz="800">
              <a:solidFill>
                <a:schemeClr val="dk1"/>
              </a:solidFill>
              <a:latin typeface="Calibri"/>
              <a:ea typeface="Calibri"/>
              <a:cs typeface="Calibri"/>
              <a:sym typeface="Calibri"/>
            </a:endParaRPr>
          </a:p>
        </p:txBody>
      </p:sp>
      <p:sp>
        <p:nvSpPr>
          <p:cNvPr id="341" name="Google Shape;341;p8"/>
          <p:cNvSpPr/>
          <p:nvPr/>
        </p:nvSpPr>
        <p:spPr>
          <a:xfrm>
            <a:off x="7141464" y="4114800"/>
            <a:ext cx="1609344" cy="47548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34155"/>
              </a:buClr>
              <a:buSzPts val="950"/>
              <a:buFont typeface="Calibri"/>
              <a:buNone/>
            </a:pPr>
            <a:r>
              <a:rPr lang="en-US" sz="950">
                <a:solidFill>
                  <a:srgbClr val="334155"/>
                </a:solidFill>
                <a:latin typeface="Calibri"/>
                <a:ea typeface="Calibri"/>
                <a:cs typeface="Calibri"/>
                <a:sym typeface="Calibri"/>
              </a:rPr>
              <a:t>Build capability: train internal teams on sovereign AI operations</a:t>
            </a:r>
            <a:endParaRPr sz="950">
              <a:solidFill>
                <a:schemeClr val="dk1"/>
              </a:solidFill>
              <a:latin typeface="Calibri"/>
              <a:ea typeface="Calibri"/>
              <a:cs typeface="Calibri"/>
              <a:sym typeface="Calibri"/>
            </a:endParaRPr>
          </a:p>
        </p:txBody>
      </p:sp>
      <p:sp>
        <p:nvSpPr>
          <p:cNvPr id="342" name="Google Shape;342;p8"/>
          <p:cNvSpPr/>
          <p:nvPr/>
        </p:nvSpPr>
        <p:spPr>
          <a:xfrm>
            <a:off x="0" y="4818888"/>
            <a:ext cx="9144000" cy="324612"/>
          </a:xfrm>
          <a:prstGeom prst="rect">
            <a:avLst/>
          </a:prstGeom>
          <a:solidFill>
            <a:srgbClr val="0B1829"/>
          </a:solidFill>
          <a:ln cap="flat" cmpd="sng" w="12700">
            <a:solidFill>
              <a:srgbClr val="0B182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8"/>
          <p:cNvSpPr/>
          <p:nvPr/>
        </p:nvSpPr>
        <p:spPr>
          <a:xfrm>
            <a:off x="0" y="4826203"/>
            <a:ext cx="9144000" cy="30175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AAAC8"/>
              </a:buClr>
              <a:buSzPts val="850"/>
              <a:buFont typeface="Calibri"/>
              <a:buNone/>
            </a:pPr>
            <a:r>
              <a:rPr lang="en-US" sz="850">
                <a:solidFill>
                  <a:srgbClr val="7AAAC8"/>
                </a:solidFill>
                <a:latin typeface="Calibri"/>
                <a:ea typeface="Calibri"/>
                <a:cs typeface="Calibri"/>
                <a:sym typeface="Calibri"/>
              </a:rPr>
              <a:t>Accredian is a leading Indian institution specializing in AI, Data Science, and Management research and education.  •  Visit us at: </a:t>
            </a:r>
            <a:r>
              <a:rPr lang="en-US" sz="850" u="sng">
                <a:solidFill>
                  <a:srgbClr val="7AAAC8"/>
                </a:solidFill>
                <a:latin typeface="Calibri"/>
                <a:ea typeface="Calibri"/>
                <a:cs typeface="Calibri"/>
                <a:sym typeface="Calibri"/>
                <a:hlinkClick r:id="rId3">
                  <a:extLst>
                    <a:ext uri="{A12FA001-AC4F-418D-AE19-62706E023703}">
                      <ahyp:hlinkClr val="tx"/>
                    </a:ext>
                  </a:extLst>
                </a:hlinkClick>
              </a:rPr>
              <a:t>https://accredian.com</a:t>
            </a:r>
            <a:endParaRPr sz="85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2026-04-05T09:01:33Z</dcterms:created>
  <dc:creator>PptxGenJS</dc:creator>
</cp:coreProperties>
</file>