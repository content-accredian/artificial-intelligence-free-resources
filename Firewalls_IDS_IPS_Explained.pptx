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guszH8wYP20SKsMnl2aKUMawB7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7410FB7-A8A5-4B7A-90E2-038D0E406AB4}">
  <a:tblStyle styleId="{B7410FB7-A8A5-4B7A-90E2-038D0E406AB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ccredian.com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ccredian.com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ccredian.com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ccredian.com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ccredian.com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accredian.com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ccredian.com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accredian.com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accredian.com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accredian.com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accredian.com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accredian.com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accredian.com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accredian.com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accredian.com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accredian.com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Firewalls, IDS, IPS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Security Technologies Explained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2286000" y="3108960"/>
            <a:ext cx="4572000" cy="7315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 comprehensive guide to network and host-based security solutions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457200" y="777240"/>
            <a:ext cx="73152" cy="3200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822960" y="1097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1463040" y="1097280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 is a Firewall?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822960" y="1737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463040" y="1737360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Types of Firewalls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822960" y="23774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463040" y="2377440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Intrusion Detection Systems (IDS)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822960" y="3017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463040" y="3017520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Intrusion Prevention Systems (IPS)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822960" y="3657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463040" y="3657600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Key Differences &amp; Use Cases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What is a Firewall?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457200" y="777240"/>
            <a:ext cx="73152" cy="3200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822960" y="100584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firewall is a network security system that monitors and filters incoming and outgoing network traffic based on predetermined security rules.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822960" y="178308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Key Characteristics: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1097280" y="2194560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Acts as a barrier between trusted internal networks and untrusted external networks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1097280" y="2670048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Enforces network security policies and access control rules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1097280" y="3145536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Operates at network and/or application layers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1097280" y="3621024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Prevents unauthorized access while allowing legitimate traffic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1097280" y="4096512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Provides logging and monitoring capabilities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Visit us at:</a:t>
            </a: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 https://accredian.com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Types of Firewalls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822960" y="1097280"/>
            <a:ext cx="7863840" cy="64008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1005840" y="1143000"/>
            <a:ext cx="7498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Stateless Firewalls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1005840" y="1371600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Check each packet individually; no memory of previous packets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822960" y="1783080"/>
            <a:ext cx="7863840" cy="64008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1005840" y="1828800"/>
            <a:ext cx="7498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Stateful Firewalls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05840" y="2057400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Track connection state; remember established connections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822960" y="2468880"/>
            <a:ext cx="7863840" cy="64008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1005840" y="2514600"/>
            <a:ext cx="7498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Proxy Firewalls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05840" y="2743200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Act as intermediary; filter at application layer (Layer 7)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822960" y="3154680"/>
            <a:ext cx="7863840" cy="64008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1005840" y="3200400"/>
            <a:ext cx="7498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Next-Gen Firewalls (NGFW)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005840" y="3429000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Advanced threat detection, SSL inspection, intrusion prevention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822960" y="3840480"/>
            <a:ext cx="7863840" cy="64008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1005840" y="3886200"/>
            <a:ext cx="7498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Host-based Firewalls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005840" y="4114800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Software firewalls installed on individual devices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How Firewalls Work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914400" y="1371600"/>
            <a:ext cx="1463040" cy="548640"/>
          </a:xfrm>
          <a:prstGeom prst="rect">
            <a:avLst/>
          </a:prstGeom>
          <a:solidFill>
            <a:srgbClr val="0891B2"/>
          </a:solidFill>
          <a:ln cap="flat" cmpd="sng" w="254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914400" y="137160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Packet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Arrives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2423160" y="1581912"/>
            <a:ext cx="274320" cy="1280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2743200" y="1371600"/>
            <a:ext cx="1463040" cy="548640"/>
          </a:xfrm>
          <a:prstGeom prst="rect">
            <a:avLst/>
          </a:prstGeom>
          <a:solidFill>
            <a:srgbClr val="0891B2"/>
          </a:solidFill>
          <a:ln cap="flat" cmpd="sng" w="254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2743200" y="137160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Rule Check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251960" y="1581912"/>
            <a:ext cx="274320" cy="1280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4572000" y="1371600"/>
            <a:ext cx="1463040" cy="548640"/>
          </a:xfrm>
          <a:prstGeom prst="rect">
            <a:avLst/>
          </a:prstGeom>
          <a:solidFill>
            <a:srgbClr val="0891B2"/>
          </a:solidFill>
          <a:ln cap="flat" cmpd="sng" w="254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4572000" y="137160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Decision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6080760" y="1581912"/>
            <a:ext cx="274320" cy="1280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6400800" y="1371600"/>
            <a:ext cx="1463040" cy="548640"/>
          </a:xfrm>
          <a:prstGeom prst="rect">
            <a:avLst/>
          </a:prstGeom>
          <a:solidFill>
            <a:srgbClr val="0891B2"/>
          </a:solidFill>
          <a:ln cap="flat" cmpd="sng" w="254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6400800" y="137160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Allow/Block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822960" y="228600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Decision Logic: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1097280" y="2743200"/>
            <a:ext cx="7589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✓ Allow: Traffic matches permit rules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1097280" y="3200400"/>
            <a:ext cx="7589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✗ Block: Traffic matches deny rules or doesn't match any permit rule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1097280" y="3657600"/>
            <a:ext cx="7589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LOG: Record all traffic for audit and analysis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Intrusion Detection System (IDS)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822960" y="10058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Definition: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822960" y="132588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 IDS monitors network traffic and system activities to detect suspicious patterns or known attack signatures. It analyzes data to identify potential security incidents.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822960" y="201168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Key Characteristics: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1097280" y="2377440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Passive monitoring - observes traffic without active intervention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1097280" y="2852928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Signature-based detection - recognizes known attack patterns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1097280" y="3328416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Anomaly-based detection - identifies unusual behavior patterns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1097280" y="3803904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Alerts and logs suspicious activities for investigation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1097280" y="4279392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Does NOT block traffic automatically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Types of IDS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822960" y="10058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Network-based IDS (NIDS)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1005840" y="1417320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Monitors network traffic across segments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1005840" y="1892808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Analyzes packets at multiple network points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1005840" y="2368296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Detects network-level attacks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1005840" y="2843784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Protects entire network infrastructure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937760" y="10058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Host-based IDS (HIDS)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5120640" y="1417320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Installed on individual systems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5120640" y="1892808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Monitors local system activities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5120640" y="2368296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Detects host-level attacks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5120640" y="2843784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Analyzes system logs and events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822960" y="3474720"/>
            <a:ext cx="7863840" cy="457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822960" y="365760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Detection Methods: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1097280" y="3977640"/>
            <a:ext cx="7589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Signature Detection: Matches known attack patterns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1097280" y="4389120"/>
            <a:ext cx="7589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Anomaly Detection: Identifies deviations from normal behavior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Intrusion Prevention System (IPS)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822960" y="10058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Definition: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822960" y="132588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 IPS not only detects intrusions but also actively prevents them by automatically blocking or dropping malicious traffic in real-time.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822960" y="201168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Key Characteristics: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1097280" y="2377440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Active prevention - blocks malicious traffic automatically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1097280" y="2852928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Inline placement - sits directly in network path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1097280" y="3328416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Real-time response - stops attacks as they occur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1097280" y="3803904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Uses same detection methods as IDS (signature + anomaly)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1097280" y="4279392"/>
            <a:ext cx="7589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Prevents zero-day and known attacks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Types of IPS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822960" y="1097280"/>
            <a:ext cx="7863840" cy="82296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1005840" y="1170432"/>
            <a:ext cx="7498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Network-based IPS (NIPS)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1005840" y="1444752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Inline placement in network; protects entire infrastructure from network attacks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822960" y="1965960"/>
            <a:ext cx="7863840" cy="82296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1005840" y="2039112"/>
            <a:ext cx="7498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Host-based IPS (HIPS)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1005840" y="2313432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Installed on individual systems; protects specific devices from host-level threats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822960" y="2834640"/>
            <a:ext cx="7863840" cy="82296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1005840" y="2907792"/>
            <a:ext cx="7498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Behavior-based IPS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1005840" y="3182112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Analyzes patterns and behavior; detects both known and unknown threats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822960" y="3703320"/>
            <a:ext cx="7863840" cy="82296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1005840" y="3776472"/>
            <a:ext cx="7498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Protocol-based IPS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1005840" y="4050792"/>
            <a:ext cx="7498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Analyzes protocol anomalies; detects protocol-level attacks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IDS vs IPS Comparison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81" name="Google Shape;181;p10"/>
          <p:cNvGraphicFramePr/>
          <p:nvPr/>
        </p:nvGraphicFramePr>
        <p:xfrm>
          <a:off x="82296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{B7410FB7-A8A5-4B7A-90E2-038D0E406AB4}</a:tableStyleId>
              </a:tblPr>
              <a:tblGrid>
                <a:gridCol w="2011675"/>
                <a:gridCol w="2926075"/>
                <a:gridCol w="29260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Aspect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IPS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Passive Detection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Active Prevention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Placement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Out-of-band (TAP)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In-line (network path)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Alert &amp; Log Only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Alert, Log, &amp; Block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Response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Manual investigation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Automatic response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Performance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Minimal impact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May affect latency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 Positives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Less critical (alert)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Critical (blocks traffic)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2" name="Google Shape;182;p10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Firewall vs IDS vs IPS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90" name="Google Shape;190;p11"/>
          <p:cNvGraphicFramePr/>
          <p:nvPr/>
        </p:nvGraphicFramePr>
        <p:xfrm>
          <a:off x="82296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{B7410FB7-A8A5-4B7A-90E2-038D0E406AB4}</a:tableStyleId>
              </a:tblPr>
              <a:tblGrid>
                <a:gridCol w="1645925"/>
                <a:gridCol w="2103125"/>
                <a:gridCol w="2011675"/>
                <a:gridCol w="2103125"/>
              </a:tblGrid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Firewall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IPS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Purpose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Access Control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Threat Detection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Threat Prevention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Block/Allow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Detect/Alert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Detect/Block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Layer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Network/App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Network/Host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Network/Host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Placement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Network Edge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TAP/Span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In-line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89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1" name="Google Shape;191;p11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Defense in Depth Strategy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2"/>
          <p:cNvSpPr/>
          <p:nvPr/>
        </p:nvSpPr>
        <p:spPr>
          <a:xfrm>
            <a:off x="822960" y="100584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Best practice: Use all three together for comprehensive security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822960" y="1554480"/>
            <a:ext cx="548640" cy="5486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2"/>
          <p:cNvSpPr/>
          <p:nvPr/>
        </p:nvSpPr>
        <p:spPr>
          <a:xfrm>
            <a:off x="822960" y="15544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1463040" y="1554480"/>
            <a:ext cx="7223760" cy="548640"/>
          </a:xfrm>
          <a:prstGeom prst="rect">
            <a:avLst/>
          </a:prstGeom>
          <a:solidFill>
            <a:srgbClr val="F1F5F9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2"/>
          <p:cNvSpPr/>
          <p:nvPr/>
        </p:nvSpPr>
        <p:spPr>
          <a:xfrm>
            <a:off x="1645920" y="16002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Firewall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1645920" y="1874520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First line of defense - controls access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822960" y="2606040"/>
            <a:ext cx="548640" cy="5486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"/>
          <p:cNvSpPr/>
          <p:nvPr/>
        </p:nvSpPr>
        <p:spPr>
          <a:xfrm>
            <a:off x="822960" y="26060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1463040" y="2606040"/>
            <a:ext cx="7223760" cy="548640"/>
          </a:xfrm>
          <a:prstGeom prst="rect">
            <a:avLst/>
          </a:prstGeom>
          <a:solidFill>
            <a:srgbClr val="F1F5F9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"/>
          <p:cNvSpPr/>
          <p:nvPr/>
        </p:nvSpPr>
        <p:spPr>
          <a:xfrm>
            <a:off x="1645920" y="265176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1645920" y="2926080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Monitors for suspicious activities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822960" y="3657600"/>
            <a:ext cx="548640" cy="5486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822960" y="36576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1463040" y="3657600"/>
            <a:ext cx="7223760" cy="548640"/>
          </a:xfrm>
          <a:prstGeom prst="rect">
            <a:avLst/>
          </a:prstGeom>
          <a:solidFill>
            <a:srgbClr val="F1F5F9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"/>
          <p:cNvSpPr/>
          <p:nvPr/>
        </p:nvSpPr>
        <p:spPr>
          <a:xfrm>
            <a:off x="1645920" y="370332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1645920" y="3977640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Actively blocks detected threats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Practical Implementation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3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3"/>
          <p:cNvSpPr/>
          <p:nvPr/>
        </p:nvSpPr>
        <p:spPr>
          <a:xfrm>
            <a:off x="822960" y="10058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Small Organization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1097280" y="1325880"/>
            <a:ext cx="7589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Host-based firewall on endpoints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1097280" y="1737360"/>
            <a:ext cx="7589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Cloud-based IDS for monitoring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1097280" y="2148840"/>
            <a:ext cx="7589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IPS in cloud platform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822960" y="256032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Enterprise Network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1097280" y="2880360"/>
            <a:ext cx="7589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Perimeter firewall (NGFW)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1097280" y="3291840"/>
            <a:ext cx="7589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NIDS for network monitoring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1097280" y="3703320"/>
            <a:ext cx="7589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NIPS for threat blocking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822960" y="3337560"/>
            <a:ext cx="7863840" cy="457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3"/>
          <p:cNvSpPr/>
          <p:nvPr/>
        </p:nvSpPr>
        <p:spPr>
          <a:xfrm>
            <a:off x="822960" y="34747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Key Consideration: Regular updates, patches, and monitoring are essential for all three technologies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Threats Prevented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4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4"/>
          <p:cNvSpPr/>
          <p:nvPr/>
        </p:nvSpPr>
        <p:spPr>
          <a:xfrm>
            <a:off x="822960" y="1097280"/>
            <a:ext cx="3840480" cy="6858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4"/>
          <p:cNvSpPr/>
          <p:nvPr/>
        </p:nvSpPr>
        <p:spPr>
          <a:xfrm>
            <a:off x="960120" y="1188720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Malware and viruses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4"/>
          <p:cNvSpPr/>
          <p:nvPr/>
        </p:nvSpPr>
        <p:spPr>
          <a:xfrm>
            <a:off x="822960" y="1874520"/>
            <a:ext cx="3840480" cy="6858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4"/>
          <p:cNvSpPr/>
          <p:nvPr/>
        </p:nvSpPr>
        <p:spPr>
          <a:xfrm>
            <a:off x="960120" y="1965960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SQL injection attacks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822960" y="2651760"/>
            <a:ext cx="3840480" cy="6858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4"/>
          <p:cNvSpPr/>
          <p:nvPr/>
        </p:nvSpPr>
        <p:spPr>
          <a:xfrm>
            <a:off x="960120" y="2743200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DDoS (Distributed Denial of Service)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4"/>
          <p:cNvSpPr/>
          <p:nvPr/>
        </p:nvSpPr>
        <p:spPr>
          <a:xfrm>
            <a:off x="822960" y="3429000"/>
            <a:ext cx="3840480" cy="6858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4"/>
          <p:cNvSpPr/>
          <p:nvPr/>
        </p:nvSpPr>
        <p:spPr>
          <a:xfrm>
            <a:off x="960120" y="3520440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Unauthorized access attempts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4937760" y="1097280"/>
            <a:ext cx="3840480" cy="6858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4"/>
          <p:cNvSpPr/>
          <p:nvPr/>
        </p:nvSpPr>
        <p:spPr>
          <a:xfrm>
            <a:off x="5074920" y="1188720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 exfiltration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4937760" y="1874520"/>
            <a:ext cx="3840480" cy="6858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4"/>
          <p:cNvSpPr/>
          <p:nvPr/>
        </p:nvSpPr>
        <p:spPr>
          <a:xfrm>
            <a:off x="5074920" y="1965960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Ransomware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4937760" y="2651760"/>
            <a:ext cx="3840480" cy="6858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4"/>
          <p:cNvSpPr/>
          <p:nvPr/>
        </p:nvSpPr>
        <p:spPr>
          <a:xfrm>
            <a:off x="5074920" y="2743200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Port scanning and reconnaissance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4937760" y="3429000"/>
            <a:ext cx="3840480" cy="6858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4"/>
          <p:cNvSpPr/>
          <p:nvPr/>
        </p:nvSpPr>
        <p:spPr>
          <a:xfrm>
            <a:off x="5074920" y="3520440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Man-in-the-middle attacks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4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5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Benefits &amp; Limitations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5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5"/>
          <p:cNvSpPr/>
          <p:nvPr/>
        </p:nvSpPr>
        <p:spPr>
          <a:xfrm>
            <a:off x="822960" y="10058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Benefits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1005840" y="1417320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Real-time threat detection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5"/>
          <p:cNvSpPr/>
          <p:nvPr/>
        </p:nvSpPr>
        <p:spPr>
          <a:xfrm>
            <a:off x="1005840" y="1892808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Compliance with regulations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5"/>
          <p:cNvSpPr/>
          <p:nvPr/>
        </p:nvSpPr>
        <p:spPr>
          <a:xfrm>
            <a:off x="1005840" y="2368296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Reduced data breach risk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5"/>
          <p:cNvSpPr/>
          <p:nvPr/>
        </p:nvSpPr>
        <p:spPr>
          <a:xfrm>
            <a:off x="1005840" y="2843784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Automatic threat response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5"/>
          <p:cNvSpPr/>
          <p:nvPr/>
        </p:nvSpPr>
        <p:spPr>
          <a:xfrm>
            <a:off x="1005840" y="3319272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Detailed audit logs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5"/>
          <p:cNvSpPr/>
          <p:nvPr/>
        </p:nvSpPr>
        <p:spPr>
          <a:xfrm>
            <a:off x="4937760" y="10058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5"/>
          <p:cNvSpPr/>
          <p:nvPr/>
        </p:nvSpPr>
        <p:spPr>
          <a:xfrm>
            <a:off x="5120640" y="1417320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False positives (IPS may block good traffic)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5"/>
          <p:cNvSpPr/>
          <p:nvPr/>
        </p:nvSpPr>
        <p:spPr>
          <a:xfrm>
            <a:off x="5120640" y="1892808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Performance overhead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5120640" y="2368296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Requires expert management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5120640" y="2843784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Cannot detect all attacks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5"/>
          <p:cNvSpPr/>
          <p:nvPr/>
        </p:nvSpPr>
        <p:spPr>
          <a:xfrm>
            <a:off x="5120640" y="3319272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Encrypted traffic bypass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6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Best Practices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6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6"/>
          <p:cNvSpPr/>
          <p:nvPr/>
        </p:nvSpPr>
        <p:spPr>
          <a:xfrm>
            <a:off x="822960" y="1097280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1. Implement defense in depth with multiple security layers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6"/>
          <p:cNvSpPr/>
          <p:nvPr/>
        </p:nvSpPr>
        <p:spPr>
          <a:xfrm>
            <a:off x="822960" y="1572768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2. Keep all security tools updated with latest patches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6"/>
          <p:cNvSpPr/>
          <p:nvPr/>
        </p:nvSpPr>
        <p:spPr>
          <a:xfrm>
            <a:off x="822960" y="2048256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3. Configure rules and policies according to your organization's needs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6"/>
          <p:cNvSpPr/>
          <p:nvPr/>
        </p:nvSpPr>
        <p:spPr>
          <a:xfrm>
            <a:off x="822960" y="2523744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4. Monitor and analyze security alerts regularly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6"/>
          <p:cNvSpPr/>
          <p:nvPr/>
        </p:nvSpPr>
        <p:spPr>
          <a:xfrm>
            <a:off x="822960" y="2999232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5. Conduct periodic security audits and penetration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6"/>
          <p:cNvSpPr/>
          <p:nvPr/>
        </p:nvSpPr>
        <p:spPr>
          <a:xfrm>
            <a:off x="822960" y="3474720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6. Train employees on security best practices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6"/>
          <p:cNvSpPr/>
          <p:nvPr/>
        </p:nvSpPr>
        <p:spPr>
          <a:xfrm>
            <a:off x="822960" y="3950208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7. Maintain detailed logs for forensic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6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https://accredian.com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7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7"/>
          <p:cNvSpPr/>
          <p:nvPr/>
        </p:nvSpPr>
        <p:spPr>
          <a:xfrm>
            <a:off x="2286000" y="1097280"/>
            <a:ext cx="4572000" cy="7315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7"/>
          <p:cNvSpPr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Firewalls control access at network boundaries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7"/>
          <p:cNvSpPr/>
          <p:nvPr/>
        </p:nvSpPr>
        <p:spPr>
          <a:xfrm>
            <a:off x="914400" y="1993392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IDS detects threats and alerts administrators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7"/>
          <p:cNvSpPr/>
          <p:nvPr/>
        </p:nvSpPr>
        <p:spPr>
          <a:xfrm>
            <a:off x="914400" y="2615184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IPS actively prevents threats in real-time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7"/>
          <p:cNvSpPr/>
          <p:nvPr/>
        </p:nvSpPr>
        <p:spPr>
          <a:xfrm>
            <a:off x="914400" y="3236976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Combine all three for maximum security effectiveness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7"/>
          <p:cNvSpPr/>
          <p:nvPr/>
        </p:nvSpPr>
        <p:spPr>
          <a:xfrm>
            <a:off x="914400" y="3858768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Regular monitoring and updates are critical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7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Visit us at: https://accredian.com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2026-03-27T10:26:57Z</dcterms:created>
  <dc:creator>Accredian</dc:creator>
</cp:coreProperties>
</file>