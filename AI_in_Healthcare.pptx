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accredian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accredian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accredian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accredian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accredian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accredian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accredian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CDB8F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4A8B3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CDB8F"/>
                </a:solidFill>
              </a:rPr>
              <a:t>2025 TRENDING TOPIC IN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Healthcare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5CDB8F"/>
                </a:solidFill>
              </a:rPr>
              <a:t>Transforming Medicine with Data Science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65760" y="2304288"/>
            <a:ext cx="3840480" cy="3657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4688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8FA899"/>
                </a:solidFill>
              </a:rPr>
              <a:t>How artificial intelligence and data-driven methods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8FA899"/>
                </a:solidFill>
              </a:rPr>
              <a:t>are revolutionising diagnosis, treatment, and patient care.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3520440"/>
            <a:ext cx="1965960" cy="438912"/>
          </a:xfrm>
          <a:prstGeom prst="rect">
            <a:avLst>
              <a:gd name="adj" fmla="val 16667"/>
            </a:avLst>
          </a:prstGeom>
          <a:solidFill>
            <a:srgbClr val="152A1A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52044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EDE1"/>
                </a:solidFill>
              </a:rPr>
              <a:t>🧬 Genomics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68880" y="3520440"/>
            <a:ext cx="1965960" cy="438912"/>
          </a:xfrm>
          <a:prstGeom prst="rect">
            <a:avLst>
              <a:gd name="adj" fmla="val 16667"/>
            </a:avLst>
          </a:prstGeom>
          <a:solidFill>
            <a:srgbClr val="152A1A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352044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EDE1"/>
                </a:solidFill>
              </a:rPr>
              <a:t>🏥 Diagnostics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3520440"/>
            <a:ext cx="1965960" cy="438912"/>
          </a:xfrm>
          <a:prstGeom prst="rect">
            <a:avLst>
              <a:gd name="adj" fmla="val 16667"/>
            </a:avLst>
          </a:prstGeom>
          <a:solidFill>
            <a:srgbClr val="152A1A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352044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EDE1"/>
                </a:solidFill>
              </a:rPr>
              <a:t>💊 Drug Discovery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75120" y="3520440"/>
            <a:ext cx="1965960" cy="438912"/>
          </a:xfrm>
          <a:prstGeom prst="rect">
            <a:avLst>
              <a:gd name="adj" fmla="val 16667"/>
            </a:avLst>
          </a:prstGeom>
          <a:solidFill>
            <a:srgbClr val="152A1A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352044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EDE1"/>
                </a:solidFill>
              </a:rPr>
              <a:t>📊 Predictive Analytics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D1F12"/>
          </a:solidFill>
          <a:ln w="19050">
            <a:solidFill>
              <a:srgbClr val="5CDB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FA899"/>
                </a:solidFill>
              </a:rPr>
              <a:t>Accredian is a leading Indian institution specialising in AI, Data Science, and Management research and education.  </a:t>
            </a:r>
            <a:pPr algn="ctr" indent="0" marL="0">
              <a:buNone/>
            </a:pPr>
            <a:r>
              <a:rPr lang="en-US" sz="750" dirty="0">
                <a:solidFill>
                  <a:srgbClr val="8FA899"/>
                </a:solidFill>
              </a:rPr>
              <a:t>Visit us at: </a:t>
            </a:r>
            <a:pPr algn="ctr" indent="0" marL="0">
              <a:buNone/>
            </a:pPr>
            <a:r>
              <a:rPr lang="en-US" sz="750" u="sng" dirty="0">
                <a:solidFill>
                  <a:srgbClr val="5CDB8F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https://accredian.com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CDB8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AI Healthcare Revolution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2834640" cy="1188720"/>
          </a:xfrm>
          <a:prstGeom prst="rect">
            <a:avLst>
              <a:gd name="adj" fmla="val 7692"/>
            </a:avLst>
          </a:prstGeom>
          <a:solidFill>
            <a:srgbClr val="152A1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96112"/>
            <a:ext cx="2834640" cy="54864"/>
          </a:xfrm>
          <a:prstGeom prst="rect">
            <a:avLst/>
          </a:prstGeom>
          <a:solidFill>
            <a:srgbClr val="5CDB8F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8755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💹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9601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CDB8F"/>
                </a:solidFill>
              </a:rPr>
              <a:t>$45B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4EDE1"/>
                </a:solidFill>
              </a:rPr>
              <a:t>Projected AI healthcare market by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896112"/>
            <a:ext cx="2834640" cy="1188720"/>
          </a:xfrm>
          <a:prstGeom prst="rect">
            <a:avLst>
              <a:gd name="adj" fmla="val 7692"/>
            </a:avLst>
          </a:prstGeom>
          <a:solidFill>
            <a:srgbClr val="152A1A"/>
          </a:solidFill>
          <a:ln/>
        </p:spPr>
      </p:sp>
      <p:sp>
        <p:nvSpPr>
          <p:cNvPr id="10" name="Shape 8"/>
          <p:cNvSpPr/>
          <p:nvPr/>
        </p:nvSpPr>
        <p:spPr>
          <a:xfrm>
            <a:off x="3246120" y="896112"/>
            <a:ext cx="2834640" cy="54864"/>
          </a:xfrm>
          <a:prstGeom prst="rect">
            <a:avLst/>
          </a:prstGeom>
          <a:solidFill>
            <a:srgbClr val="5CDB8F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98755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840480" y="9601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CDB8F"/>
                </a:solidFill>
              </a:rPr>
              <a:t>30%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383280" y="1508760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4EDE1"/>
                </a:solidFill>
              </a:rPr>
              <a:t>Reduction in diagnostic errors using AI tools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896112"/>
            <a:ext cx="2834640" cy="1188720"/>
          </a:xfrm>
          <a:prstGeom prst="rect">
            <a:avLst>
              <a:gd name="adj" fmla="val 7692"/>
            </a:avLst>
          </a:prstGeom>
          <a:solidFill>
            <a:srgbClr val="152A1A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896112"/>
            <a:ext cx="2834640" cy="54864"/>
          </a:xfrm>
          <a:prstGeom prst="rect">
            <a:avLst/>
          </a:prstGeom>
          <a:solidFill>
            <a:srgbClr val="5CDB8F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98755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812280" y="9601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CDB8F"/>
                </a:solidFill>
              </a:rPr>
              <a:t>4x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355080" y="1508760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4EDE1"/>
                </a:solidFill>
              </a:rPr>
              <a:t>Faster drug discovery with ML pipelines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240280"/>
            <a:ext cx="8595360" cy="2286000"/>
          </a:xfrm>
          <a:prstGeom prst="rect">
            <a:avLst>
              <a:gd name="adj" fmla="val 4000"/>
            </a:avLst>
          </a:prstGeom>
          <a:solidFill>
            <a:srgbClr val="152A1A"/>
          </a:solidFill>
          <a:ln/>
        </p:spPr>
      </p:sp>
      <p:sp>
        <p:nvSpPr>
          <p:cNvPr id="20" name="Shape 18"/>
          <p:cNvSpPr/>
          <p:nvPr/>
        </p:nvSpPr>
        <p:spPr>
          <a:xfrm>
            <a:off x="274320" y="2240280"/>
            <a:ext cx="82296" cy="2286000"/>
          </a:xfrm>
          <a:prstGeom prst="rect">
            <a:avLst/>
          </a:prstGeom>
          <a:solidFill>
            <a:srgbClr val="4A8B3F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33172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DB8F"/>
                </a:solidFill>
              </a:rPr>
              <a:t>Why AI &amp; Data Science in Healthcare?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2761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🔬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8680" y="2761488"/>
            <a:ext cx="7818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DE1"/>
                </a:solidFill>
              </a:rPr>
              <a:t>Exponential medical data growth — EHRs, imaging, genomics, wearables — requires AI to extract actionable insights.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31821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👨‍⚕️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8680" y="3182112"/>
            <a:ext cx="7818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DE1"/>
                </a:solidFill>
              </a:rPr>
              <a:t>Physician shortages globally demand AI-assisted tools that augment clinical decision-making at scale.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36027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💡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8680" y="3602736"/>
            <a:ext cx="7818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DE1"/>
                </a:solidFill>
              </a:rPr>
              <a:t>Pattern recognition in complex datasets (radiology, pathology) surpasses human accuracy for many tasks.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🌍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68680" y="4023360"/>
            <a:ext cx="7818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DE1"/>
                </a:solidFill>
              </a:rPr>
              <a:t>AI democratises access to specialist-level diagnostics in underserved rural and developing regions.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D1F12"/>
          </a:solidFill>
          <a:ln w="19050">
            <a:solidFill>
              <a:srgbClr val="5CDB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FA899"/>
                </a:solidFill>
              </a:rPr>
              <a:t>Accredian is a leading Indian institution specialising in AI, Data Science, and Management research and education.  </a:t>
            </a:r>
            <a:pPr algn="ctr" indent="0" marL="0">
              <a:buNone/>
            </a:pPr>
            <a:r>
              <a:rPr lang="en-US" sz="750" dirty="0">
                <a:solidFill>
                  <a:srgbClr val="8FA899"/>
                </a:solidFill>
              </a:rPr>
              <a:t>Visit us at: </a:t>
            </a:r>
            <a:pPr algn="ctr" indent="0" marL="0">
              <a:buNone/>
            </a:pPr>
            <a:r>
              <a:rPr lang="en-US" sz="750" u="sng" dirty="0">
                <a:solidFill>
                  <a:srgbClr val="5CDB8F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https://accredian.com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CDB8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Key Application Areas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834640" cy="1600200"/>
          </a:xfrm>
          <a:prstGeom prst="rect">
            <a:avLst>
              <a:gd name="adj" fmla="val 5714"/>
            </a:avLst>
          </a:prstGeom>
          <a:solidFill>
            <a:srgbClr val="152A1A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914400"/>
            <a:ext cx="2834640" cy="54864"/>
          </a:xfrm>
          <a:prstGeom prst="rect">
            <a:avLst/>
          </a:prstGeom>
          <a:solidFill>
            <a:srgbClr val="4A8B3F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058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🩻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102412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DB8F"/>
                </a:solidFill>
              </a:rPr>
              <a:t>Medical Imaging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463040"/>
            <a:ext cx="26243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4EDE1"/>
                </a:solidFill>
              </a:rPr>
              <a:t>AI reads X-rays, CT scans, MRIs, and retinal images with expert-level accuracy — detecting cancer, diabetic retinopathy, and more.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834640" cy="1600200"/>
          </a:xfrm>
          <a:prstGeom prst="rect">
            <a:avLst>
              <a:gd name="adj" fmla="val 5714"/>
            </a:avLst>
          </a:prstGeom>
          <a:solidFill>
            <a:srgbClr val="152A1A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0" y="914400"/>
            <a:ext cx="2834640" cy="54864"/>
          </a:xfrm>
          <a:prstGeom prst="rect">
            <a:avLst/>
          </a:prstGeom>
          <a:solidFill>
            <a:srgbClr val="4A8B3F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0058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🧬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94760" y="102412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DB8F"/>
                </a:solidFill>
              </a:rPr>
              <a:t>Genomics &amp; Precision Medicine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1463040"/>
            <a:ext cx="26243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4EDE1"/>
                </a:solidFill>
              </a:rPr>
              <a:t>ML models analyse genetic variants to personalise treatment plans and predict hereditary disease risk.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914400"/>
            <a:ext cx="2834640" cy="1600200"/>
          </a:xfrm>
          <a:prstGeom prst="rect">
            <a:avLst>
              <a:gd name="adj" fmla="val 5714"/>
            </a:avLst>
          </a:prstGeom>
          <a:solidFill>
            <a:srgbClr val="152A1A"/>
          </a:solidFill>
          <a:ln/>
        </p:spPr>
      </p:sp>
      <p:sp>
        <p:nvSpPr>
          <p:cNvPr id="15" name="Shape 13"/>
          <p:cNvSpPr/>
          <p:nvPr/>
        </p:nvSpPr>
        <p:spPr>
          <a:xfrm>
            <a:off x="6172200" y="914400"/>
            <a:ext cx="2834640" cy="54864"/>
          </a:xfrm>
          <a:prstGeom prst="rect">
            <a:avLst/>
          </a:prstGeom>
          <a:solidFill>
            <a:srgbClr val="4A8B3F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0058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💊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766560" y="102412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DB8F"/>
                </a:solidFill>
              </a:rPr>
              <a:t>Drug Discovery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1463040"/>
            <a:ext cx="26243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4EDE1"/>
                </a:solidFill>
              </a:rPr>
              <a:t>Deep learning accelerates target identification, molecule generation, and clinical trial design — cutting years off R&amp;D timelines.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2743200"/>
            <a:ext cx="2834640" cy="1600200"/>
          </a:xfrm>
          <a:prstGeom prst="rect">
            <a:avLst>
              <a:gd name="adj" fmla="val 5714"/>
            </a:avLst>
          </a:prstGeom>
          <a:solidFill>
            <a:srgbClr val="152A1A"/>
          </a:solidFill>
          <a:ln/>
        </p:spPr>
      </p:sp>
      <p:sp>
        <p:nvSpPr>
          <p:cNvPr id="20" name="Shape 18"/>
          <p:cNvSpPr/>
          <p:nvPr/>
        </p:nvSpPr>
        <p:spPr>
          <a:xfrm>
            <a:off x="228600" y="2743200"/>
            <a:ext cx="2834640" cy="54864"/>
          </a:xfrm>
          <a:prstGeom prst="rect">
            <a:avLst/>
          </a:prstGeom>
          <a:solidFill>
            <a:srgbClr val="4A8B3F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28346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2960" y="285292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DB8F"/>
                </a:solidFill>
              </a:rPr>
              <a:t>Predictive Analytics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" y="3291840"/>
            <a:ext cx="26243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4EDE1"/>
                </a:solidFill>
              </a:rPr>
              <a:t>Predict patient deterioration, readmission risk, and sepsis onset hours before clinical symptoms appear.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2743200"/>
            <a:ext cx="2834640" cy="1600200"/>
          </a:xfrm>
          <a:prstGeom prst="rect">
            <a:avLst>
              <a:gd name="adj" fmla="val 5714"/>
            </a:avLst>
          </a:prstGeom>
          <a:solidFill>
            <a:srgbClr val="152A1A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0" y="2743200"/>
            <a:ext cx="2834640" cy="54864"/>
          </a:xfrm>
          <a:prstGeom prst="rect">
            <a:avLst/>
          </a:prstGeom>
          <a:solidFill>
            <a:srgbClr val="4A8B3F"/>
          </a:solidFill>
          <a:ln/>
        </p:spPr>
      </p:sp>
      <p:sp>
        <p:nvSpPr>
          <p:cNvPr id="26" name="Text 24"/>
          <p:cNvSpPr/>
          <p:nvPr/>
        </p:nvSpPr>
        <p:spPr>
          <a:xfrm>
            <a:off x="3291840" y="28346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794760" y="285292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DB8F"/>
                </a:solidFill>
              </a:rPr>
              <a:t>Surgical Robotics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91840" y="3291840"/>
            <a:ext cx="26243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4EDE1"/>
                </a:solidFill>
              </a:rPr>
              <a:t>AI-guided robotic systems (e.g. Da Vinci) perform minimally invasive procedures with sub-millimetre precision.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2743200"/>
            <a:ext cx="2834640" cy="1600200"/>
          </a:xfrm>
          <a:prstGeom prst="rect">
            <a:avLst>
              <a:gd name="adj" fmla="val 5714"/>
            </a:avLst>
          </a:prstGeom>
          <a:solidFill>
            <a:srgbClr val="152A1A"/>
          </a:solidFill>
          <a:ln/>
        </p:spPr>
      </p:sp>
      <p:sp>
        <p:nvSpPr>
          <p:cNvPr id="30" name="Shape 28"/>
          <p:cNvSpPr/>
          <p:nvPr/>
        </p:nvSpPr>
        <p:spPr>
          <a:xfrm>
            <a:off x="6172200" y="2743200"/>
            <a:ext cx="2834640" cy="54864"/>
          </a:xfrm>
          <a:prstGeom prst="rect">
            <a:avLst/>
          </a:prstGeom>
          <a:solidFill>
            <a:srgbClr val="4A8B3F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28346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766560" y="285292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DB8F"/>
                </a:solidFill>
              </a:rPr>
              <a:t>Virtual Health Assistants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63640" y="3291840"/>
            <a:ext cx="26243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4EDE1"/>
                </a:solidFill>
              </a:rPr>
              <a:t>Conversational AI triages symptoms, manages chronic conditions, and improves patient medication adherence.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D1F12"/>
          </a:solidFill>
          <a:ln w="19050">
            <a:solidFill>
              <a:srgbClr val="5CDB8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FA899"/>
                </a:solidFill>
              </a:rPr>
              <a:t>Accredian is a leading Indian institution specialising in AI, Data Science, and Management research and education.  </a:t>
            </a:r>
            <a:pPr algn="ctr" indent="0" marL="0">
              <a:buNone/>
            </a:pPr>
            <a:r>
              <a:rPr lang="en-US" sz="750" dirty="0">
                <a:solidFill>
                  <a:srgbClr val="8FA899"/>
                </a:solidFill>
              </a:rPr>
              <a:t>Visit us at: </a:t>
            </a:r>
            <a:pPr algn="ctr" indent="0" marL="0">
              <a:buNone/>
            </a:pPr>
            <a:r>
              <a:rPr lang="en-US" sz="750" u="sng" dirty="0">
                <a:solidFill>
                  <a:srgbClr val="5CDB8F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https://accredian.com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CDB8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How AI Works in Healthcare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658368" cy="566928"/>
          </a:xfrm>
          <a:prstGeom prst="rect">
            <a:avLst>
              <a:gd name="adj" fmla="val 9677"/>
            </a:avLst>
          </a:prstGeom>
          <a:solidFill>
            <a:srgbClr val="5CDB8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F12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76072" y="1481328"/>
            <a:ext cx="54864" cy="1828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914400"/>
            <a:ext cx="7772400" cy="566928"/>
          </a:xfrm>
          <a:prstGeom prst="rect">
            <a:avLst>
              <a:gd name="adj" fmla="val 11290"/>
            </a:avLst>
          </a:prstGeom>
          <a:solidFill>
            <a:srgbClr val="152A1A"/>
          </a:solidFill>
          <a:ln/>
        </p:spPr>
      </p:sp>
      <p:sp>
        <p:nvSpPr>
          <p:cNvPr id="8" name="Shape 6"/>
          <p:cNvSpPr/>
          <p:nvPr/>
        </p:nvSpPr>
        <p:spPr>
          <a:xfrm>
            <a:off x="1051560" y="914400"/>
            <a:ext cx="73152" cy="566928"/>
          </a:xfrm>
          <a:prstGeom prst="rect">
            <a:avLst/>
          </a:prstGeom>
          <a:solidFill>
            <a:srgbClr val="4A8B3F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9601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DB8F"/>
                </a:solidFill>
              </a:rPr>
              <a:t>Data Collection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1216152"/>
            <a:ext cx="7406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DE1"/>
                </a:solidFill>
              </a:rPr>
              <a:t>EHRs, medical imaging (DICOM), wearables, lab results, and genomic sequences are aggregated and de-identified.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664208"/>
            <a:ext cx="658368" cy="566928"/>
          </a:xfrm>
          <a:prstGeom prst="rect">
            <a:avLst>
              <a:gd name="adj" fmla="val 9677"/>
            </a:avLst>
          </a:prstGeom>
          <a:solidFill>
            <a:srgbClr val="5CDB8F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66420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F12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76072" y="2231136"/>
            <a:ext cx="54864" cy="1828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4" name="Shape 12"/>
          <p:cNvSpPr/>
          <p:nvPr/>
        </p:nvSpPr>
        <p:spPr>
          <a:xfrm>
            <a:off x="1051560" y="1664208"/>
            <a:ext cx="7772400" cy="566928"/>
          </a:xfrm>
          <a:prstGeom prst="rect">
            <a:avLst>
              <a:gd name="adj" fmla="val 11290"/>
            </a:avLst>
          </a:prstGeom>
          <a:solidFill>
            <a:srgbClr val="152A1A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1560" y="1664208"/>
            <a:ext cx="73152" cy="566928"/>
          </a:xfrm>
          <a:prstGeom prst="rect">
            <a:avLst/>
          </a:prstGeom>
          <a:solidFill>
            <a:srgbClr val="4A8B3F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170992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DB8F"/>
                </a:solidFill>
              </a:rPr>
              <a:t>Pre-processing &amp; Feature Engineering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1965960"/>
            <a:ext cx="7406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DE1"/>
                </a:solidFill>
              </a:rPr>
              <a:t>Data is cleaned, normalised, augmented, and transformed into model-ready formats (tensors, embeddings).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414016"/>
            <a:ext cx="658368" cy="566928"/>
          </a:xfrm>
          <a:prstGeom prst="rect">
            <a:avLst>
              <a:gd name="adj" fmla="val 9677"/>
            </a:avLst>
          </a:prstGeom>
          <a:solidFill>
            <a:srgbClr val="5CDB8F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2414016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F12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76072" y="2980944"/>
            <a:ext cx="54864" cy="1828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1560" y="2414016"/>
            <a:ext cx="7772400" cy="566928"/>
          </a:xfrm>
          <a:prstGeom prst="rect">
            <a:avLst>
              <a:gd name="adj" fmla="val 11290"/>
            </a:avLst>
          </a:prstGeom>
          <a:solidFill>
            <a:srgbClr val="152A1A"/>
          </a:solidFill>
          <a:ln/>
        </p:spPr>
      </p:sp>
      <p:sp>
        <p:nvSpPr>
          <p:cNvPr id="22" name="Shape 20"/>
          <p:cNvSpPr/>
          <p:nvPr/>
        </p:nvSpPr>
        <p:spPr>
          <a:xfrm>
            <a:off x="1051560" y="2414016"/>
            <a:ext cx="73152" cy="566928"/>
          </a:xfrm>
          <a:prstGeom prst="rect">
            <a:avLst/>
          </a:prstGeom>
          <a:solidFill>
            <a:srgbClr val="4A8B3F"/>
          </a:solidFill>
          <a:ln/>
        </p:spPr>
      </p:sp>
      <p:sp>
        <p:nvSpPr>
          <p:cNvPr id="23" name="Text 21"/>
          <p:cNvSpPr/>
          <p:nvPr/>
        </p:nvSpPr>
        <p:spPr>
          <a:xfrm>
            <a:off x="1234440" y="245973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DB8F"/>
                </a:solidFill>
              </a:rPr>
              <a:t>Model Training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34440" y="2715768"/>
            <a:ext cx="7406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DE1"/>
                </a:solidFill>
              </a:rPr>
              <a:t>CNNs for imaging, transformers for NLP in clinical notes, and graph networks for drug interaction modelling.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163824"/>
            <a:ext cx="658368" cy="566928"/>
          </a:xfrm>
          <a:prstGeom prst="rect">
            <a:avLst>
              <a:gd name="adj" fmla="val 9677"/>
            </a:avLst>
          </a:prstGeom>
          <a:solidFill>
            <a:srgbClr val="5CDB8F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3163824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F12"/>
                </a:solidFill>
              </a:rPr>
              <a:t>4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76072" y="3730752"/>
            <a:ext cx="54864" cy="1828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8" name="Shape 26"/>
          <p:cNvSpPr/>
          <p:nvPr/>
        </p:nvSpPr>
        <p:spPr>
          <a:xfrm>
            <a:off x="1051560" y="3163824"/>
            <a:ext cx="7772400" cy="566928"/>
          </a:xfrm>
          <a:prstGeom prst="rect">
            <a:avLst>
              <a:gd name="adj" fmla="val 11290"/>
            </a:avLst>
          </a:prstGeom>
          <a:solidFill>
            <a:srgbClr val="152A1A"/>
          </a:solidFill>
          <a:ln/>
        </p:spPr>
      </p:sp>
      <p:sp>
        <p:nvSpPr>
          <p:cNvPr id="29" name="Shape 27"/>
          <p:cNvSpPr/>
          <p:nvPr/>
        </p:nvSpPr>
        <p:spPr>
          <a:xfrm>
            <a:off x="1051560" y="3163824"/>
            <a:ext cx="73152" cy="566928"/>
          </a:xfrm>
          <a:prstGeom prst="rect">
            <a:avLst/>
          </a:prstGeom>
          <a:solidFill>
            <a:srgbClr val="4A8B3F"/>
          </a:solidFill>
          <a:ln/>
        </p:spPr>
      </p:sp>
      <p:sp>
        <p:nvSpPr>
          <p:cNvPr id="30" name="Text 28"/>
          <p:cNvSpPr/>
          <p:nvPr/>
        </p:nvSpPr>
        <p:spPr>
          <a:xfrm>
            <a:off x="1234440" y="320954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DB8F"/>
                </a:solidFill>
              </a:rPr>
              <a:t>Validation &amp; Clinical Trials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234440" y="3465576"/>
            <a:ext cx="7406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DE1"/>
                </a:solidFill>
              </a:rPr>
              <a:t>Rigorous prospective validation against gold-standard labels, followed by regulatory approval (FDA, CE mark).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3913632"/>
            <a:ext cx="658368" cy="566928"/>
          </a:xfrm>
          <a:prstGeom prst="rect">
            <a:avLst>
              <a:gd name="adj" fmla="val 9677"/>
            </a:avLst>
          </a:prstGeom>
          <a:solidFill>
            <a:srgbClr val="5CDB8F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" y="3913632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F12"/>
                </a:solidFill>
              </a:rPr>
              <a:t>5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051560" y="3913632"/>
            <a:ext cx="7772400" cy="566928"/>
          </a:xfrm>
          <a:prstGeom prst="rect">
            <a:avLst>
              <a:gd name="adj" fmla="val 11290"/>
            </a:avLst>
          </a:prstGeom>
          <a:solidFill>
            <a:srgbClr val="152A1A"/>
          </a:solidFill>
          <a:ln/>
        </p:spPr>
      </p:sp>
      <p:sp>
        <p:nvSpPr>
          <p:cNvPr id="35" name="Shape 33"/>
          <p:cNvSpPr/>
          <p:nvPr/>
        </p:nvSpPr>
        <p:spPr>
          <a:xfrm>
            <a:off x="1051560" y="3913632"/>
            <a:ext cx="73152" cy="566928"/>
          </a:xfrm>
          <a:prstGeom prst="rect">
            <a:avLst/>
          </a:prstGeom>
          <a:solidFill>
            <a:srgbClr val="4A8B3F"/>
          </a:solidFill>
          <a:ln/>
        </p:spPr>
      </p:sp>
      <p:sp>
        <p:nvSpPr>
          <p:cNvPr id="36" name="Text 34"/>
          <p:cNvSpPr/>
          <p:nvPr/>
        </p:nvSpPr>
        <p:spPr>
          <a:xfrm>
            <a:off x="1234440" y="395935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DB8F"/>
                </a:solidFill>
              </a:rPr>
              <a:t>Deployment &amp; Monitoring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234440" y="4215384"/>
            <a:ext cx="7406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DE1"/>
                </a:solidFill>
              </a:rPr>
              <a:t>Integrated into clinical workflows via EHR plugins, PACS systems, and decision support dashboards with continuous drift monitoring.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D1F12"/>
          </a:solidFill>
          <a:ln w="19050">
            <a:solidFill>
              <a:srgbClr val="5CDB8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FA899"/>
                </a:solidFill>
              </a:rPr>
              <a:t>Accredian is a leading Indian institution specialising in AI, Data Science, and Management research and education.  </a:t>
            </a:r>
            <a:pPr algn="ctr" indent="0" marL="0">
              <a:buNone/>
            </a:pPr>
            <a:r>
              <a:rPr lang="en-US" sz="750" dirty="0">
                <a:solidFill>
                  <a:srgbClr val="8FA899"/>
                </a:solidFill>
              </a:rPr>
              <a:t>Visit us at: </a:t>
            </a:r>
            <a:pPr algn="ctr" indent="0" marL="0">
              <a:buNone/>
            </a:pPr>
            <a:r>
              <a:rPr lang="en-US" sz="750" u="sng" dirty="0">
                <a:solidFill>
                  <a:srgbClr val="5CDB8F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https://accredian.com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CDB8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Leading Tools &amp; Companies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60520" cy="3520440"/>
          </a:xfrm>
          <a:prstGeom prst="rect">
            <a:avLst>
              <a:gd name="adj" fmla="val 2597"/>
            </a:avLst>
          </a:prstGeom>
          <a:solidFill>
            <a:srgbClr val="152A1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14400"/>
            <a:ext cx="82296" cy="3520440"/>
          </a:xfrm>
          <a:prstGeom prst="rect">
            <a:avLst/>
          </a:prstGeom>
          <a:solidFill>
            <a:srgbClr val="5CDB8F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024128"/>
            <a:ext cx="91440" cy="329184"/>
          </a:xfrm>
          <a:prstGeom prst="rect">
            <a:avLst/>
          </a:prstGeom>
          <a:solidFill>
            <a:srgbClr val="5CDB8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2412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Google Health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22529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99"/>
                </a:solidFill>
              </a:rPr>
              <a:t>DeepMind's AlphaFold &amp; Med-PaLM 2 LLM for clinical Q&amp;A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645920"/>
            <a:ext cx="91440" cy="329184"/>
          </a:xfrm>
          <a:prstGeom prst="rect">
            <a:avLst/>
          </a:prstGeom>
          <a:solidFill>
            <a:srgbClr val="5CDB8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64592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Microsoft / Nuance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8470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99"/>
                </a:solidFill>
              </a:rPr>
              <a:t>DAX Copilot — ambient AI clinical documentation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267712"/>
            <a:ext cx="91440" cy="329184"/>
          </a:xfrm>
          <a:prstGeom prst="rect">
            <a:avLst/>
          </a:prstGeom>
          <a:solidFill>
            <a:srgbClr val="5CDB8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26771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IBM Watson Health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468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99"/>
                </a:solidFill>
              </a:rPr>
              <a:t>Oncology decision support and genomic analysis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889504"/>
            <a:ext cx="91440" cy="329184"/>
          </a:xfrm>
          <a:prstGeom prst="rect">
            <a:avLst/>
          </a:prstGeom>
          <a:solidFill>
            <a:srgbClr val="5CDB8F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88950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Tempus AI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0906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99"/>
                </a:solidFill>
              </a:rPr>
              <a:t>Real-world clinical &amp; molecular data for precision oncology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511296"/>
            <a:ext cx="91440" cy="329184"/>
          </a:xfrm>
          <a:prstGeom prst="rect">
            <a:avLst/>
          </a:prstGeom>
          <a:solidFill>
            <a:srgbClr val="5CDB8F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51129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Paige.AI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371246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99"/>
                </a:solidFill>
              </a:rPr>
              <a:t>FDA-cleared AI pathology platform for cancer detection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914400"/>
            <a:ext cx="4160520" cy="3520440"/>
          </a:xfrm>
          <a:prstGeom prst="rect">
            <a:avLst>
              <a:gd name="adj" fmla="val 2597"/>
            </a:avLst>
          </a:prstGeom>
          <a:solidFill>
            <a:srgbClr val="152A1A"/>
          </a:solidFill>
          <a:ln/>
        </p:spPr>
      </p:sp>
      <p:sp>
        <p:nvSpPr>
          <p:cNvPr id="22" name="Shape 20"/>
          <p:cNvSpPr/>
          <p:nvPr/>
        </p:nvSpPr>
        <p:spPr>
          <a:xfrm>
            <a:off x="4709160" y="914400"/>
            <a:ext cx="82296" cy="3520440"/>
          </a:xfrm>
          <a:prstGeom prst="rect">
            <a:avLst/>
          </a:prstGeom>
          <a:solidFill>
            <a:srgbClr val="4A8B3F"/>
          </a:solidFill>
          <a:ln/>
        </p:spPr>
      </p:sp>
      <p:sp>
        <p:nvSpPr>
          <p:cNvPr id="23" name="Shape 21"/>
          <p:cNvSpPr/>
          <p:nvPr/>
        </p:nvSpPr>
        <p:spPr>
          <a:xfrm>
            <a:off x="4937760" y="1024128"/>
            <a:ext cx="91440" cy="329184"/>
          </a:xfrm>
          <a:prstGeom prst="rect">
            <a:avLst/>
          </a:prstGeom>
          <a:solidFill>
            <a:srgbClr val="4A8B3F"/>
          </a:solidFill>
          <a:ln/>
        </p:spPr>
      </p:sp>
      <p:sp>
        <p:nvSpPr>
          <p:cNvPr id="24" name="Text 22"/>
          <p:cNvSpPr/>
          <p:nvPr/>
        </p:nvSpPr>
        <p:spPr>
          <a:xfrm>
            <a:off x="5166360" y="102412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Aidoc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66360" y="122529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99"/>
                </a:solidFill>
              </a:rPr>
              <a:t>Radiology AI for prioritising critical findings in scans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37760" y="1645920"/>
            <a:ext cx="91440" cy="329184"/>
          </a:xfrm>
          <a:prstGeom prst="rect">
            <a:avLst/>
          </a:prstGeom>
          <a:solidFill>
            <a:srgbClr val="4A8B3F"/>
          </a:solidFill>
          <a:ln/>
        </p:spPr>
      </p:sp>
      <p:sp>
        <p:nvSpPr>
          <p:cNvPr id="27" name="Text 25"/>
          <p:cNvSpPr/>
          <p:nvPr/>
        </p:nvSpPr>
        <p:spPr>
          <a:xfrm>
            <a:off x="5166360" y="164592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Butterfly Network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66360" y="18470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99"/>
                </a:solidFill>
              </a:rPr>
              <a:t>AI-powered handheld ultrasound for point-of-care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37760" y="2267712"/>
            <a:ext cx="91440" cy="329184"/>
          </a:xfrm>
          <a:prstGeom prst="rect">
            <a:avLst/>
          </a:prstGeom>
          <a:solidFill>
            <a:srgbClr val="4A8B3F"/>
          </a:solidFill>
          <a:ln/>
        </p:spPr>
      </p:sp>
      <p:sp>
        <p:nvSpPr>
          <p:cNvPr id="30" name="Text 28"/>
          <p:cNvSpPr/>
          <p:nvPr/>
        </p:nvSpPr>
        <p:spPr>
          <a:xfrm>
            <a:off x="5166360" y="226771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Insilico Medicine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66360" y="2468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99"/>
                </a:solidFill>
              </a:rPr>
              <a:t>Generative AI for de-novo drug molecule design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37760" y="2889504"/>
            <a:ext cx="91440" cy="329184"/>
          </a:xfrm>
          <a:prstGeom prst="rect">
            <a:avLst/>
          </a:prstGeom>
          <a:solidFill>
            <a:srgbClr val="4A8B3F"/>
          </a:solidFill>
          <a:ln/>
        </p:spPr>
      </p:sp>
      <p:sp>
        <p:nvSpPr>
          <p:cNvPr id="33" name="Text 31"/>
          <p:cNvSpPr/>
          <p:nvPr/>
        </p:nvSpPr>
        <p:spPr>
          <a:xfrm>
            <a:off x="5166360" y="288950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PathAI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66360" y="30906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99"/>
                </a:solidFill>
              </a:rPr>
              <a:t>ML-powered pathology for better diagnostic accuracy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37760" y="3511296"/>
            <a:ext cx="91440" cy="329184"/>
          </a:xfrm>
          <a:prstGeom prst="rect">
            <a:avLst/>
          </a:prstGeom>
          <a:solidFill>
            <a:srgbClr val="4A8B3F"/>
          </a:solidFill>
          <a:ln/>
        </p:spPr>
      </p:sp>
      <p:sp>
        <p:nvSpPr>
          <p:cNvPr id="36" name="Text 34"/>
          <p:cNvSpPr/>
          <p:nvPr/>
        </p:nvSpPr>
        <p:spPr>
          <a:xfrm>
            <a:off x="5166360" y="351129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Viz.ai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66360" y="371246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99"/>
                </a:solidFill>
              </a:rPr>
              <a:t>Stroke &amp; cardiovascular AI triage platform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D1F12"/>
          </a:solidFill>
          <a:ln w="19050">
            <a:solidFill>
              <a:srgbClr val="5CDB8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FA899"/>
                </a:solidFill>
              </a:rPr>
              <a:t>Accredian is a leading Indian institution specialising in AI, Data Science, and Management research and education.  </a:t>
            </a:r>
            <a:pPr algn="ctr" indent="0" marL="0">
              <a:buNone/>
            </a:pPr>
            <a:r>
              <a:rPr lang="en-US" sz="750" dirty="0">
                <a:solidFill>
                  <a:srgbClr val="8FA899"/>
                </a:solidFill>
              </a:rPr>
              <a:t>Visit us at: </a:t>
            </a:r>
            <a:pPr algn="ctr" indent="0" marL="0">
              <a:buNone/>
            </a:pPr>
            <a:r>
              <a:rPr lang="en-US" sz="750" u="sng" dirty="0">
                <a:solidFill>
                  <a:srgbClr val="5CDB8F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https://accredian.com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CDB8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Ethical Challenges &amp; Risks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1600200"/>
          </a:xfrm>
          <a:prstGeom prst="rect">
            <a:avLst>
              <a:gd name="adj" fmla="val 5714"/>
            </a:avLst>
          </a:prstGeom>
          <a:solidFill>
            <a:srgbClr val="152A1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4160520" cy="54864"/>
          </a:xfrm>
          <a:prstGeom prst="rect">
            <a:avLst/>
          </a:prstGeom>
          <a:solidFill>
            <a:srgbClr val="7B3F0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6984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32688" y="106984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07A"/>
                </a:solidFill>
              </a:rPr>
              <a:t>Patient Data Privacy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38587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4EDE1"/>
                </a:solidFill>
              </a:rPr>
              <a:t>Training AI on sensitive health records raises HIPAA/GDPR concerns. Federated learning and differential privacy are emerging mitigations.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2788920"/>
            <a:ext cx="4160520" cy="1600200"/>
          </a:xfrm>
          <a:prstGeom prst="rect">
            <a:avLst>
              <a:gd name="adj" fmla="val 5714"/>
            </a:avLst>
          </a:prstGeom>
          <a:solidFill>
            <a:srgbClr val="152A1A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2788920"/>
            <a:ext cx="4160520" cy="54864"/>
          </a:xfrm>
          <a:prstGeom prst="rect">
            <a:avLst/>
          </a:prstGeom>
          <a:solidFill>
            <a:srgbClr val="7B3F00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89864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32688" y="289864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07A"/>
                </a:solidFill>
              </a:rPr>
              <a:t>Algorithmic Bias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3383280"/>
            <a:ext cx="38587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4EDE1"/>
                </a:solidFill>
              </a:rPr>
              <a:t>Models trained on non-diverse datasets can underperform for minorities — perpetuating health disparities at scale.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09160" y="960120"/>
            <a:ext cx="4160520" cy="1600200"/>
          </a:xfrm>
          <a:prstGeom prst="rect">
            <a:avLst>
              <a:gd name="adj" fmla="val 5714"/>
            </a:avLst>
          </a:prstGeom>
          <a:solidFill>
            <a:srgbClr val="152A1A"/>
          </a:solidFill>
          <a:ln/>
        </p:spPr>
      </p:sp>
      <p:sp>
        <p:nvSpPr>
          <p:cNvPr id="15" name="Shape 13"/>
          <p:cNvSpPr/>
          <p:nvPr/>
        </p:nvSpPr>
        <p:spPr>
          <a:xfrm>
            <a:off x="4709160" y="960120"/>
            <a:ext cx="4160520" cy="54864"/>
          </a:xfrm>
          <a:prstGeom prst="rect">
            <a:avLst/>
          </a:prstGeom>
          <a:solidFill>
            <a:srgbClr val="7B3F00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06984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🧑‍⚖️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67528" y="106984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07A"/>
                </a:solidFill>
              </a:rPr>
              <a:t>Regulatory Approval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1554480"/>
            <a:ext cx="38587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4EDE1"/>
                </a:solidFill>
              </a:rPr>
              <a:t>Navigating FDA, CE, and CDSCO clearance for AI-as-a-medical-device remains slow, complex, and costly.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09160" y="2788920"/>
            <a:ext cx="4160520" cy="1600200"/>
          </a:xfrm>
          <a:prstGeom prst="rect">
            <a:avLst>
              <a:gd name="adj" fmla="val 5714"/>
            </a:avLst>
          </a:prstGeom>
          <a:solidFill>
            <a:srgbClr val="152A1A"/>
          </a:solidFill>
          <a:ln/>
        </p:spPr>
      </p:sp>
      <p:sp>
        <p:nvSpPr>
          <p:cNvPr id="20" name="Shape 18"/>
          <p:cNvSpPr/>
          <p:nvPr/>
        </p:nvSpPr>
        <p:spPr>
          <a:xfrm>
            <a:off x="4709160" y="2788920"/>
            <a:ext cx="4160520" cy="54864"/>
          </a:xfrm>
          <a:prstGeom prst="rect">
            <a:avLst/>
          </a:prstGeom>
          <a:solidFill>
            <a:srgbClr val="7B3F00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89864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67528" y="289864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07A"/>
                </a:solidFill>
              </a:rPr>
              <a:t>Clinician Trust &amp; Adoption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3383280"/>
            <a:ext cx="38587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4EDE1"/>
                </a:solidFill>
              </a:rPr>
              <a:t>Black-box AI decisions are hard for doctors to interpret, audit, or explain to patients — hindering clinical uptake.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D1F12"/>
          </a:solidFill>
          <a:ln w="19050">
            <a:solidFill>
              <a:srgbClr val="5CDB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FA899"/>
                </a:solidFill>
              </a:rPr>
              <a:t>Accredian is a leading Indian institution specialising in AI, Data Science, and Management research and education.  </a:t>
            </a:r>
            <a:pPr algn="ctr" indent="0" marL="0">
              <a:buNone/>
            </a:pPr>
            <a:r>
              <a:rPr lang="en-US" sz="750" dirty="0">
                <a:solidFill>
                  <a:srgbClr val="8FA899"/>
                </a:solidFill>
              </a:rPr>
              <a:t>Visit us at: </a:t>
            </a:r>
            <a:pPr algn="ctr" indent="0" marL="0">
              <a:buNone/>
            </a:pPr>
            <a:r>
              <a:rPr lang="en-US" sz="750" u="sng" dirty="0">
                <a:solidFill>
                  <a:srgbClr val="5CDB8F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https://accredian.com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CDB8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Future of AI in Healthcare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005840" cy="868680"/>
          </a:xfrm>
          <a:prstGeom prst="rect">
            <a:avLst>
              <a:gd name="adj" fmla="val 8421"/>
            </a:avLst>
          </a:prstGeom>
          <a:solidFill>
            <a:srgbClr val="5CDB8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0584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F12"/>
                </a:solidFill>
              </a:rPr>
              <a:t>2025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280160" y="1408176"/>
            <a:ext cx="274320" cy="45720"/>
          </a:xfrm>
          <a:prstGeom prst="rect">
            <a:avLst/>
          </a:prstGeom>
          <a:solidFill>
            <a:srgbClr val="4A8B3F"/>
          </a:solidFill>
          <a:ln/>
        </p:spPr>
      </p:sp>
      <p:sp>
        <p:nvSpPr>
          <p:cNvPr id="7" name="Shape 5"/>
          <p:cNvSpPr/>
          <p:nvPr/>
        </p:nvSpPr>
        <p:spPr>
          <a:xfrm>
            <a:off x="1554480" y="1005840"/>
            <a:ext cx="7269480" cy="868680"/>
          </a:xfrm>
          <a:prstGeom prst="rect">
            <a:avLst>
              <a:gd name="adj" fmla="val 8421"/>
            </a:avLst>
          </a:prstGeom>
          <a:solidFill>
            <a:srgbClr val="152A1A"/>
          </a:solidFill>
          <a:ln/>
        </p:spPr>
      </p:sp>
      <p:sp>
        <p:nvSpPr>
          <p:cNvPr id="8" name="Shape 6"/>
          <p:cNvSpPr/>
          <p:nvPr/>
        </p:nvSpPr>
        <p:spPr>
          <a:xfrm>
            <a:off x="1554480" y="1005840"/>
            <a:ext cx="73152" cy="868680"/>
          </a:xfrm>
          <a:prstGeom prst="rect">
            <a:avLst/>
          </a:prstGeom>
          <a:solidFill>
            <a:srgbClr val="4A8B3F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0" y="1060704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DB8F"/>
                </a:solidFill>
              </a:rPr>
              <a:t>AI-Augmented Clinicians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737360" y="1389888"/>
            <a:ext cx="6949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EDE1"/>
                </a:solidFill>
              </a:rPr>
              <a:t>Every hospital adopts AI decision support — from ED triage to radiology reporting and discharge planning.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176272"/>
            <a:ext cx="1005840" cy="868680"/>
          </a:xfrm>
          <a:prstGeom prst="rect">
            <a:avLst>
              <a:gd name="adj" fmla="val 8421"/>
            </a:avLst>
          </a:prstGeom>
          <a:solidFill>
            <a:srgbClr val="5CDB8F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176272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F12"/>
                </a:solidFill>
              </a:rPr>
              <a:t>2027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280160" y="2578608"/>
            <a:ext cx="274320" cy="45720"/>
          </a:xfrm>
          <a:prstGeom prst="rect">
            <a:avLst/>
          </a:prstGeom>
          <a:solidFill>
            <a:srgbClr val="4A8B3F"/>
          </a:solidFill>
          <a:ln/>
        </p:spPr>
      </p:sp>
      <p:sp>
        <p:nvSpPr>
          <p:cNvPr id="14" name="Shape 12"/>
          <p:cNvSpPr/>
          <p:nvPr/>
        </p:nvSpPr>
        <p:spPr>
          <a:xfrm>
            <a:off x="1554480" y="2176272"/>
            <a:ext cx="7269480" cy="868680"/>
          </a:xfrm>
          <a:prstGeom prst="rect">
            <a:avLst>
              <a:gd name="adj" fmla="val 8421"/>
            </a:avLst>
          </a:prstGeom>
          <a:solidFill>
            <a:srgbClr val="152A1A"/>
          </a:solidFill>
          <a:ln/>
        </p:spPr>
      </p:sp>
      <p:sp>
        <p:nvSpPr>
          <p:cNvPr id="15" name="Shape 13"/>
          <p:cNvSpPr/>
          <p:nvPr/>
        </p:nvSpPr>
        <p:spPr>
          <a:xfrm>
            <a:off x="1554480" y="2176272"/>
            <a:ext cx="73152" cy="868680"/>
          </a:xfrm>
          <a:prstGeom prst="rect">
            <a:avLst/>
          </a:prstGeom>
          <a:solidFill>
            <a:srgbClr val="4A8B3F"/>
          </a:solidFill>
          <a:ln/>
        </p:spPr>
      </p:sp>
      <p:sp>
        <p:nvSpPr>
          <p:cNvPr id="16" name="Text 14"/>
          <p:cNvSpPr/>
          <p:nvPr/>
        </p:nvSpPr>
        <p:spPr>
          <a:xfrm>
            <a:off x="1737360" y="2231136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DB8F"/>
                </a:solidFill>
              </a:rPr>
              <a:t>Personalised Medicine at Scale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737360" y="2560320"/>
            <a:ext cx="6949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EDE1"/>
                </a:solidFill>
              </a:rPr>
              <a:t>Genomic + lifestyle + clinical data fused in real time to prescribe hyper-personalised prevention and treatment.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346704"/>
            <a:ext cx="1005840" cy="868680"/>
          </a:xfrm>
          <a:prstGeom prst="rect">
            <a:avLst>
              <a:gd name="adj" fmla="val 8421"/>
            </a:avLst>
          </a:prstGeom>
          <a:solidFill>
            <a:srgbClr val="5CDB8F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3346704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F12"/>
                </a:solidFill>
              </a:rPr>
              <a:t>2030+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280160" y="3749040"/>
            <a:ext cx="274320" cy="45720"/>
          </a:xfrm>
          <a:prstGeom prst="rect">
            <a:avLst/>
          </a:prstGeom>
          <a:solidFill>
            <a:srgbClr val="4A8B3F"/>
          </a:solidFill>
          <a:ln/>
        </p:spPr>
      </p:sp>
      <p:sp>
        <p:nvSpPr>
          <p:cNvPr id="21" name="Shape 19"/>
          <p:cNvSpPr/>
          <p:nvPr/>
        </p:nvSpPr>
        <p:spPr>
          <a:xfrm>
            <a:off x="1554480" y="3346704"/>
            <a:ext cx="7269480" cy="868680"/>
          </a:xfrm>
          <a:prstGeom prst="rect">
            <a:avLst>
              <a:gd name="adj" fmla="val 8421"/>
            </a:avLst>
          </a:prstGeom>
          <a:solidFill>
            <a:srgbClr val="152A1A"/>
          </a:solidFill>
          <a:ln/>
        </p:spPr>
      </p:sp>
      <p:sp>
        <p:nvSpPr>
          <p:cNvPr id="22" name="Shape 20"/>
          <p:cNvSpPr/>
          <p:nvPr/>
        </p:nvSpPr>
        <p:spPr>
          <a:xfrm>
            <a:off x="1554480" y="3346704"/>
            <a:ext cx="73152" cy="868680"/>
          </a:xfrm>
          <a:prstGeom prst="rect">
            <a:avLst/>
          </a:prstGeom>
          <a:solidFill>
            <a:srgbClr val="4A8B3F"/>
          </a:solidFill>
          <a:ln/>
        </p:spPr>
      </p:sp>
      <p:sp>
        <p:nvSpPr>
          <p:cNvPr id="23" name="Text 21"/>
          <p:cNvSpPr/>
          <p:nvPr/>
        </p:nvSpPr>
        <p:spPr>
          <a:xfrm>
            <a:off x="1737360" y="3401568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DB8F"/>
                </a:solidFill>
              </a:rPr>
              <a:t>Autonomous AI Diagnostician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737360" y="3730752"/>
            <a:ext cx="6949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EDE1"/>
                </a:solidFill>
              </a:rPr>
              <a:t>AI systems certified for independent diagnosis in specific domains — transforming global access to quality care.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4343400"/>
            <a:ext cx="8595360" cy="274320"/>
          </a:xfrm>
          <a:prstGeom prst="rect">
            <a:avLst>
              <a:gd name="adj" fmla="val 20000"/>
            </a:avLst>
          </a:prstGeom>
          <a:solidFill>
            <a:srgbClr val="2C5F2D">
              <a:alpha val="7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43434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5F5F0"/>
                </a:solidFill>
              </a:rPr>
              <a:t>"AI will not replace doctors — but doctors who use AI will replace those who don't."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D1F12"/>
          </a:solidFill>
          <a:ln w="19050">
            <a:solidFill>
              <a:srgbClr val="5CDB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FA899"/>
                </a:solidFill>
              </a:rPr>
              <a:t>Accredian is a leading Indian institution specialising in AI, Data Science, and Management research and education.  </a:t>
            </a:r>
            <a:pPr algn="ctr" indent="0" marL="0">
              <a:buNone/>
            </a:pPr>
            <a:r>
              <a:rPr lang="en-US" sz="750" dirty="0">
                <a:solidFill>
                  <a:srgbClr val="8FA899"/>
                </a:solidFill>
              </a:rPr>
              <a:t>Visit us at: </a:t>
            </a:r>
            <a:pPr algn="ctr" indent="0" marL="0">
              <a:buNone/>
            </a:pPr>
            <a:r>
              <a:rPr lang="en-US" sz="750" u="sng" dirty="0">
                <a:solidFill>
                  <a:srgbClr val="5CDB8F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https://accredian.com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Healthcare: Transforming Medicine with Data Science</dc:title>
  <dc:subject>PptxGenJS Presentation</dc:subject>
  <dc:creator>PptxGenJS</dc:creator>
  <cp:lastModifiedBy>PptxGenJS</cp:lastModifiedBy>
  <cp:revision>1</cp:revision>
  <dcterms:created xsi:type="dcterms:W3CDTF">2026-03-30T06:49:48Z</dcterms:created>
  <dcterms:modified xsi:type="dcterms:W3CDTF">2026-03-30T06:49:48Z</dcterms:modified>
</cp:coreProperties>
</file>